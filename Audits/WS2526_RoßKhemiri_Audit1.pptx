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305" r:id="rId3"/>
    <p:sldId id="303" r:id="rId4"/>
    <p:sldId id="306" r:id="rId5"/>
    <p:sldId id="307" r:id="rId6"/>
    <p:sldId id="292" r:id="rId7"/>
    <p:sldId id="295" r:id="rId8"/>
    <p:sldId id="301" r:id="rId9"/>
    <p:sldId id="297" r:id="rId10"/>
    <p:sldId id="281" r:id="rId11"/>
    <p:sldId id="287" r:id="rId12"/>
    <p:sldId id="282" r:id="rId13"/>
    <p:sldId id="284" r:id="rId14"/>
    <p:sldId id="285" r:id="rId15"/>
    <p:sldId id="286" r:id="rId16"/>
    <p:sldId id="294" r:id="rId17"/>
    <p:sldId id="299" r:id="rId18"/>
    <p:sldId id="279" r:id="rId19"/>
    <p:sldId id="302" r:id="rId2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39A0F-1346-446A-9274-CE5EDC5DA2CD}" v="343" dt="2025-10-31T00:37:08.658"/>
    <p1510:client id="{50550A15-921E-4548-9DFA-792264C23307}" v="2609" dt="2025-10-30T22:30:39.831"/>
    <p1510:client id="{6536E051-BD17-76A0-87D9-72F4FE02C211}" v="4681" dt="2025-10-30T21:50:03.270"/>
    <p1510:client id="{6549BB7A-3740-2281-0656-74153C79DBF7}" v="3597" dt="2025-10-30T22:30:36.044"/>
    <p1510:client id="{A5DF8355-EC08-9BD4-EBD8-B44448748DEB}" v="144" dt="2025-10-30T17:41:55.15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5" autoAdjust="0"/>
    <p:restoredTop sz="70774" autoAdjust="0"/>
  </p:normalViewPr>
  <p:slideViewPr>
    <p:cSldViewPr snapToGrid="0">
      <p:cViewPr varScale="1">
        <p:scale>
          <a:sx n="47" d="100"/>
          <a:sy n="47" d="100"/>
        </p:scale>
        <p:origin x="1620" y="3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15.xml"/><Relationship Id="rId3" Type="http://schemas.openxmlformats.org/officeDocument/2006/relationships/slide" Target="slides/slide3.xml"/><Relationship Id="rId7" Type="http://schemas.openxmlformats.org/officeDocument/2006/relationships/slide" Target="slides/slide9.xml"/><Relationship Id="rId12" Type="http://schemas.openxmlformats.org/officeDocument/2006/relationships/slide" Target="slides/slide14.xml"/><Relationship Id="rId17" Type="http://schemas.openxmlformats.org/officeDocument/2006/relationships/slide" Target="slides/slide19.xml"/><Relationship Id="rId2" Type="http://schemas.openxmlformats.org/officeDocument/2006/relationships/slide" Target="slides/slide2.xml"/><Relationship Id="rId16" Type="http://schemas.openxmlformats.org/officeDocument/2006/relationships/slide" Target="slides/slide18.xml"/><Relationship Id="rId1" Type="http://schemas.openxmlformats.org/officeDocument/2006/relationships/slide" Target="slides/slide1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5" Type="http://schemas.openxmlformats.org/officeDocument/2006/relationships/slide" Target="slides/slide7.xml"/><Relationship Id="rId15" Type="http://schemas.openxmlformats.org/officeDocument/2006/relationships/slide" Target="slides/slide17.xml"/><Relationship Id="rId10" Type="http://schemas.openxmlformats.org/officeDocument/2006/relationships/slide" Target="slides/slide12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3" name="Shape 14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127F-51E2-5FA9-FBFC-2FF6D2D4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AB75BE-87EB-8CD7-500C-5E71C4EBB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E1E5913-AABC-0406-9892-53CB3D9D1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019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45A97-C735-EA04-4C5A-5A82A8FC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B0C498-16BB-D36D-E027-BF74CB7F4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4562FB-5713-DE49-F33D-447C656C3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60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B2DC-A849-2CCB-F908-F402C9F2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ACAB81-196A-05F9-3951-74E98EF23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204E1F-948B-EDAE-4504-7F3C56B55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242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1087E-0601-45D7-FEE1-2E4F9BD6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CF4941-BB79-CC47-778D-796577AB3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66D671-D74E-4A12-D32A-EC599BE4C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2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A2233-E177-39C2-DF04-3EBD6B1F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FF12A4-26B4-D973-16F6-C9E7E3537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AFB13D9-6678-678F-8B8C-512B73958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911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B874-5F60-2F50-FB64-FFBA8C99A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0472C3-53DB-46BE-935E-9C115A75C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F00580-F5D7-14AD-0DBA-96478DEAC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943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2C12-AC94-7A99-F32D-E0B862944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78AA51-22FA-74C5-FD18-BE0E0FC68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562871E-EF3F-0A1E-0336-4EAAAAA11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627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Zielhierachie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zur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systematischen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Ableitung</a:t>
            </a:r>
            <a:r>
              <a:rPr lang="en-US" dirty="0">
                <a:latin typeface="Calibri"/>
                <a:ea typeface="Calibri"/>
                <a:cs typeface="Calibri"/>
              </a:rPr>
              <a:t> der </a:t>
            </a:r>
            <a:r>
              <a:rPr lang="en-US" dirty="0" err="1">
                <a:latin typeface="Calibri"/>
                <a:ea typeface="Calibri"/>
                <a:cs typeface="Calibri"/>
              </a:rPr>
              <a:t>übergeordneten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strategischen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Projektziele</a:t>
            </a:r>
            <a:r>
              <a:rPr lang="en-US" dirty="0">
                <a:latin typeface="Calibri"/>
                <a:ea typeface="Calibri"/>
                <a:cs typeface="Calibri"/>
              </a:rPr>
              <a:t> in </a:t>
            </a:r>
            <a:r>
              <a:rPr lang="en-US" dirty="0" err="1">
                <a:latin typeface="Calibri"/>
                <a:ea typeface="Calibri"/>
                <a:cs typeface="Calibri"/>
              </a:rPr>
              <a:t>kleinere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konkret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überprüfbare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</a:rPr>
              <a:t>Teilziele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Was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soll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grundsätzlich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erreicht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werden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? 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Strategisch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soll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erreicht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werden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?(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taktisch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Wodurch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wird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konkret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umgesetzt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?(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BSP SZ01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Strategisches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Oberziel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welches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eines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grundsatzziele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Projekts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darstellt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Daraus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lassen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taktische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Unterziele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spezifieren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die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festlegen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diese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erreicht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werden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sollen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verschiedene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Manipulationstypen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feedback,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lernfortschritt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).Aus den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taktischen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lassen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operative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Detailziele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herleiten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welche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beschreiben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wodurch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taktischen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umgesetzt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werden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sollen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Aufgaben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manipulationsmechanismen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Vorher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nachhervgl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statistik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330744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SMART(</a:t>
            </a:r>
            <a:r>
              <a:rPr lang="en-US" dirty="0" err="1">
                <a:latin typeface="Calibri"/>
                <a:ea typeface="Calibri"/>
                <a:cs typeface="Calibri"/>
              </a:rPr>
              <a:t>Spezifisch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latin typeface="Calibri"/>
                <a:ea typeface="Calibri"/>
                <a:cs typeface="Calibri"/>
              </a:rPr>
              <a:t>Messbar</a:t>
            </a:r>
            <a:r>
              <a:rPr lang="en-US" dirty="0">
                <a:latin typeface="Calibri"/>
                <a:ea typeface="Calibri"/>
                <a:cs typeface="Calibri"/>
              </a:rPr>
              <a:t>, Achievable, Relevant, </a:t>
            </a:r>
            <a:r>
              <a:rPr lang="en-US" dirty="0" err="1">
                <a:latin typeface="Calibri"/>
                <a:ea typeface="Calibri"/>
                <a:cs typeface="Calibri"/>
              </a:rPr>
              <a:t>Terminiert</a:t>
            </a:r>
            <a:r>
              <a:rPr lang="en-US" dirty="0">
                <a:latin typeface="Calibri"/>
                <a:ea typeface="Calibri"/>
                <a:cs typeface="Calibri"/>
              </a:rPr>
              <a:t>)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Zielpriorisierung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durch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MUSS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unverzichtbar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für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Projekterfolg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SOLLTE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wünschenswert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aber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sekundär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erweiterbar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KANN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perspektivisch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optional für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spätere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Versionen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=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klare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Trennung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zwischen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Kernanforderungen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Erweiterungspotenzial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essenziell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für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fokusierte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umsetzung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Projekts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Strategische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langfristig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gesellschaftlich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pädagogisch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motivierte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Projektziele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Oberziele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Taktische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konkrete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Maßnahmen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Funktionen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oder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Mechanismen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die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zur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Zielerreichung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beitragen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Unterziele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5041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Operative </a:t>
            </a:r>
            <a:r>
              <a:rPr lang="en-US" err="1">
                <a:latin typeface="Calibri"/>
                <a:ea typeface="Calibri"/>
                <a:cs typeface="Calibri"/>
              </a:rPr>
              <a:t>Ziele</a:t>
            </a:r>
            <a:r>
              <a:rPr lang="en-US">
                <a:latin typeface="Calibri"/>
                <a:ea typeface="Calibri"/>
                <a:cs typeface="Calibri"/>
              </a:rPr>
              <a:t>: </a:t>
            </a:r>
            <a:r>
              <a:rPr lang="en-US" err="1">
                <a:latin typeface="Calibri"/>
                <a:ea typeface="Calibri"/>
                <a:cs typeface="Calibri"/>
              </a:rPr>
              <a:t>Detaillierte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Umsetzungsanforderungen</a:t>
            </a:r>
            <a:r>
              <a:rPr lang="en-US">
                <a:latin typeface="Calibri"/>
                <a:ea typeface="Calibri"/>
                <a:cs typeface="Calibri"/>
              </a:rPr>
              <a:t> und </a:t>
            </a:r>
            <a:r>
              <a:rPr lang="en-US" err="1">
                <a:latin typeface="Calibri"/>
                <a:ea typeface="Calibri"/>
                <a:cs typeface="Calibri"/>
              </a:rPr>
              <a:t>Aktivitäten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im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Entwicklungsprozess</a:t>
            </a:r>
            <a:r>
              <a:rPr lang="en-US">
                <a:latin typeface="Calibri"/>
                <a:ea typeface="Calibri"/>
                <a:cs typeface="Calibri"/>
              </a:rPr>
              <a:t>(</a:t>
            </a:r>
            <a:r>
              <a:rPr lang="en-US" err="1">
                <a:latin typeface="Calibri"/>
                <a:ea typeface="Calibri"/>
                <a:cs typeface="Calibri"/>
              </a:rPr>
              <a:t>Detaillziele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4461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Funktionale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Anforderungen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definieren</a:t>
            </a:r>
            <a:r>
              <a:rPr lang="en-US">
                <a:latin typeface="Calibri"/>
                <a:ea typeface="Calibri"/>
                <a:cs typeface="Calibri"/>
              </a:rPr>
              <a:t>, was das System </a:t>
            </a:r>
            <a:r>
              <a:rPr lang="en-US" err="1">
                <a:latin typeface="Calibri"/>
                <a:ea typeface="Calibri"/>
                <a:cs typeface="Calibri"/>
              </a:rPr>
              <a:t>leisten</a:t>
            </a:r>
            <a:r>
              <a:rPr lang="en-US">
                <a:latin typeface="Calibri"/>
                <a:ea typeface="Calibri"/>
                <a:cs typeface="Calibri"/>
              </a:rPr>
              <a:t> muss, </a:t>
            </a:r>
            <a:r>
              <a:rPr lang="en-US" err="1">
                <a:latin typeface="Calibri"/>
                <a:ea typeface="Calibri"/>
                <a:cs typeface="Calibri"/>
              </a:rPr>
              <a:t>sollte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oder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wird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leisten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können</a:t>
            </a:r>
            <a:r>
              <a:rPr lang="en-US"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Grundlage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für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Umsetzung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Bewertung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des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Projekterfolgs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Abgeleitet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Zielhiearchie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den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Risiken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 der Recherche</a:t>
            </a: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Priorisierung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 MUSS(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zwingend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notwendig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), SOLLTE(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wünschenswert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qualitätsverbesserung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), WIRD(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perspektibisch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optional) 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Muss-</a:t>
            </a:r>
            <a:r>
              <a:rPr lang="en-US" err="1">
                <a:latin typeface="Calibri"/>
                <a:ea typeface="Calibri"/>
                <a:cs typeface="Calibri"/>
              </a:rPr>
              <a:t>Anforderungen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wurden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klar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Priorisiert</a:t>
            </a:r>
            <a:r>
              <a:rPr lang="en-US">
                <a:latin typeface="Calibri"/>
                <a:ea typeface="Calibri"/>
                <a:cs typeface="Calibri"/>
              </a:rPr>
              <a:t>, um </a:t>
            </a:r>
            <a:r>
              <a:rPr lang="en-US" err="1">
                <a:latin typeface="Calibri"/>
                <a:ea typeface="Calibri"/>
                <a:cs typeface="Calibri"/>
              </a:rPr>
              <a:t>sicherzustellen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dass</a:t>
            </a:r>
            <a:r>
              <a:rPr lang="en-US">
                <a:latin typeface="Calibri"/>
                <a:ea typeface="Calibri"/>
                <a:cs typeface="Calibri"/>
              </a:rPr>
              <a:t> der </a:t>
            </a:r>
            <a:r>
              <a:rPr lang="en-US" err="1">
                <a:latin typeface="Calibri"/>
                <a:ea typeface="Calibri"/>
                <a:cs typeface="Calibri"/>
              </a:rPr>
              <a:t>Kernnutzen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auch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unter</a:t>
            </a:r>
            <a:r>
              <a:rPr lang="en-US">
                <a:latin typeface="Calibri"/>
                <a:ea typeface="Calibri"/>
                <a:cs typeface="Calibri"/>
              </a:rPr>
              <a:t> Zeit- und </a:t>
            </a:r>
            <a:r>
              <a:rPr lang="en-US" err="1">
                <a:latin typeface="Calibri"/>
                <a:ea typeface="Calibri"/>
                <a:cs typeface="Calibri"/>
              </a:rPr>
              <a:t>Ressourcendurck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erfolgreich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umgesetzt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werden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kann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sie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stellen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somit</a:t>
            </a:r>
            <a:r>
              <a:rPr lang="en-US">
                <a:latin typeface="Calibri"/>
                <a:ea typeface="Calibri"/>
                <a:cs typeface="Calibri"/>
              </a:rPr>
              <a:t> das </a:t>
            </a:r>
            <a:r>
              <a:rPr lang="en-US" err="1">
                <a:latin typeface="Calibri"/>
                <a:ea typeface="Calibri"/>
                <a:cs typeface="Calibri"/>
              </a:rPr>
              <a:t>Funktionale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Grundgerüst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dar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en-US" err="1">
                <a:latin typeface="Calibri"/>
                <a:ea typeface="Calibri"/>
                <a:cs typeface="Calibri"/>
              </a:rPr>
              <a:t>Umsetzung</a:t>
            </a:r>
            <a:r>
              <a:rPr lang="en-US">
                <a:latin typeface="Calibri"/>
                <a:ea typeface="Calibri"/>
                <a:cs typeface="Calibri"/>
              </a:rPr>
              <a:t> der </a:t>
            </a:r>
            <a:r>
              <a:rPr lang="en-US" err="1">
                <a:latin typeface="Calibri"/>
                <a:ea typeface="Calibri"/>
                <a:cs typeface="Calibri"/>
              </a:rPr>
              <a:t>Manipulationsmechanismen</a:t>
            </a:r>
            <a:r>
              <a:rPr lang="en-US">
                <a:latin typeface="Calibri"/>
                <a:ea typeface="Calibri"/>
                <a:cs typeface="Calibri"/>
              </a:rPr>
              <a:t>, des </a:t>
            </a:r>
            <a:r>
              <a:rPr lang="en-US" err="1">
                <a:latin typeface="Calibri"/>
                <a:ea typeface="Calibri"/>
                <a:cs typeface="Calibri"/>
              </a:rPr>
              <a:t>Feedbacksystems</a:t>
            </a:r>
            <a:r>
              <a:rPr lang="en-US">
                <a:latin typeface="Calibri"/>
                <a:ea typeface="Calibri"/>
                <a:cs typeface="Calibri"/>
              </a:rPr>
              <a:t> und der </a:t>
            </a:r>
            <a:r>
              <a:rPr lang="en-US" err="1">
                <a:latin typeface="Calibri"/>
                <a:ea typeface="Calibri"/>
                <a:cs typeface="Calibri"/>
              </a:rPr>
              <a:t>Aufgabenlogik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stechen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heraus</a:t>
            </a:r>
            <a:r>
              <a:rPr lang="en-US">
                <a:latin typeface="Calibri"/>
                <a:ea typeface="Calibri"/>
                <a:cs typeface="Calibri"/>
              </a:rPr>
              <a:t>.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8790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Durch die SOLLTE </a:t>
            </a:r>
            <a:r>
              <a:rPr lang="en-US" err="1">
                <a:latin typeface="Calibri"/>
                <a:ea typeface="Calibri"/>
                <a:cs typeface="Calibri"/>
              </a:rPr>
              <a:t>Anforderungen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wird</a:t>
            </a:r>
            <a:r>
              <a:rPr lang="en-US">
                <a:latin typeface="Calibri"/>
                <a:ea typeface="Calibri"/>
                <a:cs typeface="Calibri"/>
              </a:rPr>
              <a:t> das </a:t>
            </a:r>
            <a:r>
              <a:rPr lang="en-US" err="1">
                <a:latin typeface="Calibri"/>
                <a:ea typeface="Calibri"/>
                <a:cs typeface="Calibri"/>
              </a:rPr>
              <a:t>grundgerüst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ausgebessert</a:t>
            </a:r>
            <a:r>
              <a:rPr lang="en-US">
                <a:latin typeface="Calibri"/>
                <a:ea typeface="Calibri"/>
                <a:cs typeface="Calibri"/>
              </a:rPr>
              <a:t> und </a:t>
            </a:r>
            <a:r>
              <a:rPr lang="en-US" err="1">
                <a:latin typeface="Calibri"/>
                <a:ea typeface="Calibri"/>
                <a:cs typeface="Calibri"/>
              </a:rPr>
              <a:t>optimiert</a:t>
            </a:r>
            <a:r>
              <a:rPr lang="en-US">
                <a:latin typeface="Calibri"/>
                <a:ea typeface="Calibri"/>
                <a:cs typeface="Calibri"/>
              </a:rPr>
              <a:t>(</a:t>
            </a:r>
            <a:r>
              <a:rPr lang="en-US" err="1">
                <a:latin typeface="Calibri"/>
                <a:ea typeface="Calibri"/>
                <a:cs typeface="Calibri"/>
              </a:rPr>
              <a:t>Responsivität</a:t>
            </a:r>
            <a:r>
              <a:rPr lang="en-US">
                <a:latin typeface="Calibri"/>
                <a:ea typeface="Calibri"/>
                <a:cs typeface="Calibri"/>
              </a:rPr>
              <a:t>, Usability, </a:t>
            </a:r>
            <a:r>
              <a:rPr lang="en-US" err="1">
                <a:latin typeface="Calibri"/>
                <a:ea typeface="Calibri"/>
                <a:cs typeface="Calibri"/>
              </a:rPr>
              <a:t>Didaktik</a:t>
            </a:r>
            <a:r>
              <a:rPr lang="en-US">
                <a:latin typeface="Calibri"/>
                <a:ea typeface="Calibri"/>
                <a:cs typeface="Calibri"/>
              </a:rPr>
              <a:t>), </a:t>
            </a:r>
            <a:r>
              <a:rPr lang="en-US" err="1">
                <a:latin typeface="Calibri"/>
                <a:ea typeface="Calibri"/>
                <a:cs typeface="Calibri"/>
              </a:rPr>
              <a:t>dadurch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wird</a:t>
            </a:r>
            <a:r>
              <a:rPr lang="en-US">
                <a:latin typeface="Calibri"/>
                <a:ea typeface="Calibri"/>
                <a:cs typeface="Calibri"/>
              </a:rPr>
              <a:t> das system </a:t>
            </a:r>
            <a:r>
              <a:rPr lang="en-US" err="1">
                <a:latin typeface="Calibri"/>
                <a:ea typeface="Calibri"/>
                <a:cs typeface="Calibri"/>
              </a:rPr>
              <a:t>lehrreicher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motivierender</a:t>
            </a:r>
            <a:r>
              <a:rPr lang="en-US">
                <a:latin typeface="Calibri"/>
                <a:ea typeface="Calibri"/>
                <a:cs typeface="Calibri"/>
              </a:rPr>
              <a:t> und </a:t>
            </a:r>
            <a:r>
              <a:rPr lang="en-US" err="1">
                <a:latin typeface="Calibri"/>
                <a:ea typeface="Calibri"/>
                <a:cs typeface="Calibri"/>
              </a:rPr>
              <a:t>benutzerfreundlicher</a:t>
            </a:r>
            <a:endParaRPr lang="en-US" err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Durch die WIRD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Anforderungen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wird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zukünfigte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Entwicklungspfad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von Data Detective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markiert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Bewusst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über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Projektumfang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hinaus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geplant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um die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Skalierbarkeit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Nachhaltigkeit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des Systems 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sicherzustellen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3283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Nicht-</a:t>
            </a:r>
            <a:r>
              <a:rPr lang="en-US" err="1">
                <a:latin typeface="Calibri"/>
                <a:ea typeface="Calibri"/>
                <a:cs typeface="Calibri"/>
              </a:rPr>
              <a:t>funktionale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Anforderungen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beschreiben</a:t>
            </a:r>
            <a:r>
              <a:rPr lang="en-US">
                <a:latin typeface="Calibri"/>
                <a:ea typeface="Calibri"/>
                <a:cs typeface="Calibri"/>
              </a:rPr>
              <a:t>, nicht was das System </a:t>
            </a:r>
            <a:r>
              <a:rPr lang="en-US" err="1">
                <a:latin typeface="Calibri"/>
                <a:ea typeface="Calibri"/>
                <a:cs typeface="Calibri"/>
              </a:rPr>
              <a:t>leisten</a:t>
            </a:r>
            <a:r>
              <a:rPr lang="en-US">
                <a:latin typeface="Calibri"/>
                <a:ea typeface="Calibri"/>
                <a:cs typeface="Calibri"/>
              </a:rPr>
              <a:t> muss, </a:t>
            </a:r>
            <a:r>
              <a:rPr lang="en-US" err="1">
                <a:latin typeface="Calibri"/>
                <a:ea typeface="Calibri"/>
                <a:cs typeface="Calibri"/>
              </a:rPr>
              <a:t>sondern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wie</a:t>
            </a:r>
            <a:r>
              <a:rPr lang="en-US">
                <a:latin typeface="Calibri"/>
                <a:ea typeface="Calibri"/>
                <a:cs typeface="Calibri"/>
              </a:rPr>
              <a:t> gut </a:t>
            </a:r>
            <a:r>
              <a:rPr lang="en-US" err="1">
                <a:latin typeface="Calibri"/>
                <a:ea typeface="Calibri"/>
                <a:cs typeface="Calibri"/>
              </a:rPr>
              <a:t>diese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Funktion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latin typeface="Calibri"/>
                <a:ea typeface="Calibri"/>
                <a:cs typeface="Calibri"/>
              </a:rPr>
              <a:t>umgesetzt</a:t>
            </a:r>
            <a:r>
              <a:rPr lang="en-US">
                <a:latin typeface="Calibri"/>
                <a:ea typeface="Calibri"/>
                <a:cs typeface="Calibri"/>
              </a:rPr>
              <a:t> sein </a:t>
            </a:r>
            <a:r>
              <a:rPr lang="en-US" err="1">
                <a:latin typeface="Calibri"/>
                <a:ea typeface="Calibri"/>
                <a:cs typeface="Calibri"/>
              </a:rPr>
              <a:t>soll</a:t>
            </a:r>
            <a:r>
              <a:rPr lang="en-US">
                <a:latin typeface="Calibri"/>
                <a:ea typeface="Calibri"/>
                <a:cs typeface="Calibri"/>
              </a:rPr>
              <a:t>. </a:t>
            </a:r>
            <a:r>
              <a:rPr lang="en-US" err="1">
                <a:latin typeface="Calibri"/>
                <a:ea typeface="Calibri"/>
                <a:cs typeface="Calibri"/>
              </a:rPr>
              <a:t>Entscheidend</a:t>
            </a:r>
            <a:r>
              <a:rPr lang="en-US">
                <a:latin typeface="Calibri"/>
                <a:ea typeface="Calibri"/>
                <a:cs typeface="Calibri"/>
              </a:rPr>
              <a:t> für </a:t>
            </a:r>
            <a:r>
              <a:rPr lang="en-US" err="1">
                <a:latin typeface="Calibri"/>
                <a:ea typeface="Calibri"/>
                <a:cs typeface="Calibri"/>
              </a:rPr>
              <a:t>Nutzeraktzeptanz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Zuverlässigkeit</a:t>
            </a:r>
            <a:r>
              <a:rPr lang="en-US">
                <a:latin typeface="Calibri"/>
                <a:ea typeface="Calibri"/>
                <a:cs typeface="Calibri"/>
              </a:rPr>
              <a:t> und </a:t>
            </a:r>
            <a:r>
              <a:rPr lang="en-US" err="1">
                <a:latin typeface="Calibri"/>
                <a:ea typeface="Calibri"/>
                <a:cs typeface="Calibri"/>
              </a:rPr>
              <a:t>Weiterentwicklung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123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D6290-E3DA-39EF-42A6-0852E138B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941EE8-CA20-3555-E2AE-69663729C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92E8CCF-8D62-A290-A4F2-1DF290026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Erste </a:t>
            </a:r>
            <a:r>
              <a:rPr lang="en-US" err="1"/>
              <a:t>Risiken</a:t>
            </a:r>
            <a:r>
              <a:rPr lang="en-US"/>
              <a:t>, die den erfolgreichen Verlauf und die Zielerreichung des Projekts beeinflussen können wurden identifiziert. Betroffen sind sowohl technische als auch didaktische und organisatorische Aspekte. </a:t>
            </a:r>
            <a:endParaRPr lang="de-DE">
              <a:solidFill>
                <a:srgbClr val="444444"/>
              </a:solidFill>
            </a:endParaRPr>
          </a:p>
          <a:p>
            <a:r>
              <a:rPr lang="en-US" err="1"/>
              <a:t>Risikotypen</a:t>
            </a:r>
            <a:r>
              <a:rPr lang="en-US"/>
              <a:t>: 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1. </a:t>
            </a:r>
            <a:r>
              <a:rPr lang="en-US" err="1"/>
              <a:t>Technische</a:t>
            </a:r>
            <a:r>
              <a:rPr lang="en-US"/>
              <a:t>/</a:t>
            </a:r>
            <a:r>
              <a:rPr lang="en-US" err="1"/>
              <a:t>Anwendungslogische</a:t>
            </a:r>
            <a:r>
              <a:rPr lang="en-US"/>
              <a:t> </a:t>
            </a:r>
            <a:r>
              <a:rPr lang="en-US" err="1"/>
              <a:t>Riskien</a:t>
            </a:r>
            <a:r>
              <a:rPr lang="en-US"/>
              <a:t>(R1,R2): </a:t>
            </a:r>
            <a:r>
              <a:rPr lang="en-US" err="1"/>
              <a:t>Risiken</a:t>
            </a:r>
            <a:r>
              <a:rPr lang="en-US"/>
              <a:t> in </a:t>
            </a:r>
            <a:r>
              <a:rPr lang="en-US" err="1"/>
              <a:t>Bezug</a:t>
            </a:r>
            <a:r>
              <a:rPr lang="en-US"/>
              <a:t> auf </a:t>
            </a:r>
            <a:r>
              <a:rPr lang="en-US" err="1"/>
              <a:t>Aufgabenlogik</a:t>
            </a:r>
            <a:r>
              <a:rPr lang="en-US"/>
              <a:t> und </a:t>
            </a:r>
            <a:r>
              <a:rPr lang="en-US" err="1"/>
              <a:t>technische</a:t>
            </a:r>
            <a:r>
              <a:rPr lang="en-US"/>
              <a:t> </a:t>
            </a:r>
            <a:r>
              <a:rPr lang="en-US" err="1"/>
              <a:t>Herausforderungen</a:t>
            </a:r>
            <a:endParaRPr lang="en-US" err="1">
              <a:solidFill>
                <a:srgbClr val="444444"/>
              </a:solidFill>
            </a:endParaRPr>
          </a:p>
          <a:p>
            <a:r>
              <a:rPr lang="en-US"/>
              <a:t>2. </a:t>
            </a:r>
            <a:r>
              <a:rPr lang="en-US" err="1"/>
              <a:t>Architekturelle</a:t>
            </a:r>
            <a:r>
              <a:rPr lang="en-US"/>
              <a:t> </a:t>
            </a:r>
            <a:r>
              <a:rPr lang="en-US" err="1"/>
              <a:t>Risiken</a:t>
            </a:r>
            <a:r>
              <a:rPr lang="en-US"/>
              <a:t>(R4): </a:t>
            </a:r>
            <a:r>
              <a:rPr lang="en-US" err="1"/>
              <a:t>Risiken</a:t>
            </a:r>
            <a:r>
              <a:rPr lang="en-US"/>
              <a:t> die </a:t>
            </a:r>
            <a:r>
              <a:rPr lang="en-US" err="1"/>
              <a:t>Softwarestruktur</a:t>
            </a:r>
            <a:r>
              <a:rPr lang="en-US"/>
              <a:t> </a:t>
            </a:r>
            <a:r>
              <a:rPr lang="en-US" err="1"/>
              <a:t>oder</a:t>
            </a:r>
            <a:r>
              <a:rPr lang="en-US"/>
              <a:t> Integration von </a:t>
            </a:r>
            <a:r>
              <a:rPr lang="en-US" err="1"/>
              <a:t>Komponenten</a:t>
            </a:r>
            <a:r>
              <a:rPr lang="en-US"/>
              <a:t> </a:t>
            </a:r>
            <a:r>
              <a:rPr lang="en-US" err="1"/>
              <a:t>betreffen</a:t>
            </a:r>
            <a:r>
              <a:rPr lang="en-US"/>
              <a:t>.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3. </a:t>
            </a:r>
            <a:r>
              <a:rPr lang="en-US" err="1"/>
              <a:t>Kompetenzorientiere</a:t>
            </a:r>
            <a:r>
              <a:rPr lang="en-US"/>
              <a:t>/</a:t>
            </a:r>
            <a:r>
              <a:rPr lang="de-DE"/>
              <a:t>organisatorische</a:t>
            </a:r>
            <a:r>
              <a:rPr lang="en-US"/>
              <a:t> </a:t>
            </a:r>
            <a:r>
              <a:rPr lang="en-US" err="1"/>
              <a:t>Risiken</a:t>
            </a:r>
            <a:r>
              <a:rPr lang="en-US"/>
              <a:t>(R1,R5): </a:t>
            </a:r>
            <a:r>
              <a:rPr lang="en-US" err="1"/>
              <a:t>Risiken</a:t>
            </a:r>
            <a:r>
              <a:rPr lang="en-US"/>
              <a:t> </a:t>
            </a:r>
            <a:r>
              <a:rPr lang="en-US" err="1"/>
              <a:t>aufgrund</a:t>
            </a:r>
            <a:r>
              <a:rPr lang="en-US"/>
              <a:t> von </a:t>
            </a:r>
            <a:r>
              <a:rPr lang="en-US" err="1"/>
              <a:t>fehlender</a:t>
            </a:r>
            <a:r>
              <a:rPr lang="en-US"/>
              <a:t> </a:t>
            </a:r>
            <a:r>
              <a:rPr lang="en-US" err="1"/>
              <a:t>Erfahrung</a:t>
            </a:r>
            <a:r>
              <a:rPr lang="en-US"/>
              <a:t> </a:t>
            </a:r>
            <a:r>
              <a:rPr lang="en-US" err="1"/>
              <a:t>oder</a:t>
            </a:r>
            <a:r>
              <a:rPr lang="en-US"/>
              <a:t> </a:t>
            </a:r>
            <a:r>
              <a:rPr lang="en-US" err="1"/>
              <a:t>Fachkenntnissen</a:t>
            </a:r>
            <a:endParaRPr lang="en-US" err="1">
              <a:solidFill>
                <a:srgbClr val="444444"/>
              </a:solidFill>
            </a:endParaRPr>
          </a:p>
          <a:p>
            <a:r>
              <a:rPr lang="en-US"/>
              <a:t>4. K</a:t>
            </a:r>
            <a:r>
              <a:rPr lang="de-DE" err="1"/>
              <a:t>ommunikative</a:t>
            </a:r>
            <a:r>
              <a:rPr lang="de-DE"/>
              <a:t> Risiken(R3): </a:t>
            </a:r>
            <a:r>
              <a:rPr lang="de-DE" err="1"/>
              <a:t>Riskien</a:t>
            </a:r>
            <a:r>
              <a:rPr lang="de-DE"/>
              <a:t> die Nutzerinteraktion betreffen</a:t>
            </a:r>
            <a:endParaRPr lang="en-US">
              <a:solidFill>
                <a:srgbClr val="444444"/>
              </a:solidFill>
            </a:endParaRPr>
          </a:p>
          <a:p>
            <a:r>
              <a:rPr lang="de-DE"/>
              <a:t>Zentrale Risiko Bereiche : technische Machbarkeit(lösbar durch: Frühzeitige Erkennung von technischen Limitierungen in </a:t>
            </a:r>
            <a:r>
              <a:rPr lang="de-DE" err="1"/>
              <a:t>Kotlin</a:t>
            </a:r>
            <a:r>
              <a:rPr lang="de-DE"/>
              <a:t> sowie der Sicherstellung von Ersatzlösungen?), </a:t>
            </a:r>
            <a:endParaRPr lang="en-US">
              <a:solidFill>
                <a:srgbClr val="444444"/>
              </a:solidFill>
            </a:endParaRPr>
          </a:p>
          <a:p>
            <a:r>
              <a:rPr lang="de-DE"/>
              <a:t>didaktische und logische Wirksamkeit (lösbar durch: Sicherstellung des Nutzerverständnisses und des Lerntransfers), </a:t>
            </a:r>
            <a:endParaRPr lang="en-US">
              <a:solidFill>
                <a:srgbClr val="444444"/>
              </a:solidFill>
            </a:endParaRPr>
          </a:p>
          <a:p>
            <a:r>
              <a:rPr lang="de-DE"/>
              <a:t>Projektorganisation und Ressourcen(lösbar durch: Klare Priorisierung und Reduktion der Komplexität in frühen Phasen)</a:t>
            </a:r>
            <a:endParaRPr lang="de-DE">
              <a:solidFill>
                <a:srgbClr val="444444"/>
              </a:solidFill>
            </a:endParaRPr>
          </a:p>
          <a:p>
            <a:endParaRPr lang="de-DE">
              <a:solidFill>
                <a:srgbClr val="444444"/>
              </a:solidFill>
            </a:endParaRPr>
          </a:p>
          <a:p>
            <a:endParaRPr lang="en-US">
              <a:solidFill>
                <a:srgbClr val="444444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57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898E-7E40-A6CC-2277-A5921D9EB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1534861-CBED-4331-5DC9-9950B04E9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666BC65-86F8-819D-9B9C-3C244F5CD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818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68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4C372-1A83-54CC-92F6-AF92C110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942F62-6CEE-FA6C-03FD-D2721A158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7C6B6EA-2450-6B72-C959-EE51545ED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35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Titeltext</a:t>
            </a:r>
          </a:p>
        </p:txBody>
      </p:sp>
      <p:sp>
        <p:nvSpPr>
          <p:cNvPr id="12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"/>
          <p:cNvSpPr>
            <a:spLocks noGrp="1"/>
          </p:cNvSpPr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el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rPr dirty="0" err="1"/>
              <a:t>Titeltext</a:t>
            </a:r>
            <a:endParaRPr dirty="0"/>
          </a:p>
        </p:txBody>
      </p:sp>
      <p:sp>
        <p:nvSpPr>
          <p:cNvPr id="22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3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M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3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ild"/>
          <p:cNvSpPr>
            <a:spLocks noGrp="1"/>
          </p:cNvSpPr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el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Titeltext</a:t>
            </a:r>
          </a:p>
        </p:txBody>
      </p:sp>
      <p:sp>
        <p:nvSpPr>
          <p:cNvPr id="40" name="Textebene 1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4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4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57" name="Textebene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8" name="Rechteck"/>
          <p:cNvSpPr/>
          <p:nvPr/>
        </p:nvSpPr>
        <p:spPr>
          <a:xfrm>
            <a:off x="-87859" y="-876298"/>
            <a:ext cx="11651941" cy="1072156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9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Aufzählung &amp;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Bild"/>
          <p:cNvSpPr>
            <a:spLocks noGrp="1"/>
          </p:cNvSpPr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7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68" name="Textebene 1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69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ebene 1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7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Stü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Bild"/>
          <p:cNvSpPr>
            <a:spLocks noGrp="1"/>
          </p:cNvSpPr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Bild"/>
          <p:cNvSpPr>
            <a:spLocks noGrp="1"/>
          </p:cNvSpPr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Bild"/>
          <p:cNvSpPr>
            <a:spLocks noGrp="1"/>
          </p:cNvSpPr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7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–Christian Bauer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rPr dirty="0"/>
              <a:t>–Christian Bauer</a:t>
            </a:r>
          </a:p>
        </p:txBody>
      </p:sp>
      <p:sp>
        <p:nvSpPr>
          <p:cNvPr id="95" name="„Zitat hier eingeben.“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„</a:t>
            </a:r>
            <a:r>
              <a:rPr dirty="0" err="1"/>
              <a:t>Zitat</a:t>
            </a:r>
            <a:r>
              <a:rPr dirty="0"/>
              <a:t>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eingeben</a:t>
            </a:r>
            <a:r>
              <a:rPr dirty="0"/>
              <a:t>.“ </a:t>
            </a:r>
          </a:p>
        </p:txBody>
      </p:sp>
      <p:sp>
        <p:nvSpPr>
          <p:cNvPr id="96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Bild"/>
          <p:cNvSpPr>
            <a:spLocks noGrp="1"/>
          </p:cNvSpPr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olien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el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/>
          <a:lstStyle>
            <a:lvl1pPr>
              <a:defRPr sz="70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dirty="0" err="1"/>
              <a:t>Titeltext</a:t>
            </a:r>
            <a:endParaRPr dirty="0"/>
          </a:p>
        </p:txBody>
      </p:sp>
      <p:grpSp>
        <p:nvGrpSpPr>
          <p:cNvPr id="122" name="Gruppieren"/>
          <p:cNvGrpSpPr/>
          <p:nvPr/>
        </p:nvGrpSpPr>
        <p:grpSpPr>
          <a:xfrm>
            <a:off x="1285431" y="-1"/>
            <a:ext cx="11724801" cy="102401"/>
            <a:chOff x="0" y="0"/>
            <a:chExt cx="11724800" cy="102399"/>
          </a:xfrm>
        </p:grpSpPr>
        <p:sp>
          <p:nvSpPr>
            <p:cNvPr id="119" name="Rechteck"/>
            <p:cNvSpPr/>
            <p:nvPr/>
          </p:nvSpPr>
          <p:spPr>
            <a:xfrm>
              <a:off x="-1" y="-1"/>
              <a:ext cx="3891201" cy="102401"/>
            </a:xfrm>
            <a:prstGeom prst="rect">
              <a:avLst/>
            </a:prstGeom>
            <a:solidFill>
              <a:srgbClr val="AA0F1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0" name="Rechteck"/>
            <p:cNvSpPr/>
            <p:nvPr/>
          </p:nvSpPr>
          <p:spPr>
            <a:xfrm>
              <a:off x="3891200" y="-1"/>
              <a:ext cx="3891201" cy="102401"/>
            </a:xfrm>
            <a:prstGeom prst="rect">
              <a:avLst/>
            </a:prstGeom>
            <a:solidFill>
              <a:srgbClr val="D7471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21" name="Rechteck"/>
            <p:cNvSpPr/>
            <p:nvPr/>
          </p:nvSpPr>
          <p:spPr>
            <a:xfrm>
              <a:off x="7782400" y="-1"/>
              <a:ext cx="3942401" cy="102401"/>
            </a:xfrm>
            <a:prstGeom prst="rect">
              <a:avLst/>
            </a:prstGeom>
            <a:solidFill>
              <a:srgbClr val="901B6E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pic>
        <p:nvPicPr>
          <p:cNvPr id="123" name="Logo_17pt.wmf" descr="Logo_17pt.w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500" y="8573622"/>
            <a:ext cx="1492393" cy="869245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-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el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Titeltext</a:t>
            </a:r>
          </a:p>
        </p:txBody>
      </p:sp>
      <p:grpSp>
        <p:nvGrpSpPr>
          <p:cNvPr id="135" name="Gruppieren"/>
          <p:cNvGrpSpPr/>
          <p:nvPr/>
        </p:nvGrpSpPr>
        <p:grpSpPr>
          <a:xfrm>
            <a:off x="1285431" y="-1"/>
            <a:ext cx="11724801" cy="102401"/>
            <a:chOff x="0" y="0"/>
            <a:chExt cx="11724800" cy="102399"/>
          </a:xfrm>
        </p:grpSpPr>
        <p:sp>
          <p:nvSpPr>
            <p:cNvPr id="132" name="Rechteck"/>
            <p:cNvSpPr/>
            <p:nvPr/>
          </p:nvSpPr>
          <p:spPr>
            <a:xfrm>
              <a:off x="-1" y="-1"/>
              <a:ext cx="3891201" cy="102401"/>
            </a:xfrm>
            <a:prstGeom prst="rect">
              <a:avLst/>
            </a:prstGeom>
            <a:solidFill>
              <a:srgbClr val="AA0F1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3" name="Rechteck"/>
            <p:cNvSpPr/>
            <p:nvPr/>
          </p:nvSpPr>
          <p:spPr>
            <a:xfrm>
              <a:off x="3891200" y="-1"/>
              <a:ext cx="3891201" cy="102401"/>
            </a:xfrm>
            <a:prstGeom prst="rect">
              <a:avLst/>
            </a:prstGeom>
            <a:solidFill>
              <a:srgbClr val="D7471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34" name="Rechteck"/>
            <p:cNvSpPr/>
            <p:nvPr/>
          </p:nvSpPr>
          <p:spPr>
            <a:xfrm>
              <a:off x="7782400" y="-1"/>
              <a:ext cx="3942401" cy="102401"/>
            </a:xfrm>
            <a:prstGeom prst="rect">
              <a:avLst/>
            </a:prstGeom>
            <a:solidFill>
              <a:srgbClr val="901B6E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457200">
                <a:defRPr b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sp>
        <p:nvSpPr>
          <p:cNvPr id="136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Titeltext</a:t>
            </a:r>
          </a:p>
        </p:txBody>
      </p:sp>
      <p:sp>
        <p:nvSpPr>
          <p:cNvPr id="3" name="Textebene 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hnw.ch/plattformen/fightfakenews/" TargetMode="External"/><Relationship Id="rId13" Type="http://schemas.openxmlformats.org/officeDocument/2006/relationships/hyperlink" Target="https://www.unrealengine.com/en-US/feed?tags=interviews%2Cmobile" TargetMode="External"/><Relationship Id="rId18" Type="http://schemas.openxmlformats.org/officeDocument/2006/relationships/hyperlink" Target="https://kotlinlang.org/docs/lets-plot.html#before-you-start" TargetMode="External"/><Relationship Id="rId3" Type="http://schemas.openxmlformats.org/officeDocument/2006/relationships/hyperlink" Target="https://www.hb.fh-muenster.de/opus4/frontdoor/deliver/index/docId/17786/file/ITB-Arbeitsberichte_Band11.pdf" TargetMode="External"/><Relationship Id="rId7" Type="http://schemas.openxmlformats.org/officeDocument/2006/relationships/hyperlink" Target="https://escapefake.org/de/" TargetMode="External"/><Relationship Id="rId12" Type="http://schemas.openxmlformats.org/officeDocument/2006/relationships/hyperlink" Target="https://www.unrealengine.com/en-US/uses/mobile-games" TargetMode="External"/><Relationship Id="rId17" Type="http://schemas.openxmlformats.org/officeDocument/2006/relationships/hyperlink" Target="https://kotlinlang.org/docs/data-analysis-visualization.html#create-a-bar-chart" TargetMode="External"/><Relationship Id="rId2" Type="http://schemas.openxmlformats.org/officeDocument/2006/relationships/notesSlide" Target="../notesSlides/notesSlide17.xml"/><Relationship Id="rId16" Type="http://schemas.openxmlformats.org/officeDocument/2006/relationships/hyperlink" Target="https://d3js.org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visual-literacy.org/" TargetMode="External"/><Relationship Id="rId11" Type="http://schemas.openxmlformats.org/officeDocument/2006/relationships/hyperlink" Target="https://www.springermedizin.de/wirkung-visueller-und-auditiver-hinweise-auf-die-visuelle-aufmer/50529098" TargetMode="External"/><Relationship Id="rId5" Type="http://schemas.openxmlformats.org/officeDocument/2006/relationships/hyperlink" Target="https://mediakompetent.de/manipulation-mit-daten-erkennen/" TargetMode="External"/><Relationship Id="rId15" Type="http://schemas.openxmlformats.org/officeDocument/2006/relationships/hyperlink" Target="https://dev.epicgames.com/documentation/en-us/unreal-engine/android-support-for-unreal-engine" TargetMode="External"/><Relationship Id="rId10" Type="http://schemas.openxmlformats.org/officeDocument/2006/relationships/hyperlink" Target="https://www.prometheanworld.com/de/ressourcen-center/blog/darum-ist-visuelles-lernen-so-erfolgreich/" TargetMode="External"/><Relationship Id="rId19" Type="http://schemas.openxmlformats.org/officeDocument/2006/relationships/hyperlink" Target="https://developer.android.com/compose" TargetMode="External"/><Relationship Id="rId4" Type="http://schemas.openxmlformats.org/officeDocument/2006/relationships/hyperlink" Target="https://science.orf.at/v2/stories/2941289/" TargetMode="External"/><Relationship Id="rId9" Type="http://schemas.openxmlformats.org/officeDocument/2006/relationships/hyperlink" Target="https://heiup.uni-heidelberg.de/journals/hdjbo/article/download/24017/17712" TargetMode="External"/><Relationship Id="rId14" Type="http://schemas.openxmlformats.org/officeDocument/2006/relationships/hyperlink" Target="https://dev.epicgames.com/community/learning/tutorials/MPDr/fab-the-unreal-engine-data-charts-plug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133"/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46" name="21"/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47" name="133"/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48" name="21"/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49" name="133"/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50" name="21"/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51" name="133"/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52" name="21"/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53" name="133"/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54" name="21"/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55" name="133"/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156" name="67"/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157" name="53"/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58" name="21"/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59" name="53"/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0" name="21"/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1" name="53"/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2" name="21"/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3" name="53"/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4" name="21"/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5" name="53"/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6" name="21"/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7" name="53"/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68" name="21"/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69" name="53"/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70" name="21"/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71" name="53"/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172" name="21"/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173" name="53"/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180" name="Gruppieren"/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174" name="Rechteck"/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75" name="Rechteck"/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76" name="Rechteck"/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77" name="Rechteck"/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78" name="Rechteck"/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179" name="Rechteck"/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181" name="Linie"/>
          <p:cNvSpPr/>
          <p:nvPr/>
        </p:nvSpPr>
        <p:spPr>
          <a:xfrm>
            <a:off x="762000" y="432435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82" name="Slideguide v0.1"/>
          <p:cNvSpPr txBox="1"/>
          <p:nvPr/>
        </p:nvSpPr>
        <p:spPr>
          <a:xfrm>
            <a:off x="766967" y="4603750"/>
            <a:ext cx="10794300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defRPr sz="1700" b="0"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rPr lang="de-DE" sz="2800" b="1"/>
              <a:t>Entwicklungsprojekt WS 25/26 </a:t>
            </a:r>
            <a:endParaRPr lang="en-US" sz="2800"/>
          </a:p>
          <a:p>
            <a:r>
              <a:rPr lang="de-DE" sz="2800" b="1"/>
              <a:t>von Florian </a:t>
            </a:r>
            <a:r>
              <a:rPr lang="de-DE" sz="2800" b="1" err="1"/>
              <a:t>Roß</a:t>
            </a:r>
            <a:r>
              <a:rPr lang="de-DE" sz="2800" b="1"/>
              <a:t> und Karim Khemiri</a:t>
            </a:r>
            <a:endParaRPr lang="de-DE" sz="2800"/>
          </a:p>
        </p:txBody>
      </p:sp>
      <p:sp>
        <p:nvSpPr>
          <p:cNvPr id="183" name="Advanced Media Institute"/>
          <p:cNvSpPr txBox="1"/>
          <p:nvPr/>
        </p:nvSpPr>
        <p:spPr>
          <a:xfrm>
            <a:off x="768350" y="3484603"/>
            <a:ext cx="951230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sz="4000" b="1"/>
              <a:t>Data </a:t>
            </a:r>
            <a:r>
              <a:rPr lang="de-DE" sz="4000" b="1" err="1"/>
              <a:t>Detective</a:t>
            </a:r>
            <a:r>
              <a:rPr lang="de-DE" sz="4000" b="1"/>
              <a:t> – Audit 1</a:t>
            </a:r>
            <a:endParaRPr lang="en-US" sz="4000" b="1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7E0E-69A1-364B-FF1D-A88045447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ypographie">
            <a:extLst>
              <a:ext uri="{FF2B5EF4-FFF2-40B4-BE49-F238E27FC236}">
                <a16:creationId xmlns:a16="http://schemas.microsoft.com/office/drawing/2014/main" id="{F9E5E1BC-3BF3-E0F1-4BB5-4EFBFF596990}"/>
              </a:ext>
            </a:extLst>
          </p:cNvPr>
          <p:cNvSpPr txBox="1"/>
          <p:nvPr/>
        </p:nvSpPr>
        <p:spPr>
          <a:xfrm>
            <a:off x="766967" y="778217"/>
            <a:ext cx="772647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Inhalt</a:t>
            </a:r>
            <a:endParaRPr/>
          </a:p>
        </p:txBody>
      </p:sp>
      <p:sp>
        <p:nvSpPr>
          <p:cNvPr id="301" name="Folientitel oder Titel von Zwischenfolien: Roboto Slab, Fett, 21pt, dunkelgrau, Zeilenabstand 0.9 oder 90%. Falls eine Ergänzung nötig ist: regular, mittelgrau">
            <a:extLst>
              <a:ext uri="{FF2B5EF4-FFF2-40B4-BE49-F238E27FC236}">
                <a16:creationId xmlns:a16="http://schemas.microsoft.com/office/drawing/2014/main" id="{82BF6196-0FE2-1172-6D77-FFC454BC7180}"/>
              </a:ext>
            </a:extLst>
          </p:cNvPr>
          <p:cNvSpPr txBox="1"/>
          <p:nvPr/>
        </p:nvSpPr>
        <p:spPr>
          <a:xfrm>
            <a:off x="768350" y="3663950"/>
            <a:ext cx="5735434" cy="290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algn="l">
              <a:lnSpc>
                <a:spcPct val="90000"/>
              </a:lnSpc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pPr>
            <a:endParaRPr>
              <a:solidFill>
                <a:srgbClr val="767574"/>
              </a:solidFill>
              <a:latin typeface="Roboto Slab Regular"/>
              <a:ea typeface="Roboto Slab Regular"/>
              <a:cs typeface="Roboto Slab Regular"/>
              <a:sym typeface="Roboto Slab Regular"/>
            </a:endParaRPr>
          </a:p>
        </p:txBody>
      </p:sp>
      <p:sp>
        <p:nvSpPr>
          <p:cNvPr id="302" name="133">
            <a:extLst>
              <a:ext uri="{FF2B5EF4-FFF2-40B4-BE49-F238E27FC236}">
                <a16:creationId xmlns:a16="http://schemas.microsoft.com/office/drawing/2014/main" id="{C5A8E370-1B2B-329F-4630-8D8C64A03A2A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3" name="21">
            <a:extLst>
              <a:ext uri="{FF2B5EF4-FFF2-40B4-BE49-F238E27FC236}">
                <a16:creationId xmlns:a16="http://schemas.microsoft.com/office/drawing/2014/main" id="{A11151E2-05E9-5DC8-D470-4F91C69EDF4C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4" name="133">
            <a:extLst>
              <a:ext uri="{FF2B5EF4-FFF2-40B4-BE49-F238E27FC236}">
                <a16:creationId xmlns:a16="http://schemas.microsoft.com/office/drawing/2014/main" id="{C4944191-46A6-99A7-F850-40E635EC2678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5" name="21">
            <a:extLst>
              <a:ext uri="{FF2B5EF4-FFF2-40B4-BE49-F238E27FC236}">
                <a16:creationId xmlns:a16="http://schemas.microsoft.com/office/drawing/2014/main" id="{609CC6F6-9D06-387D-BE56-7F313CE3DAF1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6" name="133">
            <a:extLst>
              <a:ext uri="{FF2B5EF4-FFF2-40B4-BE49-F238E27FC236}">
                <a16:creationId xmlns:a16="http://schemas.microsoft.com/office/drawing/2014/main" id="{A7C2C1CE-099C-2C81-5651-7ED48E9DB97B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7" name="21">
            <a:extLst>
              <a:ext uri="{FF2B5EF4-FFF2-40B4-BE49-F238E27FC236}">
                <a16:creationId xmlns:a16="http://schemas.microsoft.com/office/drawing/2014/main" id="{C02F550A-8089-BFFF-FE37-4068E71D87B0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08" name="133">
            <a:extLst>
              <a:ext uri="{FF2B5EF4-FFF2-40B4-BE49-F238E27FC236}">
                <a16:creationId xmlns:a16="http://schemas.microsoft.com/office/drawing/2014/main" id="{C2CE23C6-FD84-5559-2F82-FB8FCB745D90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09" name="21">
            <a:extLst>
              <a:ext uri="{FF2B5EF4-FFF2-40B4-BE49-F238E27FC236}">
                <a16:creationId xmlns:a16="http://schemas.microsoft.com/office/drawing/2014/main" id="{A022D3CB-BB27-9E00-63F4-5BA4D19FA809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0" name="133">
            <a:extLst>
              <a:ext uri="{FF2B5EF4-FFF2-40B4-BE49-F238E27FC236}">
                <a16:creationId xmlns:a16="http://schemas.microsoft.com/office/drawing/2014/main" id="{883CAC36-2206-863E-E2C3-72F8AE84ADBC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1" name="21">
            <a:extLst>
              <a:ext uri="{FF2B5EF4-FFF2-40B4-BE49-F238E27FC236}">
                <a16:creationId xmlns:a16="http://schemas.microsoft.com/office/drawing/2014/main" id="{8F02F80C-C9F2-A8A8-E9A3-BE21F3F30904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2" name="133">
            <a:extLst>
              <a:ext uri="{FF2B5EF4-FFF2-40B4-BE49-F238E27FC236}">
                <a16:creationId xmlns:a16="http://schemas.microsoft.com/office/drawing/2014/main" id="{F947F9EE-EE3A-056A-7AAD-19C3B6B4A7DA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13" name="67">
            <a:extLst>
              <a:ext uri="{FF2B5EF4-FFF2-40B4-BE49-F238E27FC236}">
                <a16:creationId xmlns:a16="http://schemas.microsoft.com/office/drawing/2014/main" id="{1F7C4127-F7C9-D0C8-EB9D-77A2E088FB39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14" name="53">
            <a:extLst>
              <a:ext uri="{FF2B5EF4-FFF2-40B4-BE49-F238E27FC236}">
                <a16:creationId xmlns:a16="http://schemas.microsoft.com/office/drawing/2014/main" id="{415B5824-2605-9EC9-EBEA-4C6DF9D8F13A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5" name="21">
            <a:extLst>
              <a:ext uri="{FF2B5EF4-FFF2-40B4-BE49-F238E27FC236}">
                <a16:creationId xmlns:a16="http://schemas.microsoft.com/office/drawing/2014/main" id="{78C642F2-7473-3FE5-331F-632FE8C0BD3B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6" name="53">
            <a:extLst>
              <a:ext uri="{FF2B5EF4-FFF2-40B4-BE49-F238E27FC236}">
                <a16:creationId xmlns:a16="http://schemas.microsoft.com/office/drawing/2014/main" id="{398CCF26-0EE5-517A-AF3C-635DF9950B54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7" name="21">
            <a:extLst>
              <a:ext uri="{FF2B5EF4-FFF2-40B4-BE49-F238E27FC236}">
                <a16:creationId xmlns:a16="http://schemas.microsoft.com/office/drawing/2014/main" id="{E7417FC3-0C50-60C9-4354-C050A1B90628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18" name="53">
            <a:extLst>
              <a:ext uri="{FF2B5EF4-FFF2-40B4-BE49-F238E27FC236}">
                <a16:creationId xmlns:a16="http://schemas.microsoft.com/office/drawing/2014/main" id="{24F64F53-088D-5520-53EF-E8B7CA760CCA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19" name="21">
            <a:extLst>
              <a:ext uri="{FF2B5EF4-FFF2-40B4-BE49-F238E27FC236}">
                <a16:creationId xmlns:a16="http://schemas.microsoft.com/office/drawing/2014/main" id="{78BF66EF-7462-9C18-2EBD-813CF8A49E14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0" name="53">
            <a:extLst>
              <a:ext uri="{FF2B5EF4-FFF2-40B4-BE49-F238E27FC236}">
                <a16:creationId xmlns:a16="http://schemas.microsoft.com/office/drawing/2014/main" id="{11A6ACA2-8C80-6DE7-F5C1-4BA2CFEA9380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1" name="21">
            <a:extLst>
              <a:ext uri="{FF2B5EF4-FFF2-40B4-BE49-F238E27FC236}">
                <a16:creationId xmlns:a16="http://schemas.microsoft.com/office/drawing/2014/main" id="{54274A27-FB44-EF73-D701-7D0D969EDBCF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2" name="53">
            <a:extLst>
              <a:ext uri="{FF2B5EF4-FFF2-40B4-BE49-F238E27FC236}">
                <a16:creationId xmlns:a16="http://schemas.microsoft.com/office/drawing/2014/main" id="{0DE77A61-AD96-2169-35EF-05362C486789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3" name="21">
            <a:extLst>
              <a:ext uri="{FF2B5EF4-FFF2-40B4-BE49-F238E27FC236}">
                <a16:creationId xmlns:a16="http://schemas.microsoft.com/office/drawing/2014/main" id="{123920C5-3C5B-DE72-5AE1-AA7582E47BDC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4" name="53">
            <a:extLst>
              <a:ext uri="{FF2B5EF4-FFF2-40B4-BE49-F238E27FC236}">
                <a16:creationId xmlns:a16="http://schemas.microsoft.com/office/drawing/2014/main" id="{43A94A7D-24FA-FBC3-8EA2-3E4029C0D150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5" name="21">
            <a:extLst>
              <a:ext uri="{FF2B5EF4-FFF2-40B4-BE49-F238E27FC236}">
                <a16:creationId xmlns:a16="http://schemas.microsoft.com/office/drawing/2014/main" id="{55167ABC-DDCF-25ED-54E8-36B1EA266BD6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6" name="53">
            <a:extLst>
              <a:ext uri="{FF2B5EF4-FFF2-40B4-BE49-F238E27FC236}">
                <a16:creationId xmlns:a16="http://schemas.microsoft.com/office/drawing/2014/main" id="{9B1A87EB-5DE1-DAAF-80FC-C8EB95FE31FA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7" name="21">
            <a:extLst>
              <a:ext uri="{FF2B5EF4-FFF2-40B4-BE49-F238E27FC236}">
                <a16:creationId xmlns:a16="http://schemas.microsoft.com/office/drawing/2014/main" id="{E14AF773-3259-D63F-0296-A5D31A958498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28" name="53">
            <a:extLst>
              <a:ext uri="{FF2B5EF4-FFF2-40B4-BE49-F238E27FC236}">
                <a16:creationId xmlns:a16="http://schemas.microsoft.com/office/drawing/2014/main" id="{EBDFD809-D8A9-9248-A0F4-D84C7E4E8862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29" name="21">
            <a:extLst>
              <a:ext uri="{FF2B5EF4-FFF2-40B4-BE49-F238E27FC236}">
                <a16:creationId xmlns:a16="http://schemas.microsoft.com/office/drawing/2014/main" id="{595FE8E4-96AC-C658-29C4-70346E017B2A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30" name="53">
            <a:extLst>
              <a:ext uri="{FF2B5EF4-FFF2-40B4-BE49-F238E27FC236}">
                <a16:creationId xmlns:a16="http://schemas.microsoft.com/office/drawing/2014/main" id="{BC271DAF-F7F2-664C-EB0D-1E62D8EF49A6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37" name="Gruppieren">
            <a:extLst>
              <a:ext uri="{FF2B5EF4-FFF2-40B4-BE49-F238E27FC236}">
                <a16:creationId xmlns:a16="http://schemas.microsoft.com/office/drawing/2014/main" id="{932FE550-6529-2F20-57CC-44F8B2A905A7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31" name="Rechteck">
              <a:extLst>
                <a:ext uri="{FF2B5EF4-FFF2-40B4-BE49-F238E27FC236}">
                  <a16:creationId xmlns:a16="http://schemas.microsoft.com/office/drawing/2014/main" id="{4D641E38-2B08-10E3-DFA2-5A5167DF49BC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32" name="Rechteck">
              <a:extLst>
                <a:ext uri="{FF2B5EF4-FFF2-40B4-BE49-F238E27FC236}">
                  <a16:creationId xmlns:a16="http://schemas.microsoft.com/office/drawing/2014/main" id="{A85580CA-CD46-BAB7-3C02-9B7B6E5996ED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33" name="Rechteck">
              <a:extLst>
                <a:ext uri="{FF2B5EF4-FFF2-40B4-BE49-F238E27FC236}">
                  <a16:creationId xmlns:a16="http://schemas.microsoft.com/office/drawing/2014/main" id="{DB2C6132-3107-04E3-05BB-D57B4A80F3BC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34" name="Rechteck">
              <a:extLst>
                <a:ext uri="{FF2B5EF4-FFF2-40B4-BE49-F238E27FC236}">
                  <a16:creationId xmlns:a16="http://schemas.microsoft.com/office/drawing/2014/main" id="{7B5ADE84-23AD-3E7D-3991-5E922E8DC7DC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35" name="Rechteck">
              <a:extLst>
                <a:ext uri="{FF2B5EF4-FFF2-40B4-BE49-F238E27FC236}">
                  <a16:creationId xmlns:a16="http://schemas.microsoft.com/office/drawing/2014/main" id="{67932008-7512-4081-4EB4-8FA46008DC89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36" name="Rechteck">
              <a:extLst>
                <a:ext uri="{FF2B5EF4-FFF2-40B4-BE49-F238E27FC236}">
                  <a16:creationId xmlns:a16="http://schemas.microsoft.com/office/drawing/2014/main" id="{96FBE9AB-6C9E-1E35-4563-0909E700807D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38" name="Linie">
            <a:extLst>
              <a:ext uri="{FF2B5EF4-FFF2-40B4-BE49-F238E27FC236}">
                <a16:creationId xmlns:a16="http://schemas.microsoft.com/office/drawing/2014/main" id="{8A4A3017-2D1E-3755-F2F5-CB8F119747EF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41" name="Präsentationstitel: Roboto Slab, Fett, 27pt, dunkelgrau oder weiß, Zeilenabstand 0.9 oder 90%">
            <a:extLst>
              <a:ext uri="{FF2B5EF4-FFF2-40B4-BE49-F238E27FC236}">
                <a16:creationId xmlns:a16="http://schemas.microsoft.com/office/drawing/2014/main" id="{1BD84C73-AE79-D887-D2F1-DE5C5AAE5D4A}"/>
              </a:ext>
            </a:extLst>
          </p:cNvPr>
          <p:cNvSpPr txBox="1"/>
          <p:nvPr/>
        </p:nvSpPr>
        <p:spPr>
          <a:xfrm>
            <a:off x="1392580" y="2590800"/>
            <a:ext cx="10443172" cy="4321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2700" b="0">
                <a:solidFill>
                  <a:srgbClr val="2B2B2B"/>
                </a:solidFill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pPr marL="514350" indent="-514350">
              <a:buAutoNum type="arabicPeriod"/>
            </a:pPr>
            <a:r>
              <a:rPr lang="de-DE" sz="2400"/>
              <a:t>Problemstellung</a:t>
            </a:r>
          </a:p>
          <a:p>
            <a:pPr marL="514350" indent="-514350">
              <a:buAutoNum type="arabicPeriod"/>
            </a:pPr>
            <a:r>
              <a:rPr lang="de-DE" sz="2400"/>
              <a:t>Zielsetzung</a:t>
            </a:r>
          </a:p>
          <a:p>
            <a:pPr marL="514350" indent="-514350">
              <a:buFontTx/>
              <a:buAutoNum type="arabicPeriod"/>
            </a:pPr>
            <a:r>
              <a:rPr lang="de-DE" sz="2400"/>
              <a:t>Systemaufbau und Methodik</a:t>
            </a:r>
          </a:p>
          <a:p>
            <a:pPr marL="514350" indent="-514350">
              <a:buAutoNum type="arabicPeriod"/>
            </a:pPr>
            <a:r>
              <a:rPr lang="de-DE" sz="2400"/>
              <a:t>Domänenmodell</a:t>
            </a:r>
          </a:p>
          <a:p>
            <a:pPr marL="514350" indent="-514350">
              <a:buAutoNum type="arabicPeriod"/>
            </a:pPr>
            <a:r>
              <a:rPr lang="de-DE" sz="2400"/>
              <a:t>Konkurrenzanalyse</a:t>
            </a:r>
          </a:p>
          <a:p>
            <a:pPr marL="514350" indent="-514350">
              <a:buAutoNum type="arabicPeriod"/>
            </a:pPr>
            <a:r>
              <a:rPr lang="de-DE" sz="2400"/>
              <a:t>Alleinstellungsmerkmal</a:t>
            </a:r>
          </a:p>
          <a:p>
            <a:pPr marL="514350" indent="-514350">
              <a:buAutoNum type="arabicPeriod"/>
            </a:pPr>
            <a:r>
              <a:rPr lang="de-DE" sz="2400"/>
              <a:t>Technische Evaluation</a:t>
            </a:r>
          </a:p>
          <a:p>
            <a:pPr marL="514350" indent="-514350">
              <a:buAutoNum type="arabicPeriod"/>
            </a:pPr>
            <a:r>
              <a:rPr lang="de-DE" sz="2400"/>
              <a:t>Zielhierarchie</a:t>
            </a:r>
          </a:p>
          <a:p>
            <a:pPr marL="514350" indent="-514350">
              <a:buAutoNum type="arabicPeriod"/>
            </a:pPr>
            <a:r>
              <a:rPr lang="de-DE" sz="2400"/>
              <a:t>Anforderungen</a:t>
            </a:r>
          </a:p>
          <a:p>
            <a:pPr marL="514350" indent="-514350">
              <a:buAutoNum type="arabicPeriod"/>
            </a:pPr>
            <a:r>
              <a:rPr lang="de-DE" sz="2400"/>
              <a:t>Projektrisiken</a:t>
            </a:r>
          </a:p>
          <a:p>
            <a:pPr marL="514350" indent="-514350">
              <a:buAutoNum type="arabicPeriod"/>
            </a:pPr>
            <a:r>
              <a:rPr lang="de-DE" sz="2400"/>
              <a:t>Potenzielle Erweiterungsmöglichkeiten</a:t>
            </a:r>
          </a:p>
          <a:p>
            <a:pPr marL="514350" indent="-514350">
              <a:buAutoNum type="arabicPeriod"/>
            </a:pPr>
            <a:r>
              <a:rPr lang="de-DE" sz="2400"/>
              <a:t>Erste Zeitplanung</a:t>
            </a:r>
          </a:p>
          <a:p>
            <a:pPr marL="514350" indent="-514350">
              <a:buAutoNum type="arabicPeriod"/>
            </a:pPr>
            <a:r>
              <a:rPr lang="de-DE" sz="2400"/>
              <a:t>Quellen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4556003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44CF0-CE19-C9C0-671B-97618870A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C07C6B88-1720-5F42-3971-3D8E8BB727F7}"/>
              </a:ext>
            </a:extLst>
          </p:cNvPr>
          <p:cNvSpPr txBox="1"/>
          <p:nvPr/>
        </p:nvSpPr>
        <p:spPr>
          <a:xfrm>
            <a:off x="766967" y="778217"/>
            <a:ext cx="2122376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Problemstellung</a:t>
            </a:r>
            <a:endParaRPr lang="en-US"/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158892E7-7EBC-319E-8EE0-BBCA8B3E7F96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F281D130-8894-4C46-55F2-24C8E5F4A5E6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1758BB9C-0320-51D7-CC2B-30D5297C3092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791DE037-F1F9-368E-1E9F-BD155EDA5DE8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800A73C7-0184-CC67-2A10-924BB46341C2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A7B4C244-BD85-BF74-E9C5-60A7A9DC422D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DB144CD0-2499-514C-5305-3EE0F8C2AECD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388413DD-B442-35B6-1138-13E55B7D0989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5C3665FE-668F-B49A-55DA-951C59ED9B14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15DB52B8-F673-FFFD-4A40-ED947BF4DDD3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9B07B590-5886-4C44-F530-13C46394DF4D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C48ABEFA-90F8-4F72-E29D-A770F9E13AEF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E0F2D07B-F2BD-FF1C-FABC-928638D056D7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EE9780F9-7171-E447-6D52-C4177228C582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0BA33514-21A6-BC98-1A38-F6CF94876B56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210CE17B-C34B-7A1F-44AF-A7BDF7DFEC3A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4DBAFA06-EF36-88E9-CAFE-B12CDDF5F3DE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3FAA66CE-10D1-CFF3-07AE-B43A22F98AC5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DB6FFBAA-95AD-2A61-893C-8FCC090E812A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C081DA8B-284D-F8D6-D801-A7CE07FDAEB0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10CEB92D-EF8C-C8C5-1A6D-01383A43B799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CFE3CBF2-F7FE-8BD9-BA53-8D2768A53898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3C07DB38-11D2-A898-D614-F247C2F47F0C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5D050F80-E986-E187-3E0E-4448B0C44C24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6D8B4FAF-90D1-CDAE-D81D-07253F4F5B69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A3DEBE50-B1C6-2402-7543-AB73DCE9FC1B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A604C521-E6A1-2C35-D323-5CD7D1395815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73AF05C3-E272-BBED-D1AB-933CA7AB8E9C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2F9E846B-E48E-B8C2-FFB2-DA4FBFCD9665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BEE9C033-E5C7-42C9-7B40-465DF264B017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EF614DBB-3D0D-26D8-1314-7AA885F712FF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2FAAB41C-8424-D2CB-FD54-88D1C974002C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47339B20-B4AD-8CF9-A554-FB6E30BFE1FD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6150EECE-7929-AB51-2F36-BFBE218B73E0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E407DDF5-AAF5-2398-9E8D-04B1CBBA2093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1D6760B1-398A-20A9-062D-2951C467CB51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B765D2BB-42C0-11EE-88BB-376410D2DE4F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8DE8630B-5F46-8E32-F4CF-55A9CC3ACC5B}"/>
              </a:ext>
            </a:extLst>
          </p:cNvPr>
          <p:cNvSpPr txBox="1"/>
          <p:nvPr/>
        </p:nvSpPr>
        <p:spPr>
          <a:xfrm>
            <a:off x="768350" y="1987656"/>
            <a:ext cx="10463160" cy="6193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de-DE" sz="1800"/>
              <a:t>Statistiken und Daten durch Digitalisierung immer relevanter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Fehlendes Verständnis und unzureichende Medienkompetenz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Fehlender Kontext für Inhalte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Bewusste und unbewusste Anpassung und Manipulation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Fehlende Kompetenzen zur Überprüfung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Intransparente fachliche Kompetenz der Creator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Fehlende Verifikation und Validierung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Mangelnde Aufklärung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Stärkere Barriere für junge und ältere Erwachsene als für Kinder und Jugendliche</a:t>
            </a:r>
          </a:p>
          <a:p>
            <a:pPr marL="285750" indent="-285750">
              <a:buFont typeface="Calibri"/>
              <a:buChar char="-"/>
            </a:pPr>
            <a:endParaRPr lang="de-DE" sz="1800" u="sng"/>
          </a:p>
          <a:p>
            <a:endParaRPr lang="de-DE" sz="1800" u="sng"/>
          </a:p>
          <a:p>
            <a:endParaRPr lang="de-DE" sz="1800" u="sng"/>
          </a:p>
          <a:p>
            <a:pPr>
              <a:buFont typeface="Calibri"/>
            </a:pPr>
            <a:r>
              <a:rPr lang="de-DE" sz="1800"/>
              <a:t>-&gt; unreflektierte Meinungsbildung, Polarisation, falscher Umgang mit Informationen, Unsicherheit</a:t>
            </a:r>
          </a:p>
        </p:txBody>
      </p:sp>
    </p:spTree>
    <p:extLst>
      <p:ext uri="{BB962C8B-B14F-4D97-AF65-F5344CB8AC3E}">
        <p14:creationId xmlns:p14="http://schemas.microsoft.com/office/powerpoint/2010/main" val="216390058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0621-AE0A-E0AC-8C81-5BF9805C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8E8C2529-E197-9B46-ABE7-31EFB1476682}"/>
              </a:ext>
            </a:extLst>
          </p:cNvPr>
          <p:cNvSpPr txBox="1"/>
          <p:nvPr/>
        </p:nvSpPr>
        <p:spPr>
          <a:xfrm>
            <a:off x="766967" y="778217"/>
            <a:ext cx="1492396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Zielsetzung</a:t>
            </a:r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B47F680C-F8F5-B25D-AA83-884018D6C2CA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3F37DA15-5134-AB12-F26F-1A68F3C8F96D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4AB2893A-117F-5242-4100-379F8239677A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0ECF02A6-6E2B-97DD-E0CD-7B6697F85DC9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8C58F3CA-DCCA-42DA-C7C4-F582717A9A0A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E3B99F4E-A862-1E21-D595-F0D0780C0D7A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3A516306-B000-BC95-1C30-AE09F341B2E5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4753B8D7-6B84-FE57-73F7-80E736A67050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C1F07397-B102-D298-9709-43A2EA82DDC4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8E0C5EC9-7EC2-EC98-3D37-48382A2CBDF2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F0EEEC75-BC6C-ACAB-A2A2-EAD3C9213FB8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B9293EBB-837B-36A2-550F-A1C22981A13E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6DA93D18-B981-580F-E0BF-A219BB13B042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5DAB1E5E-6A43-1A93-5069-02C1FD8AB53C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1C20CE09-D340-27FF-383F-CBB9F57BEFFE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0CB8ABD1-795B-3CA4-A88C-0DDD18A99BE1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B10DF25B-F56C-AEDA-F30D-3E5121FAEB84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D5A8CF26-FD10-5064-2148-F50F89F6846A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A11102E0-B2BB-CF39-9577-A495CE3D5E84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086586A0-F88B-B93A-E638-1CC4088B8A4B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A2FFF4C1-CA0E-2637-9C14-030835687A22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7FC225F5-3C74-66F8-0085-25087A2DF68C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D2EBBC44-E5EC-E097-0530-1E51F3C2C7DD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708C12BA-4372-D77A-B813-A65B26ED019F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BB3D6539-050E-3C25-4B7B-ECBBDAD7F225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811D5E07-6FA4-F350-72ED-8205CC5D6570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ED5B0A0C-BF3E-BC6B-5F87-020530281831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C471930A-4883-21EC-0753-27574BF81AEA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0AB1B5B3-34CE-3A33-4B35-EA4D687DBBDE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EA88796D-5543-7B1F-0310-6469924610A8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318C55A0-2EC0-8D41-9369-CFA2166822CB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9AFCBD64-24FB-156A-67D9-4C3278FC92E8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92D0DADF-8762-3C14-82EA-E4D941E981D8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8C1ADF12-D451-1CCF-BDD8-D5CB2E1EAECE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7CBFC8CF-C7DE-C1F9-6FDE-937AFA839228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2929768D-098B-38FD-B96C-A9C70E495B6C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81BFB204-1F67-D42C-C069-A65B4C0BDB59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D696C73A-F026-520F-FC31-4E351DAA3A21}"/>
              </a:ext>
            </a:extLst>
          </p:cNvPr>
          <p:cNvSpPr txBox="1"/>
          <p:nvPr/>
        </p:nvSpPr>
        <p:spPr>
          <a:xfrm>
            <a:off x="768350" y="1987656"/>
            <a:ext cx="10463160" cy="506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sz="1800" u="sng"/>
              <a:t>Entwicklung eines Systems was:</a:t>
            </a:r>
          </a:p>
          <a:p>
            <a:endParaRPr lang="de-DE" sz="1800"/>
          </a:p>
          <a:p>
            <a:pPr marL="285750" indent="-285750">
              <a:buFont typeface="Arial"/>
              <a:buChar char="•"/>
            </a:pPr>
            <a:r>
              <a:rPr lang="de-DE" sz="1800"/>
              <a:t>Medienkompetenz, Statistikverständnis durch Visualisierung fördert.</a:t>
            </a:r>
          </a:p>
          <a:p>
            <a:pPr marL="285750" indent="-285750">
              <a:buFont typeface="Arial"/>
              <a:buChar char="•"/>
            </a:pPr>
            <a:endParaRPr lang="de-DE" sz="1800"/>
          </a:p>
          <a:p>
            <a:pPr marL="285750" indent="-285750">
              <a:buFont typeface="Arial"/>
              <a:buChar char="•"/>
            </a:pPr>
            <a:r>
              <a:rPr lang="de-DE" sz="1800"/>
              <a:t>Durch ein einfaches Spielkonzept leichte Nutzbarkeit ermöglicht</a:t>
            </a:r>
          </a:p>
          <a:p>
            <a:pPr marL="285750" indent="-285750">
              <a:buFont typeface="Arial"/>
              <a:buChar char="•"/>
            </a:pPr>
            <a:endParaRPr lang="de-DE" sz="1800"/>
          </a:p>
          <a:p>
            <a:pPr marL="285750" indent="-285750">
              <a:buFont typeface="Arial"/>
              <a:buChar char="•"/>
            </a:pPr>
            <a:r>
              <a:rPr lang="de-DE" sz="1800"/>
              <a:t>Motivationsgründe bietet um Kernaspekte leichter an den Nutzer zu bringen</a:t>
            </a:r>
          </a:p>
          <a:p>
            <a:pPr marL="285750" indent="-285750">
              <a:buFont typeface="Arial"/>
              <a:buChar char="•"/>
            </a:pPr>
            <a:endParaRPr lang="de-DE" sz="1800"/>
          </a:p>
          <a:p>
            <a:pPr marL="285750" indent="-285750">
              <a:buFont typeface="Arial"/>
              <a:buChar char="•"/>
            </a:pPr>
            <a:r>
              <a:rPr lang="de-DE" sz="1800"/>
              <a:t>Allgemeine Kompetenzen fördert die Themenübergreifend zutreffen</a:t>
            </a:r>
          </a:p>
          <a:p>
            <a:pPr marL="285750" indent="-285750">
              <a:buFont typeface="Arial"/>
              <a:buChar char="•"/>
            </a:pPr>
            <a:endParaRPr lang="de-DE" sz="1800"/>
          </a:p>
          <a:p>
            <a:pPr marL="285750" indent="-285750">
              <a:buFont typeface="Arial"/>
              <a:buChar char="•"/>
            </a:pPr>
            <a:r>
              <a:rPr lang="de-DE" sz="1800"/>
              <a:t>Kritisches Denken und Reflektion über Inhalte anregt</a:t>
            </a:r>
          </a:p>
          <a:p>
            <a:pPr marL="285750" indent="-285750">
              <a:buFont typeface="Arial"/>
              <a:buChar char="•"/>
            </a:pPr>
            <a:endParaRPr lang="de-DE" sz="1800"/>
          </a:p>
          <a:p>
            <a:pPr marL="285750" indent="-285750">
              <a:buFont typeface="Arial"/>
              <a:buChar char="•"/>
            </a:pPr>
            <a:r>
              <a:rPr lang="de-DE" sz="1800"/>
              <a:t>Stabilere Meinungsbildung fördert</a:t>
            </a:r>
          </a:p>
          <a:p>
            <a:pPr marL="285750" indent="-285750">
              <a:buFont typeface="Arial"/>
              <a:buChar char="•"/>
            </a:pPr>
            <a:endParaRPr lang="de-DE" sz="1800"/>
          </a:p>
          <a:p>
            <a:pPr marL="285750" indent="-285750">
              <a:buFont typeface="Arial"/>
              <a:buChar char="•"/>
            </a:pPr>
            <a:r>
              <a:rPr lang="de-DE" sz="1800"/>
              <a:t>Manipulation des Nutzers zukünftig erschwert</a:t>
            </a:r>
          </a:p>
          <a:p>
            <a:pPr marL="285750" indent="-285750">
              <a:buFont typeface="Arial"/>
              <a:buChar char="•"/>
            </a:pPr>
            <a:endParaRPr lang="de-DE" sz="1800"/>
          </a:p>
          <a:p>
            <a:pPr marL="285750" indent="-285750">
              <a:buFont typeface="Arial"/>
              <a:buChar char="•"/>
            </a:pPr>
            <a:r>
              <a:rPr lang="de-DE" sz="1800"/>
              <a:t>Auch bei normalen und nativen Daten Mehrwerte bietet</a:t>
            </a:r>
          </a:p>
          <a:p>
            <a:pPr marL="285750" indent="-285750">
              <a:buFont typeface="Calibri"/>
              <a:buChar char="-"/>
            </a:pPr>
            <a:endParaRPr lang="de-DE" sz="1800" u="sng"/>
          </a:p>
        </p:txBody>
      </p:sp>
    </p:spTree>
    <p:extLst>
      <p:ext uri="{BB962C8B-B14F-4D97-AF65-F5344CB8AC3E}">
        <p14:creationId xmlns:p14="http://schemas.microsoft.com/office/powerpoint/2010/main" val="80022731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972DA-3F46-6D5A-056D-8AAE8A72D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98603CBB-3D72-9DD9-8E4E-544A8A7A9E69}"/>
              </a:ext>
            </a:extLst>
          </p:cNvPr>
          <p:cNvSpPr txBox="1"/>
          <p:nvPr/>
        </p:nvSpPr>
        <p:spPr>
          <a:xfrm>
            <a:off x="766967" y="778217"/>
            <a:ext cx="3739806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Systemaufbau und Methodik</a:t>
            </a:r>
            <a:endParaRPr lang="en-US"/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3139DEB7-6251-B905-5DBD-0621139D4B43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E8F64175-04F8-DF3C-C711-37794C1D17F8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B6B62FC8-AC1B-79EB-B406-ADD17E8C35D0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03E84C20-EDBF-B416-6379-DF55F52A9035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BE06B09D-0BC9-278C-1CA7-9DE1A2D5B307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915904D1-CC29-9E37-E1BF-A64AA048FE60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64FBE46D-086D-606C-9D1E-731AF8D3277C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2CF7795B-14DF-888F-7463-4C24969F0DA3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6B827C53-0D0F-95C8-7855-0DFBEE1AB025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98148DE1-A431-7101-EAF0-127DAE3CB4D8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231C1381-DD45-BB51-3AD4-1F8CA8E2AB3A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EE270E92-90BB-2EC7-B8D2-F32F7B9C9410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8E88DC62-BF1D-6F46-F106-A69AE6A29576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1952C1C2-091A-8534-23ED-9F9B9DC11BD4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35973E66-BBEB-232C-26BC-067FCCCF3275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5F638E23-5B63-606A-0A65-D48B900666A4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BB3621C4-E975-7571-034C-6147E90C7AE6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5EF1D6D9-7DDE-84D3-F11A-1ABED9DDA3CF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5F717C2D-E408-7DF1-1B7A-F2BAAC93F94E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5DB2D7D7-C73C-54C4-44F9-4E8FDC023BE5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FBDE4CF9-335C-2EDB-1D83-1CA2CA9B9BC9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FF62D331-3D53-418E-1EE4-F02D1BDEE508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C674C864-4E88-3AA5-02B2-BEBE7ECA0724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1C318618-2F90-1DAA-0501-C23E57A63219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74E94B41-404C-A7C4-39EB-394A6E39D2E5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A9525C91-A942-4A73-B335-ABBD70747646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30053D13-AF2A-9C49-0F48-ACA146693A14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5803EAD7-70BE-F2ED-4081-AAF9450AFACE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1A9D689D-6A95-C321-5CEF-D6823B7C96C8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C6162AB1-8A43-1E7C-99F1-C3B6F75C30BE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9E059E0F-C88D-572F-CEF5-26A7C63AB7DA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3496DD02-6104-B1A1-04B7-0EFE45BE488F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61C16270-222C-6E96-0E56-B2A070F8E1EF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23C4A9F7-7A84-26B5-CE31-5CE6048079BE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A16CE21C-C5DB-B62C-6E5A-700AD67078D5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D86B05A0-F904-DF3A-3FE9-66AD38099DF2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CA6A580C-88C2-2F85-9749-FA43A1DCA795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A29350BD-E60A-84F4-3F37-1752B5E65B31}"/>
              </a:ext>
            </a:extLst>
          </p:cNvPr>
          <p:cNvSpPr txBox="1"/>
          <p:nvPr/>
        </p:nvSpPr>
        <p:spPr>
          <a:xfrm>
            <a:off x="768350" y="1987656"/>
            <a:ext cx="10463160" cy="562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sz="1800" u="sng"/>
              <a:t>Lösung: Data </a:t>
            </a:r>
            <a:r>
              <a:rPr lang="de-DE" sz="1800" u="sng" err="1"/>
              <a:t>Detective</a:t>
            </a:r>
            <a:r>
              <a:rPr lang="de-DE" sz="1800" u="sng"/>
              <a:t> (NIP)</a:t>
            </a:r>
            <a:endParaRPr lang="en-US"/>
          </a:p>
          <a:p>
            <a:endParaRPr lang="de-DE" sz="1800" u="sng"/>
          </a:p>
          <a:p>
            <a:r>
              <a:rPr lang="de-DE" sz="1800"/>
              <a:t>Ein interaktives Spielsystem zur Förderung von Statistikverständnis und Medienkompetenz</a:t>
            </a:r>
            <a:endParaRPr lang="de-DE"/>
          </a:p>
          <a:p>
            <a:endParaRPr lang="de-DE" sz="1800" u="sng"/>
          </a:p>
          <a:p>
            <a:endParaRPr lang="de-DE" sz="1800" u="sng"/>
          </a:p>
          <a:p>
            <a:r>
              <a:rPr lang="de-DE" sz="1800" u="sng"/>
              <a:t>Grundidee: </a:t>
            </a:r>
          </a:p>
          <a:p>
            <a:pPr marL="285750" indent="-285750">
              <a:buFont typeface="Calibri"/>
              <a:buChar char="-"/>
            </a:pPr>
            <a:r>
              <a:rPr lang="de-DE" sz="1800"/>
              <a:t>Veränderte Daten/Statistiken werden als Aufgaben präsentiert</a:t>
            </a:r>
          </a:p>
          <a:p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Nutzer kann unter Auswahlmöglichkeiten wählen welche Faktoren beeinflusst oder verändert wurden oder wo relevanter Kontext fehlt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Nach jeder Aufgabe erhält der Spieler unmittelbar Rückmeldung zu seiner Leistung und die Manipulation wird erklärt sowie visuell zurückgeführt und </a:t>
            </a:r>
            <a:r>
              <a:rPr lang="de-DE" sz="1800" err="1"/>
              <a:t>dargstellt</a:t>
            </a:r>
            <a:r>
              <a:rPr lang="de-DE" sz="1800"/>
              <a:t>.</a:t>
            </a:r>
          </a:p>
          <a:p>
            <a:pPr marL="285750" indent="-285750">
              <a:buFont typeface="Calibri"/>
              <a:buChar char="-"/>
            </a:pPr>
            <a:endParaRPr lang="de-DE" sz="1800" u="sng"/>
          </a:p>
          <a:p>
            <a:pPr marL="285750" indent="-285750">
              <a:buFont typeface="Calibri"/>
              <a:buChar char="-"/>
            </a:pPr>
            <a:r>
              <a:rPr lang="de-DE" sz="1800"/>
              <a:t>Es können alle oder keine Faktoren als Lösung eingereicht werden</a:t>
            </a:r>
          </a:p>
          <a:p>
            <a:pPr marL="285750" indent="-285750">
              <a:buFont typeface="Calibri"/>
              <a:buChar char="-"/>
            </a:pPr>
            <a:endParaRPr lang="de-DE" sz="1800" u="sng"/>
          </a:p>
          <a:p>
            <a:pPr marL="285750" indent="-285750">
              <a:buFont typeface="Calibri"/>
              <a:buChar char="-"/>
            </a:pPr>
            <a:r>
              <a:rPr lang="de-DE" sz="1800"/>
              <a:t>Der Spieler besitzt eine Gesamt- und eine kurzzeitige Tendenzstatistik zu seinem Fortschritt und Entwicklung</a:t>
            </a:r>
          </a:p>
          <a:p>
            <a:pPr marL="285750" indent="-285750">
              <a:buFont typeface="Calibri"/>
              <a:buChar char="-"/>
            </a:pPr>
            <a:endParaRPr lang="de-DE" sz="1800" u="sng"/>
          </a:p>
          <a:p>
            <a:pPr marL="285750" indent="-285750">
              <a:buFont typeface="Calibri"/>
              <a:buChar char="-"/>
            </a:pPr>
            <a:r>
              <a:rPr lang="de-DE" sz="1800"/>
              <a:t>Datensätze werden künstlich anhand von echten Statistiken gebildet</a:t>
            </a:r>
          </a:p>
        </p:txBody>
      </p:sp>
    </p:spTree>
    <p:extLst>
      <p:ext uri="{BB962C8B-B14F-4D97-AF65-F5344CB8AC3E}">
        <p14:creationId xmlns:p14="http://schemas.microsoft.com/office/powerpoint/2010/main" val="78580055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08B42-E05C-0270-ACF0-6B82709F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7721F0D3-FC6A-D0B1-752D-1F015E588251}"/>
              </a:ext>
            </a:extLst>
          </p:cNvPr>
          <p:cNvSpPr txBox="1"/>
          <p:nvPr/>
        </p:nvSpPr>
        <p:spPr>
          <a:xfrm>
            <a:off x="857780" y="801300"/>
            <a:ext cx="1092446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sz="1800"/>
              <a:t>Domänenmodell: Kommunikation und Interpretation von Daten und Statistiken in digitalen Medien</a:t>
            </a:r>
            <a:endParaRPr lang="en-US" sz="1800"/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9E6FFFC6-93EF-4E07-A76F-276EA204B47C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F09F8E34-505A-1A56-9722-8A7F6B619DC3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96A53DB4-E148-4259-9FDC-F738D1CF21D5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C73CA155-4A05-140F-2F9B-BB9E8F13F7F0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9583E298-DB62-E112-D209-6A6F191FDAF7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ABD63710-3F0C-B65A-78FF-6047ECBFB383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F85FC988-A59F-DBDF-DFB5-605372EBBA42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F9720CDA-BD3B-7375-D03D-1CCD89780511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B24C0D60-7DD1-3250-4F79-EA288770EE8B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6A29649F-715E-245F-3D09-2D9C3A2FFEF8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6AF3B24D-B439-EF6A-2E12-03C8905D288A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7050A76A-0BA3-7354-70DA-EB40F0F088F5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7B03F253-BD0A-DCF1-13B8-CA629715F874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AD15AB8D-4223-A898-E3C7-B6A61A278D88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24E7A7E9-608C-6332-1060-E15CD0E1DFC5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16079730-4AAA-3457-620B-299F386F244B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0737C1C9-5F8F-5FD2-11A5-49579B52CC7F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E6F6D98F-21D2-E360-AD7E-8AD9AFE23608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2ECEC086-2317-F847-CB5B-C8F481F6E30E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03B019E0-251A-2D29-0F1A-89721FAC9681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C7B484B0-2F0D-D2F2-E03B-6BF2BE4E9831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91067FDE-611F-CE6A-DC43-9993F21E673E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4B14FED7-D16E-7612-9F0E-8A77424EC48D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1CBCA73D-2F60-D605-F993-FA04AD91ACFE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5F4E02E3-81D5-5ABF-F68E-A56BF514E7CA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C80F014C-5D91-E5A1-3F37-51D303C99F77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2798289A-274D-51B8-66D4-8E4DC60B3000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65E9B479-4D2D-C290-A37D-0D75BC8D1362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FEA95D5D-2317-F7C2-8742-44A4531BCC34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376EB319-F04B-F501-824C-3792966E363F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26915E3F-53ED-733E-E133-DFCA04A1BF86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FA71E48B-1D0A-FF74-7805-E3D2CDBB76F3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46BE15DF-2674-7841-7BCD-C8FE14E816FB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3F5B5774-6F64-2691-DCF0-6C729E35D68A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BE1BE0F3-EF01-9E90-6A18-37F7588D0CA9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EB217B87-92C6-E659-A413-2814E361D9AF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F0FAC3F7-92C8-FCB9-54D7-966935DEA3EB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4472C4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C107BDA-39DF-4203-F7D7-CCAA5E2BD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103" y="2596384"/>
            <a:ext cx="11570864" cy="457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80467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442C-D1AE-514F-D93D-0BEE2769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B2DDB3D5-A799-577B-467E-8E1736876879}"/>
              </a:ext>
            </a:extLst>
          </p:cNvPr>
          <p:cNvSpPr txBox="1"/>
          <p:nvPr/>
        </p:nvSpPr>
        <p:spPr>
          <a:xfrm>
            <a:off x="766967" y="778217"/>
            <a:ext cx="2954335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Technische Evaluation</a:t>
            </a:r>
            <a:endParaRPr lang="en-US"/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E1F4F2F6-0666-1687-E4AD-A59A5A2581C1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F4C69C10-62B4-9824-5FC1-7FA5037ED925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9F4FA151-EAB3-CBD9-1F1B-D5F30940F792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52379EA5-E5FE-34AC-3F98-A1714C711A91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7F693F0B-A930-8EF1-3815-44DF73686943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1360B6CA-DB0A-34EF-C604-D22931FD2449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94CDE864-5125-3D85-64CB-D719C2F7D5F3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D52D398A-D87F-F0C3-6445-486574655D79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F25496B2-ACDA-5EA3-28B1-B1E9BD462531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3A7434B1-2AFE-158F-C7A7-0D6073B4C615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0767D23E-0C1E-36FE-5247-1C593C6B306B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E62D7200-E4E9-AFD8-D9C2-E3DB609061D8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86E13382-0854-7E70-F1C0-A4BBF9940257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B79D41E3-F336-3BAA-32D0-70BDAF3D933D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78C34889-C76F-A69C-ED5C-60B7D279D542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B13C7937-BFF7-97F9-785C-2F5C6D3906AC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207273D8-170E-F3CE-B61C-5672260052EE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2D12E119-2D53-7C31-1510-5D37E3859DC5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E633720C-0C91-2672-908F-6FBC3F3A688B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969A88B4-E54E-DF17-9C20-11FE34D991DF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6BE9BB02-6C2E-F0C9-9FC2-13910D2C3E7C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B234D778-2655-D66F-FA9F-9FE840305896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7A4AF6A0-B16E-7B5B-D2F7-93058B708F8C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221A418C-B28D-F91E-5DCF-7E635BA97047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914E860D-6AD9-F683-B118-77D467A596A7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9A6C24C5-A897-63EE-1011-C1078B927E97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F1726801-4135-2965-3E24-FC4F98D11C13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F55DEF1D-FD42-93CC-54F0-03DEA46E775A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290E11E7-DD56-394B-6309-DD7B382A4B6D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67FEA329-68B6-1AB9-563D-862FF1E8A1B8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0724D7B3-4A1E-6528-CB2C-49120D84B6C3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06DEEE44-6D0C-143B-B94D-E3FF7F90B29C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75637295-C497-0C5C-85FC-8C06C932A3D5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C07E24EF-40C9-B597-EF9B-7CCA1D963DF4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C47B2710-82A1-ED3F-7905-A22E50AFE0F3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5E6B0304-118C-5B16-135F-035C37B91FF1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57C78709-4FA4-A8E2-3749-B1A713EC780A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E1284A69-701C-3C9B-4C71-5BFEAE549C68}"/>
              </a:ext>
            </a:extLst>
          </p:cNvPr>
          <p:cNvSpPr txBox="1"/>
          <p:nvPr/>
        </p:nvSpPr>
        <p:spPr>
          <a:xfrm>
            <a:off x="768350" y="1987656"/>
            <a:ext cx="10463160" cy="4782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sz="1800" u="sng"/>
              <a:t>Game Engine am Beispiel von UE5:</a:t>
            </a:r>
            <a:endParaRPr lang="en-US" u="sng"/>
          </a:p>
          <a:p>
            <a:r>
              <a:rPr lang="de-DE" sz="1800"/>
              <a:t>Viele Tools, Asset/Content Store, Visual Scripting der Anwendungslogik möglich, Performance Overhead, anderer Schwerpunkt, inoffizielles Data Charts Plugin, Entwicklungsaufwand wird durch lernen der Tools ersetzt </a:t>
            </a:r>
          </a:p>
          <a:p>
            <a:r>
              <a:rPr lang="de-DE" sz="1800"/>
              <a:t>-&gt; Eher ungeeignet</a:t>
            </a:r>
            <a:endParaRPr lang="de-DE"/>
          </a:p>
          <a:p>
            <a:endParaRPr lang="de-DE" u="sng"/>
          </a:p>
          <a:p>
            <a:r>
              <a:rPr lang="de-DE" sz="1800" u="sng"/>
              <a:t>Web-basierte Anwendung mit JavaScript:</a:t>
            </a:r>
          </a:p>
          <a:p>
            <a:r>
              <a:rPr lang="de-DE" sz="1800"/>
              <a:t>Umfangreiches Ökosystem, D3 Library zur Visualisierung, Flexibilität für Endgeräte, zusätzlicher Server-Aufwand falls so umgesetzt, ebenfalls relevanter Overhead durch z.B. </a:t>
            </a:r>
            <a:r>
              <a:rPr lang="de-DE" sz="1800" err="1"/>
              <a:t>Electron</a:t>
            </a:r>
            <a:endParaRPr lang="de-DE" sz="1800"/>
          </a:p>
          <a:p>
            <a:r>
              <a:rPr lang="de-DE" sz="1800"/>
              <a:t>-&gt; Weniger geeignet</a:t>
            </a:r>
          </a:p>
          <a:p>
            <a:endParaRPr lang="de-DE" u="sng"/>
          </a:p>
          <a:p>
            <a:r>
              <a:rPr lang="de-DE" sz="1800" u="sng" err="1"/>
              <a:t>Kotlin</a:t>
            </a:r>
            <a:r>
              <a:rPr lang="de-DE" sz="1800" u="sng"/>
              <a:t> Jetpack </a:t>
            </a:r>
            <a:r>
              <a:rPr lang="de-DE" sz="1800" u="sng" err="1"/>
              <a:t>Compose</a:t>
            </a:r>
            <a:r>
              <a:rPr lang="de-DE" sz="1800" u="sng"/>
              <a:t> und offizielle </a:t>
            </a:r>
            <a:r>
              <a:rPr lang="de-DE" sz="1800" u="sng" err="1"/>
              <a:t>Kotlin</a:t>
            </a:r>
            <a:r>
              <a:rPr lang="de-DE" sz="1800" u="sng"/>
              <a:t> </a:t>
            </a:r>
            <a:r>
              <a:rPr lang="de-DE" sz="1800" u="sng" err="1"/>
              <a:t>Librarys</a:t>
            </a:r>
            <a:r>
              <a:rPr lang="de-DE" sz="1800" u="sng"/>
              <a:t>:</a:t>
            </a:r>
          </a:p>
          <a:p>
            <a:r>
              <a:rPr lang="de-DE" sz="1800"/>
              <a:t>Direkte und produktive App-Entwicklung und des User Interface, vertraute Programmiersprache des Teams, schnelle Prototypisierung, Visualisierung durch </a:t>
            </a:r>
            <a:r>
              <a:rPr lang="de-DE" sz="1800" err="1"/>
              <a:t>Lets</a:t>
            </a:r>
            <a:r>
              <a:rPr lang="de-DE" sz="1800"/>
              <a:t> Plot und </a:t>
            </a:r>
            <a:r>
              <a:rPr lang="de-DE" sz="1800" err="1"/>
              <a:t>Notebkooks</a:t>
            </a:r>
            <a:r>
              <a:rPr lang="de-DE" sz="1800"/>
              <a:t> mit Kandy, leichte Integration anderer offizieller </a:t>
            </a:r>
            <a:r>
              <a:rPr lang="de-DE" sz="1800" err="1"/>
              <a:t>Kotlin</a:t>
            </a:r>
            <a:r>
              <a:rPr lang="de-DE" sz="1800"/>
              <a:t> </a:t>
            </a:r>
            <a:r>
              <a:rPr lang="de-DE" sz="1800" err="1"/>
              <a:t>Librarys</a:t>
            </a:r>
            <a:endParaRPr lang="de-DE" sz="1800"/>
          </a:p>
          <a:p>
            <a:r>
              <a:rPr lang="de-DE" sz="1800"/>
              <a:t>-&gt; Gut Geeignet</a:t>
            </a:r>
          </a:p>
        </p:txBody>
      </p:sp>
    </p:spTree>
    <p:extLst>
      <p:ext uri="{BB962C8B-B14F-4D97-AF65-F5344CB8AC3E}">
        <p14:creationId xmlns:p14="http://schemas.microsoft.com/office/powerpoint/2010/main" val="175390234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98D45-49E9-C958-3545-A64ADF76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071F0F7B-1668-53E3-5A4C-454317B8737F}"/>
              </a:ext>
            </a:extLst>
          </p:cNvPr>
          <p:cNvSpPr txBox="1"/>
          <p:nvPr/>
        </p:nvSpPr>
        <p:spPr>
          <a:xfrm>
            <a:off x="766967" y="778217"/>
            <a:ext cx="2569614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Konkurrenzanalyse</a:t>
            </a:r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26699C7D-E619-5199-7A4D-1EC94786E093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958BD098-533C-98C8-4F5F-14E230C99A81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729D4609-DDAD-8FF2-1662-2CD884824762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9FB4D51F-A52C-E83D-E186-A932FBF6CD27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0A586DE4-716E-A127-8D2B-14E25631DC50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C8FBB2F3-D3F4-B581-01BC-B3D5F16AC105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5BCCF339-FBAF-DE52-60EE-8B4C0177F8D0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9D3484C8-FB5E-81BF-7E56-CECF65C095A4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1A1C537F-AE90-70A6-A577-0994AFC96042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7BEA84E7-43CB-1C53-3C23-9C987C1FBD7C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D4F38DB3-B2D8-989C-FB69-EBA700FD2BE8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E774FD92-8A48-AA69-3176-F965B6FA5ABB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63831C66-E781-B58C-C6EF-F1060C25DEBE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EDBAF065-1734-39D4-F755-8D178440DC8D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51528DE9-7076-AB7C-B525-1D61AC34BCE3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9926CD56-7E11-ABB9-2731-D9A6B24CF803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851971B1-D59E-A7F4-D7D1-0409D93E82C4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2352BE62-4CF2-52BB-04F5-8957536E759D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9EF6FD6E-A4E7-0098-5B2D-32215A55B703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037498B9-94AE-54FE-C392-DF3DDAA3F6EE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EE8EAE27-19C0-9A7F-94DE-8D153B59FD82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2F38D67B-B07F-C190-A46F-B07E7752C2C8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7D2854FC-ED29-2BAE-1E90-3620AAEC9D63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1E3A8E38-4247-7049-F5EA-5E33AC1EC531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37D3F4AE-F6AE-4FC8-C7F7-D3CC53006592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8CC2AD0F-CC03-7F8D-9B70-CC7A02636478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A7EE4610-F3B0-3994-3E40-4BEBFBC7B89F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12CDC69F-2C66-9AE3-E492-495CF428EC6C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2502CA57-2B69-C698-D097-C813D4876600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B0C195AB-0CBC-165F-C602-008D37124074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7E5835CF-74A2-0082-7776-692D9F2ED409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D6EAA6D9-9F0A-A77A-9951-E3D1FDA948BA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8E4ED483-B4AE-7F9F-F92E-9DB773E50C13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CBB739F5-0BEC-4FDC-5743-99B56A612CC0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487AFD05-96F6-39F0-9ABC-7DAC97FA72C9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C1D34490-B897-E26F-47CA-28D92F7AF073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6439D81A-A2CF-17F8-814D-BB76BC89D53A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A99EF9D1-3DD6-54A8-AC4C-98C9611D6536}"/>
              </a:ext>
            </a:extLst>
          </p:cNvPr>
          <p:cNvSpPr txBox="1"/>
          <p:nvPr/>
        </p:nvSpPr>
        <p:spPr>
          <a:xfrm>
            <a:off x="768350" y="1987656"/>
            <a:ext cx="10463160" cy="337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de-DE" sz="1800"/>
              <a:t>Inhalte und Systeme hauptsächlich für Schüler und Grundschüler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Fokus der Konkurrenz liegt auf Kinder und Jugendliche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Spielideen basieren meist auf eigenen ausgefallenen Konzepten, vernachlässigen aber visuelle Aspekte oder Statistikbezug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Medienkompetenz wird oft allgemein und nicht spezifisch vermittelt und legt andere Schwerpunkte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Inhalte mit Fokus auf Statistik und Visualisierung im Bereich Medienkompetenz besitzen keine oder kaum Interaktivität</a:t>
            </a:r>
          </a:p>
        </p:txBody>
      </p:sp>
    </p:spTree>
    <p:extLst>
      <p:ext uri="{BB962C8B-B14F-4D97-AF65-F5344CB8AC3E}">
        <p14:creationId xmlns:p14="http://schemas.microsoft.com/office/powerpoint/2010/main" val="27457376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ADD07-B3CE-296E-7512-2CFF55D42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AB6D2EF2-3B1B-1679-E526-F8C41F21D504}"/>
              </a:ext>
            </a:extLst>
          </p:cNvPr>
          <p:cNvSpPr txBox="1"/>
          <p:nvPr/>
        </p:nvSpPr>
        <p:spPr>
          <a:xfrm>
            <a:off x="766967" y="778217"/>
            <a:ext cx="3124253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Alleinstellungsmerkmal</a:t>
            </a:r>
            <a:endParaRPr lang="en-US"/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F616AF75-1A4B-EE83-585F-AF9D6593D886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EDA3894B-91E8-E646-C4E5-335AC8E37C75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ADF56447-DF0F-6969-B0EA-49F3BD6C9F0B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27E20A7E-104B-C812-D81D-4A2CC89F66C1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86A53AC5-9296-0406-8569-CAE7C7E3E909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1C2EB0CC-A2DD-15CB-B9A0-7BB95551DF0A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CEA6710D-A186-C0EE-D4CB-DB94E8D8C8FF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86CFF047-3FEA-BBC2-6AF0-7B9AB59D69AB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B9617A31-8046-6607-052B-F6AF7ED1D187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70A62A0A-25E0-1FAD-AB33-5CECABB88D37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43605856-1D3A-9032-7DCE-8F8FF2CAAC73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121D8283-6AA6-3163-542A-18E4C3FB3709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C0A13859-5828-091A-0922-DA6ACD2132F5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3278759A-72F1-1253-C85F-04295707E39C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CCFE9D3E-AB3B-2F0B-1B94-DDF99A09FA24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B330B4AE-2EFF-5AA8-B4AC-148226102D56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4FD4A1EF-BFBE-6470-297E-9F7EEC239E76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50411306-7C40-ABDA-7DBC-7D8BA0A9AF10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283EF6B7-EB4E-2303-0B47-C266045142C3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4BA93C40-C11D-BB6C-12DD-6B4047F392F5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341EC4CD-64C0-C341-B950-298A492D4ACB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B719746B-D80F-7192-6052-C46C6D97CE18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1E6441B5-7232-0CED-E272-646833655622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C283AE31-530E-415B-6896-18ED9443D604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44725C54-F7A2-7942-8C04-18B69A03356F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A912E793-79A9-98AB-1CD8-38A7808D94B8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9E900B42-A6A1-E2A1-E2FC-630E1948D90A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E3ADB93A-2197-23A9-30A3-53731374E421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22613887-B635-7D06-5170-E3A800E6047B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8215E66E-DFAA-66B0-28CD-F83E65D0AE85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0D39059C-23A1-65FF-031E-57E12746FC52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D95EF165-1EB5-A786-0C03-4B11D063CBF0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C0D4BCDA-5DD2-B56F-0BB8-9D302A013766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EC1384FF-6EED-59C2-62A7-C3BAC99E2E40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C9C59EE5-F000-354F-52CF-3BFA29E5BA48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7027C61E-9BCD-706C-12B8-39EBF8C94797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C6977858-15A0-A7C6-8D32-93E5A859E038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8CE687EB-644F-BA56-1ED8-4D7D51ED733E}"/>
              </a:ext>
            </a:extLst>
          </p:cNvPr>
          <p:cNvSpPr txBox="1"/>
          <p:nvPr/>
        </p:nvSpPr>
        <p:spPr>
          <a:xfrm>
            <a:off x="768350" y="1987656"/>
            <a:ext cx="10463160" cy="4500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sz="1800" u="sng"/>
              <a:t>Besonderheiten:</a:t>
            </a:r>
          </a:p>
          <a:p>
            <a:pPr marL="285750" indent="-285750">
              <a:buFont typeface="Calibri"/>
              <a:buChar char="-"/>
            </a:pPr>
            <a:r>
              <a:rPr lang="de-DE" sz="1800"/>
              <a:t>Kombination aus Datenvisualisierung, Bildung von Statistik-Verständnis und Medienkompetenz mit Interaktion</a:t>
            </a:r>
            <a:endParaRPr lang="de-DE"/>
          </a:p>
          <a:p>
            <a:endParaRPr lang="de-DE" sz="1800" u="sng"/>
          </a:p>
          <a:p>
            <a:pPr marL="285750" indent="-285750">
              <a:buFont typeface="Calibri"/>
              <a:buChar char="-"/>
            </a:pPr>
            <a:r>
              <a:rPr lang="de-DE" sz="1800"/>
              <a:t>Der primär angesprochene Altersbereich ist unausgeschöpft</a:t>
            </a:r>
          </a:p>
          <a:p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Gleichzeitige Wissensvermittlung als sekundärer Mehrwehrt</a:t>
            </a:r>
          </a:p>
          <a:p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Kompetitiver Anreiz des Nutzers</a:t>
            </a:r>
          </a:p>
          <a:p>
            <a:pPr marL="285750" indent="-285750">
              <a:buFont typeface="Calibri"/>
              <a:buChar char="-"/>
            </a:pPr>
            <a:endParaRPr lang="de-DE" sz="1800" u="sng"/>
          </a:p>
          <a:p>
            <a:pPr marL="285750" indent="-285750">
              <a:buFont typeface="Calibri"/>
              <a:buChar char="-"/>
            </a:pPr>
            <a:endParaRPr lang="de-DE" sz="1800" u="sng"/>
          </a:p>
          <a:p>
            <a:r>
              <a:rPr lang="de-DE" sz="1800" u="sng"/>
              <a:t>Basiert dabei auf:</a:t>
            </a:r>
          </a:p>
          <a:p>
            <a:pPr marL="285750" indent="-285750">
              <a:buFont typeface="Calibri"/>
              <a:buChar char="-"/>
            </a:pPr>
            <a:r>
              <a:rPr lang="de-DE" sz="1800"/>
              <a:t>Gut bewährten und populären Spielkonzepten und erweitert diese visuell</a:t>
            </a:r>
          </a:p>
          <a:p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Stark fundierten wissenschaftlichen Inhalten</a:t>
            </a:r>
          </a:p>
          <a:p>
            <a:pPr marL="285750" indent="-285750">
              <a:buFont typeface="Calibri"/>
              <a:buChar char="-"/>
            </a:pPr>
            <a:endParaRPr lang="de-DE" sz="1800" u="sng"/>
          </a:p>
        </p:txBody>
      </p:sp>
    </p:spTree>
    <p:extLst>
      <p:ext uri="{BB962C8B-B14F-4D97-AF65-F5344CB8AC3E}">
        <p14:creationId xmlns:p14="http://schemas.microsoft.com/office/powerpoint/2010/main" val="251523704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C8AE1-A6DB-DD18-8B3D-9F7707735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Umgang mit Bildern">
            <a:extLst>
              <a:ext uri="{FF2B5EF4-FFF2-40B4-BE49-F238E27FC236}">
                <a16:creationId xmlns:a16="http://schemas.microsoft.com/office/drawing/2014/main" id="{97B6C3B0-FF1D-73D9-257F-44B79A07C566}"/>
              </a:ext>
            </a:extLst>
          </p:cNvPr>
          <p:cNvSpPr txBox="1"/>
          <p:nvPr/>
        </p:nvSpPr>
        <p:spPr>
          <a:xfrm>
            <a:off x="766967" y="778217"/>
            <a:ext cx="1803379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Zielhierarchie</a:t>
            </a:r>
          </a:p>
        </p:txBody>
      </p:sp>
      <p:sp>
        <p:nvSpPr>
          <p:cNvPr id="386" name="133">
            <a:extLst>
              <a:ext uri="{FF2B5EF4-FFF2-40B4-BE49-F238E27FC236}">
                <a16:creationId xmlns:a16="http://schemas.microsoft.com/office/drawing/2014/main" id="{71E7DB30-AEE0-DEBF-30CE-C0C806AD2D42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87" name="21">
            <a:extLst>
              <a:ext uri="{FF2B5EF4-FFF2-40B4-BE49-F238E27FC236}">
                <a16:creationId xmlns:a16="http://schemas.microsoft.com/office/drawing/2014/main" id="{D1681D21-115A-D3CD-FA9D-34161B8066F5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88" name="133">
            <a:extLst>
              <a:ext uri="{FF2B5EF4-FFF2-40B4-BE49-F238E27FC236}">
                <a16:creationId xmlns:a16="http://schemas.microsoft.com/office/drawing/2014/main" id="{A0BE11A0-5C7E-860E-4104-96FFAD664531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89" name="21">
            <a:extLst>
              <a:ext uri="{FF2B5EF4-FFF2-40B4-BE49-F238E27FC236}">
                <a16:creationId xmlns:a16="http://schemas.microsoft.com/office/drawing/2014/main" id="{A0A56F90-D54F-D8DD-19F3-DF60778405A4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0" name="133">
            <a:extLst>
              <a:ext uri="{FF2B5EF4-FFF2-40B4-BE49-F238E27FC236}">
                <a16:creationId xmlns:a16="http://schemas.microsoft.com/office/drawing/2014/main" id="{C7BE9E1F-F820-FC2F-FD94-29C5F70FE90C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1" name="21">
            <a:extLst>
              <a:ext uri="{FF2B5EF4-FFF2-40B4-BE49-F238E27FC236}">
                <a16:creationId xmlns:a16="http://schemas.microsoft.com/office/drawing/2014/main" id="{FADAC8E9-947D-FFCE-9269-123F55E70E81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2" name="133">
            <a:extLst>
              <a:ext uri="{FF2B5EF4-FFF2-40B4-BE49-F238E27FC236}">
                <a16:creationId xmlns:a16="http://schemas.microsoft.com/office/drawing/2014/main" id="{955F8F2C-05AB-811C-0E2E-CB148A3DE8EA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3" name="21">
            <a:extLst>
              <a:ext uri="{FF2B5EF4-FFF2-40B4-BE49-F238E27FC236}">
                <a16:creationId xmlns:a16="http://schemas.microsoft.com/office/drawing/2014/main" id="{0E140A15-7D84-43B6-AC93-406EA6F87919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4" name="133">
            <a:extLst>
              <a:ext uri="{FF2B5EF4-FFF2-40B4-BE49-F238E27FC236}">
                <a16:creationId xmlns:a16="http://schemas.microsoft.com/office/drawing/2014/main" id="{CF673970-9D18-F161-FF3D-882DAB416AD1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5" name="21">
            <a:extLst>
              <a:ext uri="{FF2B5EF4-FFF2-40B4-BE49-F238E27FC236}">
                <a16:creationId xmlns:a16="http://schemas.microsoft.com/office/drawing/2014/main" id="{AD8215F4-9398-C8C9-4ADA-45DF355FEC56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6" name="133">
            <a:extLst>
              <a:ext uri="{FF2B5EF4-FFF2-40B4-BE49-F238E27FC236}">
                <a16:creationId xmlns:a16="http://schemas.microsoft.com/office/drawing/2014/main" id="{FA69A92D-EA75-598A-7250-2DE3C3E15AE6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7" name="67">
            <a:extLst>
              <a:ext uri="{FF2B5EF4-FFF2-40B4-BE49-F238E27FC236}">
                <a16:creationId xmlns:a16="http://schemas.microsoft.com/office/drawing/2014/main" id="{DC8B81FE-782B-6F57-9F7F-5C2F0A3DE7B9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98" name="53">
            <a:extLst>
              <a:ext uri="{FF2B5EF4-FFF2-40B4-BE49-F238E27FC236}">
                <a16:creationId xmlns:a16="http://schemas.microsoft.com/office/drawing/2014/main" id="{9A9AD57C-DE0D-A281-0051-FD4FEC15A0C1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99" name="21">
            <a:extLst>
              <a:ext uri="{FF2B5EF4-FFF2-40B4-BE49-F238E27FC236}">
                <a16:creationId xmlns:a16="http://schemas.microsoft.com/office/drawing/2014/main" id="{1048F405-94B6-8BEA-C96C-53F1FB9AA112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0" name="53">
            <a:extLst>
              <a:ext uri="{FF2B5EF4-FFF2-40B4-BE49-F238E27FC236}">
                <a16:creationId xmlns:a16="http://schemas.microsoft.com/office/drawing/2014/main" id="{CE726949-7D0F-5FFF-6FED-DEF431114CD7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1" name="21">
            <a:extLst>
              <a:ext uri="{FF2B5EF4-FFF2-40B4-BE49-F238E27FC236}">
                <a16:creationId xmlns:a16="http://schemas.microsoft.com/office/drawing/2014/main" id="{44DC9D3B-0BA2-E085-09ED-3F29A5674A1F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2" name="53">
            <a:extLst>
              <a:ext uri="{FF2B5EF4-FFF2-40B4-BE49-F238E27FC236}">
                <a16:creationId xmlns:a16="http://schemas.microsoft.com/office/drawing/2014/main" id="{617C4514-3F0D-F6BD-5129-17722F0C3271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3" name="21">
            <a:extLst>
              <a:ext uri="{FF2B5EF4-FFF2-40B4-BE49-F238E27FC236}">
                <a16:creationId xmlns:a16="http://schemas.microsoft.com/office/drawing/2014/main" id="{85BC56FE-C9B9-D784-E7DA-5AB78FB3625A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4" name="53">
            <a:extLst>
              <a:ext uri="{FF2B5EF4-FFF2-40B4-BE49-F238E27FC236}">
                <a16:creationId xmlns:a16="http://schemas.microsoft.com/office/drawing/2014/main" id="{564F1072-829C-A731-5AFE-073D8FB513CD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5" name="21">
            <a:extLst>
              <a:ext uri="{FF2B5EF4-FFF2-40B4-BE49-F238E27FC236}">
                <a16:creationId xmlns:a16="http://schemas.microsoft.com/office/drawing/2014/main" id="{0298623D-86A7-3880-16FD-42F9998BD0B8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6" name="53">
            <a:extLst>
              <a:ext uri="{FF2B5EF4-FFF2-40B4-BE49-F238E27FC236}">
                <a16:creationId xmlns:a16="http://schemas.microsoft.com/office/drawing/2014/main" id="{8F3C3BE0-9595-70BF-5D7E-2E4D1CD51BB7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7" name="21">
            <a:extLst>
              <a:ext uri="{FF2B5EF4-FFF2-40B4-BE49-F238E27FC236}">
                <a16:creationId xmlns:a16="http://schemas.microsoft.com/office/drawing/2014/main" id="{C0F929E7-D967-B5C7-3ABA-BE35ACBAD645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8" name="53">
            <a:extLst>
              <a:ext uri="{FF2B5EF4-FFF2-40B4-BE49-F238E27FC236}">
                <a16:creationId xmlns:a16="http://schemas.microsoft.com/office/drawing/2014/main" id="{89FBA37F-222D-59F0-6EA8-7D8BE2EBF266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9" name="21">
            <a:extLst>
              <a:ext uri="{FF2B5EF4-FFF2-40B4-BE49-F238E27FC236}">
                <a16:creationId xmlns:a16="http://schemas.microsoft.com/office/drawing/2014/main" id="{A5CBBAA7-0DB8-A303-47F4-58CE64A234B0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0" name="53">
            <a:extLst>
              <a:ext uri="{FF2B5EF4-FFF2-40B4-BE49-F238E27FC236}">
                <a16:creationId xmlns:a16="http://schemas.microsoft.com/office/drawing/2014/main" id="{D926E502-0F28-B4EC-D957-E6EC64D2FD69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11" name="21">
            <a:extLst>
              <a:ext uri="{FF2B5EF4-FFF2-40B4-BE49-F238E27FC236}">
                <a16:creationId xmlns:a16="http://schemas.microsoft.com/office/drawing/2014/main" id="{61840BDF-55AA-174C-45F6-F642C58C7FD9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2" name="53">
            <a:extLst>
              <a:ext uri="{FF2B5EF4-FFF2-40B4-BE49-F238E27FC236}">
                <a16:creationId xmlns:a16="http://schemas.microsoft.com/office/drawing/2014/main" id="{5BC21C06-8D44-404D-1E25-808F34CFBED3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13" name="21">
            <a:extLst>
              <a:ext uri="{FF2B5EF4-FFF2-40B4-BE49-F238E27FC236}">
                <a16:creationId xmlns:a16="http://schemas.microsoft.com/office/drawing/2014/main" id="{18959D6A-FC10-E99D-B00A-AAC36E504B14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4" name="53">
            <a:extLst>
              <a:ext uri="{FF2B5EF4-FFF2-40B4-BE49-F238E27FC236}">
                <a16:creationId xmlns:a16="http://schemas.microsoft.com/office/drawing/2014/main" id="{49DC67B9-7E94-2D57-5159-0A5DB9EC0A9C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421" name="Gruppieren">
            <a:extLst>
              <a:ext uri="{FF2B5EF4-FFF2-40B4-BE49-F238E27FC236}">
                <a16:creationId xmlns:a16="http://schemas.microsoft.com/office/drawing/2014/main" id="{627D1403-9BE5-9DF0-E55B-D689452B5554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415" name="Rechteck">
              <a:extLst>
                <a:ext uri="{FF2B5EF4-FFF2-40B4-BE49-F238E27FC236}">
                  <a16:creationId xmlns:a16="http://schemas.microsoft.com/office/drawing/2014/main" id="{84CA4A4F-29C9-3FCC-0FF5-D942C6591587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6" name="Rechteck">
              <a:extLst>
                <a:ext uri="{FF2B5EF4-FFF2-40B4-BE49-F238E27FC236}">
                  <a16:creationId xmlns:a16="http://schemas.microsoft.com/office/drawing/2014/main" id="{ABD1A4C3-F8C1-63D1-4DB9-1DFCC0984D8F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7" name="Rechteck">
              <a:extLst>
                <a:ext uri="{FF2B5EF4-FFF2-40B4-BE49-F238E27FC236}">
                  <a16:creationId xmlns:a16="http://schemas.microsoft.com/office/drawing/2014/main" id="{7DE0B523-5D97-F044-14F7-740D3444CBE6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8" name="Rechteck">
              <a:extLst>
                <a:ext uri="{FF2B5EF4-FFF2-40B4-BE49-F238E27FC236}">
                  <a16:creationId xmlns:a16="http://schemas.microsoft.com/office/drawing/2014/main" id="{85666734-26C0-98A9-3042-6560530AEFAF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9" name="Rechteck">
              <a:extLst>
                <a:ext uri="{FF2B5EF4-FFF2-40B4-BE49-F238E27FC236}">
                  <a16:creationId xmlns:a16="http://schemas.microsoft.com/office/drawing/2014/main" id="{2B33DAF0-4DF0-100D-8B4D-7C1ACB7D612A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20" name="Rechteck">
              <a:extLst>
                <a:ext uri="{FF2B5EF4-FFF2-40B4-BE49-F238E27FC236}">
                  <a16:creationId xmlns:a16="http://schemas.microsoft.com/office/drawing/2014/main" id="{448B70A6-4086-6868-8AA9-53CD68369502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422" name="Linie">
            <a:extLst>
              <a:ext uri="{FF2B5EF4-FFF2-40B4-BE49-F238E27FC236}">
                <a16:creationId xmlns:a16="http://schemas.microsoft.com/office/drawing/2014/main" id="{14ECE087-7124-77F7-72B5-1C3A04A8A3AE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23" name="Moodbilder sollten bevorzugt angeschnitten sein und auch dem Raster folgen. Dazu hier ein paar Beispiele.">
            <a:extLst>
              <a:ext uri="{FF2B5EF4-FFF2-40B4-BE49-F238E27FC236}">
                <a16:creationId xmlns:a16="http://schemas.microsoft.com/office/drawing/2014/main" id="{9B3270C3-2985-6C19-2101-6AC380DD0B15}"/>
              </a:ext>
            </a:extLst>
          </p:cNvPr>
          <p:cNvSpPr txBox="1"/>
          <p:nvPr/>
        </p:nvSpPr>
        <p:spPr>
          <a:xfrm>
            <a:off x="768350" y="3672331"/>
            <a:ext cx="5467140" cy="104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Strategisch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Taktisch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Operativ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</p:txBody>
      </p:sp>
      <p:pic>
        <p:nvPicPr>
          <p:cNvPr id="2" name="Grafik 1" descr="Ein Bild, das Text, Diagramm, Schrift, Plan enthält.&#10;&#10;KI-generierte Inhalte können fehlerhaft sein.">
            <a:extLst>
              <a:ext uri="{FF2B5EF4-FFF2-40B4-BE49-F238E27FC236}">
                <a16:creationId xmlns:a16="http://schemas.microsoft.com/office/drawing/2014/main" id="{4ECEBCDB-D1EC-24DA-DB68-CFDF2D91C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995" y="418935"/>
            <a:ext cx="7104965" cy="8924082"/>
          </a:xfrm>
          <a:prstGeom prst="rect">
            <a:avLst/>
          </a:prstGeom>
        </p:spPr>
      </p:pic>
      <p:sp>
        <p:nvSpPr>
          <p:cNvPr id="3" name="Moodbilder sollten bevorzugt angeschnitten sein und auch dem Raster folgen. Dazu hier ein paar Beispiele.">
            <a:extLst>
              <a:ext uri="{FF2B5EF4-FFF2-40B4-BE49-F238E27FC236}">
                <a16:creationId xmlns:a16="http://schemas.microsoft.com/office/drawing/2014/main" id="{9616AA42-465A-68CD-6E74-BAAE04B6CD4A}"/>
              </a:ext>
            </a:extLst>
          </p:cNvPr>
          <p:cNvSpPr txBox="1"/>
          <p:nvPr/>
        </p:nvSpPr>
        <p:spPr>
          <a:xfrm>
            <a:off x="768350" y="5934917"/>
            <a:ext cx="5467140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txBody>
          <a:bodyPr lIns="0" tIns="0" rIns="0" bIns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2286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Beispiel:</a:t>
            </a:r>
          </a:p>
        </p:txBody>
      </p:sp>
      <p:sp>
        <p:nvSpPr>
          <p:cNvPr id="4" name="Moodbilder sollten bevorzugt angeschnitten sein und auch dem Raster folgen. Dazu hier ein paar Beispiele.">
            <a:extLst>
              <a:ext uri="{FF2B5EF4-FFF2-40B4-BE49-F238E27FC236}">
                <a16:creationId xmlns:a16="http://schemas.microsoft.com/office/drawing/2014/main" id="{DE9402D0-53D5-F988-C7BF-222718C307DF}"/>
              </a:ext>
            </a:extLst>
          </p:cNvPr>
          <p:cNvSpPr txBox="1"/>
          <p:nvPr/>
        </p:nvSpPr>
        <p:spPr>
          <a:xfrm>
            <a:off x="768915" y="6489272"/>
            <a:ext cx="4598399" cy="78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</a:ext>
          </a:extLst>
        </p:spPr>
        <p:txBody>
          <a:bodyPr wrap="square" lIns="0" tIns="0" rIns="0" bIns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2286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4572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6858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9144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11430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3716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6002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82880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SZ01: "Das System muss zur Steigerung der Medienkompetenz im Umgang mit Datenvisualisierungen beitragen"</a:t>
            </a:r>
          </a:p>
        </p:txBody>
      </p:sp>
    </p:spTree>
    <p:extLst>
      <p:ext uri="{BB962C8B-B14F-4D97-AF65-F5344CB8AC3E}">
        <p14:creationId xmlns:p14="http://schemas.microsoft.com/office/powerpoint/2010/main" val="91564121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9FB08-A312-FD18-EF9D-2289CC0A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Umgang mit Bildern">
            <a:extLst>
              <a:ext uri="{FF2B5EF4-FFF2-40B4-BE49-F238E27FC236}">
                <a16:creationId xmlns:a16="http://schemas.microsoft.com/office/drawing/2014/main" id="{1ED3DEB4-DC5B-4D7A-9A73-891903EF102E}"/>
              </a:ext>
            </a:extLst>
          </p:cNvPr>
          <p:cNvSpPr txBox="1"/>
          <p:nvPr/>
        </p:nvSpPr>
        <p:spPr>
          <a:xfrm>
            <a:off x="766967" y="778217"/>
            <a:ext cx="1803379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Zielhierarchie</a:t>
            </a:r>
          </a:p>
        </p:txBody>
      </p:sp>
      <p:sp>
        <p:nvSpPr>
          <p:cNvPr id="386" name="133">
            <a:extLst>
              <a:ext uri="{FF2B5EF4-FFF2-40B4-BE49-F238E27FC236}">
                <a16:creationId xmlns:a16="http://schemas.microsoft.com/office/drawing/2014/main" id="{031F7FF9-BEDA-6C17-863B-DEA8720F8AD8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87" name="21">
            <a:extLst>
              <a:ext uri="{FF2B5EF4-FFF2-40B4-BE49-F238E27FC236}">
                <a16:creationId xmlns:a16="http://schemas.microsoft.com/office/drawing/2014/main" id="{11CBA3F8-9968-AD73-BF3F-B62EB7F92AA1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88" name="133">
            <a:extLst>
              <a:ext uri="{FF2B5EF4-FFF2-40B4-BE49-F238E27FC236}">
                <a16:creationId xmlns:a16="http://schemas.microsoft.com/office/drawing/2014/main" id="{8F8861AB-942B-FAA0-0494-B76BD22CC74F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89" name="21">
            <a:extLst>
              <a:ext uri="{FF2B5EF4-FFF2-40B4-BE49-F238E27FC236}">
                <a16:creationId xmlns:a16="http://schemas.microsoft.com/office/drawing/2014/main" id="{6B0D8963-19B1-DF01-B849-014ECAD7FD80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0" name="133">
            <a:extLst>
              <a:ext uri="{FF2B5EF4-FFF2-40B4-BE49-F238E27FC236}">
                <a16:creationId xmlns:a16="http://schemas.microsoft.com/office/drawing/2014/main" id="{1FA69635-5FBD-3FC5-C3A4-92F79EDB7B5C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1" name="21">
            <a:extLst>
              <a:ext uri="{FF2B5EF4-FFF2-40B4-BE49-F238E27FC236}">
                <a16:creationId xmlns:a16="http://schemas.microsoft.com/office/drawing/2014/main" id="{1988F1F5-8A6C-CED9-4B8F-7A7A2151E0D4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2" name="133">
            <a:extLst>
              <a:ext uri="{FF2B5EF4-FFF2-40B4-BE49-F238E27FC236}">
                <a16:creationId xmlns:a16="http://schemas.microsoft.com/office/drawing/2014/main" id="{DC381269-0EDE-5FCD-D0A4-CFE245EB928B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3" name="21">
            <a:extLst>
              <a:ext uri="{FF2B5EF4-FFF2-40B4-BE49-F238E27FC236}">
                <a16:creationId xmlns:a16="http://schemas.microsoft.com/office/drawing/2014/main" id="{E819EDA9-2323-4336-B55D-0E6836A073C7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4" name="133">
            <a:extLst>
              <a:ext uri="{FF2B5EF4-FFF2-40B4-BE49-F238E27FC236}">
                <a16:creationId xmlns:a16="http://schemas.microsoft.com/office/drawing/2014/main" id="{D4BBE8BF-6304-947C-C65B-872CEE6E0F01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5" name="21">
            <a:extLst>
              <a:ext uri="{FF2B5EF4-FFF2-40B4-BE49-F238E27FC236}">
                <a16:creationId xmlns:a16="http://schemas.microsoft.com/office/drawing/2014/main" id="{4446B46B-AC41-6C4D-DDEE-5BCC5DB55E30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6" name="133">
            <a:extLst>
              <a:ext uri="{FF2B5EF4-FFF2-40B4-BE49-F238E27FC236}">
                <a16:creationId xmlns:a16="http://schemas.microsoft.com/office/drawing/2014/main" id="{53EA68D1-6322-A46C-E922-C8624E5926AB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7" name="67">
            <a:extLst>
              <a:ext uri="{FF2B5EF4-FFF2-40B4-BE49-F238E27FC236}">
                <a16:creationId xmlns:a16="http://schemas.microsoft.com/office/drawing/2014/main" id="{1839F64B-80FE-F035-6D7A-597000642CC5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98" name="53">
            <a:extLst>
              <a:ext uri="{FF2B5EF4-FFF2-40B4-BE49-F238E27FC236}">
                <a16:creationId xmlns:a16="http://schemas.microsoft.com/office/drawing/2014/main" id="{3F2C3090-54B2-49DD-B3F4-6AAF6D05ADFB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99" name="21">
            <a:extLst>
              <a:ext uri="{FF2B5EF4-FFF2-40B4-BE49-F238E27FC236}">
                <a16:creationId xmlns:a16="http://schemas.microsoft.com/office/drawing/2014/main" id="{BE56685A-B747-5569-4F2C-BF332F60380B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0" name="53">
            <a:extLst>
              <a:ext uri="{FF2B5EF4-FFF2-40B4-BE49-F238E27FC236}">
                <a16:creationId xmlns:a16="http://schemas.microsoft.com/office/drawing/2014/main" id="{06ED11B9-4E63-5BAF-DFDC-F838A2F0AA44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1" name="21">
            <a:extLst>
              <a:ext uri="{FF2B5EF4-FFF2-40B4-BE49-F238E27FC236}">
                <a16:creationId xmlns:a16="http://schemas.microsoft.com/office/drawing/2014/main" id="{548C49D6-A803-E61E-EF5B-01571291833D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2" name="53">
            <a:extLst>
              <a:ext uri="{FF2B5EF4-FFF2-40B4-BE49-F238E27FC236}">
                <a16:creationId xmlns:a16="http://schemas.microsoft.com/office/drawing/2014/main" id="{A64051F1-BAC7-093C-48BA-5BD22E7C46D3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3" name="21">
            <a:extLst>
              <a:ext uri="{FF2B5EF4-FFF2-40B4-BE49-F238E27FC236}">
                <a16:creationId xmlns:a16="http://schemas.microsoft.com/office/drawing/2014/main" id="{D2A7BE03-59CD-DCCA-FB9B-68AF2279E9F8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4" name="53">
            <a:extLst>
              <a:ext uri="{FF2B5EF4-FFF2-40B4-BE49-F238E27FC236}">
                <a16:creationId xmlns:a16="http://schemas.microsoft.com/office/drawing/2014/main" id="{04539FC3-E503-45F5-00BD-1F85575AB3FA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5" name="21">
            <a:extLst>
              <a:ext uri="{FF2B5EF4-FFF2-40B4-BE49-F238E27FC236}">
                <a16:creationId xmlns:a16="http://schemas.microsoft.com/office/drawing/2014/main" id="{A2CBB840-8AF0-D4C4-E3A4-6AF1E2762AB6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6" name="53">
            <a:extLst>
              <a:ext uri="{FF2B5EF4-FFF2-40B4-BE49-F238E27FC236}">
                <a16:creationId xmlns:a16="http://schemas.microsoft.com/office/drawing/2014/main" id="{9F3D4059-5FC7-D3F0-1797-CE00DF837B24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7" name="21">
            <a:extLst>
              <a:ext uri="{FF2B5EF4-FFF2-40B4-BE49-F238E27FC236}">
                <a16:creationId xmlns:a16="http://schemas.microsoft.com/office/drawing/2014/main" id="{CE5C0E48-7816-8D29-A1C9-642927203AE4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8" name="53">
            <a:extLst>
              <a:ext uri="{FF2B5EF4-FFF2-40B4-BE49-F238E27FC236}">
                <a16:creationId xmlns:a16="http://schemas.microsoft.com/office/drawing/2014/main" id="{EEE21506-2FBB-BD06-3815-3495B5A41333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9" name="21">
            <a:extLst>
              <a:ext uri="{FF2B5EF4-FFF2-40B4-BE49-F238E27FC236}">
                <a16:creationId xmlns:a16="http://schemas.microsoft.com/office/drawing/2014/main" id="{FACFA18E-BF25-02C8-0192-93695D673B8B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0" name="53">
            <a:extLst>
              <a:ext uri="{FF2B5EF4-FFF2-40B4-BE49-F238E27FC236}">
                <a16:creationId xmlns:a16="http://schemas.microsoft.com/office/drawing/2014/main" id="{D27FCB15-A63F-4668-5A1E-A765E651ECD7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11" name="21">
            <a:extLst>
              <a:ext uri="{FF2B5EF4-FFF2-40B4-BE49-F238E27FC236}">
                <a16:creationId xmlns:a16="http://schemas.microsoft.com/office/drawing/2014/main" id="{80A4A499-7BE1-F67C-0BDF-17510A3B7829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2" name="53">
            <a:extLst>
              <a:ext uri="{FF2B5EF4-FFF2-40B4-BE49-F238E27FC236}">
                <a16:creationId xmlns:a16="http://schemas.microsoft.com/office/drawing/2014/main" id="{042C74AC-2D40-6637-989D-FBD43A298B33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13" name="21">
            <a:extLst>
              <a:ext uri="{FF2B5EF4-FFF2-40B4-BE49-F238E27FC236}">
                <a16:creationId xmlns:a16="http://schemas.microsoft.com/office/drawing/2014/main" id="{DB2CD958-AFC9-DF96-569C-17A73AF6E716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4" name="53">
            <a:extLst>
              <a:ext uri="{FF2B5EF4-FFF2-40B4-BE49-F238E27FC236}">
                <a16:creationId xmlns:a16="http://schemas.microsoft.com/office/drawing/2014/main" id="{B9585B81-F849-E917-A208-A72B9B9F4348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421" name="Gruppieren">
            <a:extLst>
              <a:ext uri="{FF2B5EF4-FFF2-40B4-BE49-F238E27FC236}">
                <a16:creationId xmlns:a16="http://schemas.microsoft.com/office/drawing/2014/main" id="{4FA86FA2-9109-2EFB-0525-D1E2166BD067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415" name="Rechteck">
              <a:extLst>
                <a:ext uri="{FF2B5EF4-FFF2-40B4-BE49-F238E27FC236}">
                  <a16:creationId xmlns:a16="http://schemas.microsoft.com/office/drawing/2014/main" id="{1F00E697-F83F-9F61-CDB1-E59220D0750C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6" name="Rechteck">
              <a:extLst>
                <a:ext uri="{FF2B5EF4-FFF2-40B4-BE49-F238E27FC236}">
                  <a16:creationId xmlns:a16="http://schemas.microsoft.com/office/drawing/2014/main" id="{7F5AED8F-9DD6-C75F-68D6-AF2B62008FAA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7" name="Rechteck">
              <a:extLst>
                <a:ext uri="{FF2B5EF4-FFF2-40B4-BE49-F238E27FC236}">
                  <a16:creationId xmlns:a16="http://schemas.microsoft.com/office/drawing/2014/main" id="{AA690E5F-B12F-4E2B-0B88-BFB8FAAA98FB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8" name="Rechteck">
              <a:extLst>
                <a:ext uri="{FF2B5EF4-FFF2-40B4-BE49-F238E27FC236}">
                  <a16:creationId xmlns:a16="http://schemas.microsoft.com/office/drawing/2014/main" id="{863DA225-CAF5-59C0-0CB6-4D6545F05B1F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9" name="Rechteck">
              <a:extLst>
                <a:ext uri="{FF2B5EF4-FFF2-40B4-BE49-F238E27FC236}">
                  <a16:creationId xmlns:a16="http://schemas.microsoft.com/office/drawing/2014/main" id="{B78E6CB3-E650-D341-FC21-A23418FA0242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20" name="Rechteck">
              <a:extLst>
                <a:ext uri="{FF2B5EF4-FFF2-40B4-BE49-F238E27FC236}">
                  <a16:creationId xmlns:a16="http://schemas.microsoft.com/office/drawing/2014/main" id="{A8379ED3-4443-D0A1-E4F5-6C1CF04F80A3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422" name="Linie">
            <a:extLst>
              <a:ext uri="{FF2B5EF4-FFF2-40B4-BE49-F238E27FC236}">
                <a16:creationId xmlns:a16="http://schemas.microsoft.com/office/drawing/2014/main" id="{1ADF07AF-FE5E-0FCC-0C92-5E8296DB1F8C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0B8C4EA-81CF-06AC-95D7-BFBEA8159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43" y="1788357"/>
            <a:ext cx="5895460" cy="4451246"/>
          </a:xfrm>
          <a:prstGeom prst="rect">
            <a:avLst/>
          </a:prstGeom>
        </p:spPr>
      </p:pic>
      <p:pic>
        <p:nvPicPr>
          <p:cNvPr id="18" name="Grafik 17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4F1FC88F-DF49-DFDD-7D48-384D84520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998" y="1798077"/>
            <a:ext cx="5551313" cy="501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949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919E-2D52-C777-7BC7-ACEB42A3F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Umgang mit Bildern">
            <a:extLst>
              <a:ext uri="{FF2B5EF4-FFF2-40B4-BE49-F238E27FC236}">
                <a16:creationId xmlns:a16="http://schemas.microsoft.com/office/drawing/2014/main" id="{AAAEFCE8-6202-125C-F7AA-2584B2B7A6A7}"/>
              </a:ext>
            </a:extLst>
          </p:cNvPr>
          <p:cNvSpPr txBox="1"/>
          <p:nvPr/>
        </p:nvSpPr>
        <p:spPr>
          <a:xfrm>
            <a:off x="766967" y="778217"/>
            <a:ext cx="1803379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Zielhierarchie</a:t>
            </a:r>
          </a:p>
        </p:txBody>
      </p:sp>
      <p:sp>
        <p:nvSpPr>
          <p:cNvPr id="386" name="133">
            <a:extLst>
              <a:ext uri="{FF2B5EF4-FFF2-40B4-BE49-F238E27FC236}">
                <a16:creationId xmlns:a16="http://schemas.microsoft.com/office/drawing/2014/main" id="{9F96AC34-2A5C-12B1-35D8-F45BEB20D867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87" name="21">
            <a:extLst>
              <a:ext uri="{FF2B5EF4-FFF2-40B4-BE49-F238E27FC236}">
                <a16:creationId xmlns:a16="http://schemas.microsoft.com/office/drawing/2014/main" id="{86895894-8275-6671-2A87-E5A0D6563730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88" name="133">
            <a:extLst>
              <a:ext uri="{FF2B5EF4-FFF2-40B4-BE49-F238E27FC236}">
                <a16:creationId xmlns:a16="http://schemas.microsoft.com/office/drawing/2014/main" id="{B670725E-CFEA-D0ED-ECBA-4CCDFCB158BD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89" name="21">
            <a:extLst>
              <a:ext uri="{FF2B5EF4-FFF2-40B4-BE49-F238E27FC236}">
                <a16:creationId xmlns:a16="http://schemas.microsoft.com/office/drawing/2014/main" id="{57150031-74E5-137A-6882-75FEB383928C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0" name="133">
            <a:extLst>
              <a:ext uri="{FF2B5EF4-FFF2-40B4-BE49-F238E27FC236}">
                <a16:creationId xmlns:a16="http://schemas.microsoft.com/office/drawing/2014/main" id="{17A2F167-A1A2-33FC-1FAE-BB2F3AE67C09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1" name="21">
            <a:extLst>
              <a:ext uri="{FF2B5EF4-FFF2-40B4-BE49-F238E27FC236}">
                <a16:creationId xmlns:a16="http://schemas.microsoft.com/office/drawing/2014/main" id="{776E472E-7AD8-ECF3-F7CF-C199EDED4D00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2" name="133">
            <a:extLst>
              <a:ext uri="{FF2B5EF4-FFF2-40B4-BE49-F238E27FC236}">
                <a16:creationId xmlns:a16="http://schemas.microsoft.com/office/drawing/2014/main" id="{88417BF4-0A42-39D7-B4D8-C25986FEC3C0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3" name="21">
            <a:extLst>
              <a:ext uri="{FF2B5EF4-FFF2-40B4-BE49-F238E27FC236}">
                <a16:creationId xmlns:a16="http://schemas.microsoft.com/office/drawing/2014/main" id="{43E807DF-828A-398E-B678-BD57D4945D2F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4" name="133">
            <a:extLst>
              <a:ext uri="{FF2B5EF4-FFF2-40B4-BE49-F238E27FC236}">
                <a16:creationId xmlns:a16="http://schemas.microsoft.com/office/drawing/2014/main" id="{448399D7-FDD9-3CC7-90A0-FF9BFBE78664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5" name="21">
            <a:extLst>
              <a:ext uri="{FF2B5EF4-FFF2-40B4-BE49-F238E27FC236}">
                <a16:creationId xmlns:a16="http://schemas.microsoft.com/office/drawing/2014/main" id="{BBBC2931-E7AA-9B44-2A78-824A48B47AF1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96" name="133">
            <a:extLst>
              <a:ext uri="{FF2B5EF4-FFF2-40B4-BE49-F238E27FC236}">
                <a16:creationId xmlns:a16="http://schemas.microsoft.com/office/drawing/2014/main" id="{11339747-C43B-6945-12AC-D43CF0010BB4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97" name="67">
            <a:extLst>
              <a:ext uri="{FF2B5EF4-FFF2-40B4-BE49-F238E27FC236}">
                <a16:creationId xmlns:a16="http://schemas.microsoft.com/office/drawing/2014/main" id="{20E1F315-E6C0-0F66-E616-95D7B71A68E0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98" name="53">
            <a:extLst>
              <a:ext uri="{FF2B5EF4-FFF2-40B4-BE49-F238E27FC236}">
                <a16:creationId xmlns:a16="http://schemas.microsoft.com/office/drawing/2014/main" id="{9866FE11-AB2C-7336-A943-922C1B295BA9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99" name="21">
            <a:extLst>
              <a:ext uri="{FF2B5EF4-FFF2-40B4-BE49-F238E27FC236}">
                <a16:creationId xmlns:a16="http://schemas.microsoft.com/office/drawing/2014/main" id="{B17A675A-3D4F-A444-7AFB-2065622C6F6A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0" name="53">
            <a:extLst>
              <a:ext uri="{FF2B5EF4-FFF2-40B4-BE49-F238E27FC236}">
                <a16:creationId xmlns:a16="http://schemas.microsoft.com/office/drawing/2014/main" id="{149F6C3C-4076-2E40-E7A2-D86E688C588F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1" name="21">
            <a:extLst>
              <a:ext uri="{FF2B5EF4-FFF2-40B4-BE49-F238E27FC236}">
                <a16:creationId xmlns:a16="http://schemas.microsoft.com/office/drawing/2014/main" id="{7554737A-0A17-183D-9424-DA03B5E84065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2" name="53">
            <a:extLst>
              <a:ext uri="{FF2B5EF4-FFF2-40B4-BE49-F238E27FC236}">
                <a16:creationId xmlns:a16="http://schemas.microsoft.com/office/drawing/2014/main" id="{1F36A9DF-1D40-9CC1-8E51-2775902B19F8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3" name="21">
            <a:extLst>
              <a:ext uri="{FF2B5EF4-FFF2-40B4-BE49-F238E27FC236}">
                <a16:creationId xmlns:a16="http://schemas.microsoft.com/office/drawing/2014/main" id="{4AB8B0B9-88DF-4F0F-DE5B-BD6DE4F2D77F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4" name="53">
            <a:extLst>
              <a:ext uri="{FF2B5EF4-FFF2-40B4-BE49-F238E27FC236}">
                <a16:creationId xmlns:a16="http://schemas.microsoft.com/office/drawing/2014/main" id="{9AA5EBC1-9379-D757-E688-C8C103D121DB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5" name="21">
            <a:extLst>
              <a:ext uri="{FF2B5EF4-FFF2-40B4-BE49-F238E27FC236}">
                <a16:creationId xmlns:a16="http://schemas.microsoft.com/office/drawing/2014/main" id="{6A067181-C873-5C87-6CA5-F90EEFF0E2E4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6" name="53">
            <a:extLst>
              <a:ext uri="{FF2B5EF4-FFF2-40B4-BE49-F238E27FC236}">
                <a16:creationId xmlns:a16="http://schemas.microsoft.com/office/drawing/2014/main" id="{CBC2AD0C-7867-0E2A-3352-3EF597DF95D6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7" name="21">
            <a:extLst>
              <a:ext uri="{FF2B5EF4-FFF2-40B4-BE49-F238E27FC236}">
                <a16:creationId xmlns:a16="http://schemas.microsoft.com/office/drawing/2014/main" id="{1CEF6396-42F7-59EC-E895-30E74454ED26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08" name="53">
            <a:extLst>
              <a:ext uri="{FF2B5EF4-FFF2-40B4-BE49-F238E27FC236}">
                <a16:creationId xmlns:a16="http://schemas.microsoft.com/office/drawing/2014/main" id="{498285F9-37C3-FA3C-7F19-129186F7E48D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09" name="21">
            <a:extLst>
              <a:ext uri="{FF2B5EF4-FFF2-40B4-BE49-F238E27FC236}">
                <a16:creationId xmlns:a16="http://schemas.microsoft.com/office/drawing/2014/main" id="{9C1C7435-717C-2732-01AC-5AB29A6E4CC4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0" name="53">
            <a:extLst>
              <a:ext uri="{FF2B5EF4-FFF2-40B4-BE49-F238E27FC236}">
                <a16:creationId xmlns:a16="http://schemas.microsoft.com/office/drawing/2014/main" id="{80FE8995-3671-0CCC-0297-1756C65720D8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11" name="21">
            <a:extLst>
              <a:ext uri="{FF2B5EF4-FFF2-40B4-BE49-F238E27FC236}">
                <a16:creationId xmlns:a16="http://schemas.microsoft.com/office/drawing/2014/main" id="{A535D905-BB51-434C-A0D9-B5E0AC3A95B5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2" name="53">
            <a:extLst>
              <a:ext uri="{FF2B5EF4-FFF2-40B4-BE49-F238E27FC236}">
                <a16:creationId xmlns:a16="http://schemas.microsoft.com/office/drawing/2014/main" id="{0840FC82-1AB7-F0FB-386B-E9ECFB3D5EC7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413" name="21">
            <a:extLst>
              <a:ext uri="{FF2B5EF4-FFF2-40B4-BE49-F238E27FC236}">
                <a16:creationId xmlns:a16="http://schemas.microsoft.com/office/drawing/2014/main" id="{8BB023B5-0FA3-1926-3574-3742A598F2B6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414" name="53">
            <a:extLst>
              <a:ext uri="{FF2B5EF4-FFF2-40B4-BE49-F238E27FC236}">
                <a16:creationId xmlns:a16="http://schemas.microsoft.com/office/drawing/2014/main" id="{D82B1753-3231-5AE1-82DB-BFB0D4981BC1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421" name="Gruppieren">
            <a:extLst>
              <a:ext uri="{FF2B5EF4-FFF2-40B4-BE49-F238E27FC236}">
                <a16:creationId xmlns:a16="http://schemas.microsoft.com/office/drawing/2014/main" id="{66EF9BA4-4D95-55A4-5216-5B97BCC9A39A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415" name="Rechteck">
              <a:extLst>
                <a:ext uri="{FF2B5EF4-FFF2-40B4-BE49-F238E27FC236}">
                  <a16:creationId xmlns:a16="http://schemas.microsoft.com/office/drawing/2014/main" id="{283E3F3B-8ACB-FD88-C959-CDC5E53C8117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6" name="Rechteck">
              <a:extLst>
                <a:ext uri="{FF2B5EF4-FFF2-40B4-BE49-F238E27FC236}">
                  <a16:creationId xmlns:a16="http://schemas.microsoft.com/office/drawing/2014/main" id="{A2B13669-2E84-48DA-7F64-41E040835109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7" name="Rechteck">
              <a:extLst>
                <a:ext uri="{FF2B5EF4-FFF2-40B4-BE49-F238E27FC236}">
                  <a16:creationId xmlns:a16="http://schemas.microsoft.com/office/drawing/2014/main" id="{87C02CBF-9F8B-D35F-713F-2B361C0B8E08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8" name="Rechteck">
              <a:extLst>
                <a:ext uri="{FF2B5EF4-FFF2-40B4-BE49-F238E27FC236}">
                  <a16:creationId xmlns:a16="http://schemas.microsoft.com/office/drawing/2014/main" id="{3E9986D7-C499-3F0B-5C82-F9548281D53D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19" name="Rechteck">
              <a:extLst>
                <a:ext uri="{FF2B5EF4-FFF2-40B4-BE49-F238E27FC236}">
                  <a16:creationId xmlns:a16="http://schemas.microsoft.com/office/drawing/2014/main" id="{198F8DBF-829E-FCE7-627E-220BCC7FC6ED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420" name="Rechteck">
              <a:extLst>
                <a:ext uri="{FF2B5EF4-FFF2-40B4-BE49-F238E27FC236}">
                  <a16:creationId xmlns:a16="http://schemas.microsoft.com/office/drawing/2014/main" id="{EF9F5B33-C3FE-A97B-A754-CBB5B5EBB118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422" name="Linie">
            <a:extLst>
              <a:ext uri="{FF2B5EF4-FFF2-40B4-BE49-F238E27FC236}">
                <a16:creationId xmlns:a16="http://schemas.microsoft.com/office/drawing/2014/main" id="{773B8372-E9EC-AAD3-7E63-CD8DFE8E969D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Grafik 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049B16CD-42BB-075E-CB17-99C4B7867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219" y="1788532"/>
            <a:ext cx="5725926" cy="661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4285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F190C-6E36-3EED-E08C-E26EA56BB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796A4ADE-8B67-5528-94A1-5803E8849AB9}"/>
              </a:ext>
            </a:extLst>
          </p:cNvPr>
          <p:cNvSpPr txBox="1"/>
          <p:nvPr/>
        </p:nvSpPr>
        <p:spPr>
          <a:xfrm>
            <a:off x="766967" y="778217"/>
            <a:ext cx="360355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Funktionale Anforderungen</a:t>
            </a:r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A25B764B-737A-B82D-8DA6-FD7AEFCF3057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25C2EB1F-6103-EA5F-2228-37CF5F91E1A5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D31AD2A8-FE0A-E8A9-A471-4D78AEC37C95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1DB477B5-3726-2E59-0C7E-96385CF6EEC3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8A2EFE6C-F440-B244-22B4-4B8DB364825D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DA904DBD-9E25-78DB-2A1A-309B2313CEB5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16D2A9AB-CBFD-F821-BA52-37A13AB93461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5B9CCEBF-7F0A-5011-5227-729EB5CE381F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19B20BC2-96C2-96DC-B65E-E414473607B0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81F2683F-6EC6-90D9-FC6F-7B728AB33CEA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5CBA2E5C-052F-EC7B-9BEA-BA0340BD56C8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09626AAB-640A-D72D-CEBE-90662BC293A9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499EB1F2-D70C-0F20-90FB-6D5D3C699254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199F6C45-E7FE-9627-E3A0-68426DDF99F7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D6BA2EE1-9211-0533-924C-752AB47B9933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BDA5884B-784C-2155-A2EA-B1E5AA9F0175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79861588-8A6E-1C9F-01BC-1B6D9AEF83E9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A5DFE003-AB65-BEC5-7CCA-0A291AB6F16E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E70ECEF9-788A-142D-A201-D3A5C6149455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B2AA0DB7-197C-025D-037C-BDFDD30FB220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8BBD1C61-60B5-F842-FCC2-5DD2A38A7C64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C36EBF8D-1F26-6419-434C-97EDEDFA09F1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80BB4F44-697E-C621-0AB0-1BA9823BE875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E95AFC38-E626-BD57-6660-DB4CB4F6D0EE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593A0368-09DB-8E88-D3E6-E8F21D452B2B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7FD0B731-5D4B-600D-FDD8-B9F7E312721F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5BB56089-9AB0-3A63-A4B1-AAEA3B79EF43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6ECF6145-79DC-13E1-750D-2939037584F4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0D7A58A6-29B1-E8EA-3442-E92D5D27E778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49465A77-4A42-8964-961B-6FD29D0431D1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CF4A3582-F6B1-0A95-9F14-574C6FB4936D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13AFF657-5298-DF65-2DFA-5BA179DD969C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BE3CA319-3A15-3615-9BDE-2D196EAD8457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C1B4F0E8-3BA5-B81C-1068-AB2DE0671D91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78BB756D-DFA6-FD3C-A943-824DA414B535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ECF0D702-98FC-D670-9922-5936AA8BDB4F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5304A913-7B12-995C-31CD-2978E1B6F867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E792673-0F72-C749-ED63-D9DA62305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23" y="1793539"/>
            <a:ext cx="6559434" cy="6862511"/>
          </a:xfrm>
          <a:prstGeom prst="rect">
            <a:avLst/>
          </a:prstGeom>
        </p:spPr>
      </p:pic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8891D50D-84AA-DEDC-A953-8389D6F453AB}"/>
              </a:ext>
            </a:extLst>
          </p:cNvPr>
          <p:cNvSpPr txBox="1"/>
          <p:nvPr/>
        </p:nvSpPr>
        <p:spPr>
          <a:xfrm>
            <a:off x="8084412" y="1843433"/>
            <a:ext cx="5735433" cy="265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b="1"/>
              <a:t>MUSS Anforderungen</a:t>
            </a:r>
          </a:p>
        </p:txBody>
      </p:sp>
      <p:sp>
        <p:nvSpPr>
          <p:cNvPr id="10" name="Im Idealfall sollten die Headlines und Mengentexte in einer Zeile etwa 9 bis 13 Worte enthalten. Somit sollten die Textblöcke in der Regel nicht breiter als vier Spalten sein. Alles andere ist zumeist schlecht lesbar.">
            <a:extLst>
              <a:ext uri="{FF2B5EF4-FFF2-40B4-BE49-F238E27FC236}">
                <a16:creationId xmlns:a16="http://schemas.microsoft.com/office/drawing/2014/main" id="{A6C8F7E6-74F1-88E0-D75C-3A9B64E87FCB}"/>
              </a:ext>
            </a:extLst>
          </p:cNvPr>
          <p:cNvSpPr txBox="1"/>
          <p:nvPr/>
        </p:nvSpPr>
        <p:spPr>
          <a:xfrm>
            <a:off x="8081646" y="2719942"/>
            <a:ext cx="7562032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 err="1"/>
              <a:t>Prioriserung</a:t>
            </a:r>
            <a:r>
              <a:rPr lang="de-DE"/>
              <a:t> zur Sicherung der Kernfunktionalität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Funktionales Grundgerüst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Unverzichtbar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231702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0208F-4BBB-F290-BDFD-274C2635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D5298C32-9CF1-6FB8-3A21-A98F14FD0A38}"/>
              </a:ext>
            </a:extLst>
          </p:cNvPr>
          <p:cNvSpPr txBox="1"/>
          <p:nvPr/>
        </p:nvSpPr>
        <p:spPr>
          <a:xfrm>
            <a:off x="766967" y="682190"/>
            <a:ext cx="3603551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dirty="0"/>
              <a:t>Funktionale Anforderungen</a:t>
            </a:r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B9FC4D17-9C8F-AD5A-9D1E-B0130DA89C57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A40A1C54-F668-A3B8-EEFC-4ABDC7BF8E1A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4B52E230-8676-A6D7-43AC-CA6CCAE120E5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4FE592DD-F37F-0801-0A56-FD28322D85AE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C510B36D-789C-2E68-2868-69B5AA4119D6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EB8B2D21-C229-7A8C-EC54-9ECB533A89C6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8E8FA84D-65EF-212A-9B07-84C38E65D8FC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6DFC37EF-059A-D819-03C8-F47F8BA7F545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C637E1E3-64A6-5CB4-853D-ACF8DE476BDA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99EC0B98-ED33-0D1A-59A9-C81774B2C30D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F4D4A2EC-96B7-46AE-C341-9EC668446FCE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7E322642-2E54-5F2E-D4EA-FE76257BFFD0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9D075680-8E61-2321-A302-DF6A72389244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2858416D-BECF-7D2B-5968-769A81713104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9FDB3A7C-5DE2-5A86-E858-BB8DFDF98778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A604313D-C16A-8E9E-820E-E30F65E69640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F8277C64-9479-28FD-6323-0A59A77EA6E7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2E4224AF-CFAD-83FF-712E-2CE22DCE1CBB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B090C204-8575-E1E8-90CB-8F2AC53AD269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C6D772A0-04C2-4CA2-21F8-2151B7EA83BE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A4BAA1FD-C0AA-7DF3-ECD7-0E98782F9C4C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73D717A8-FEE7-8FE5-5480-C715F2579194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874EC8C2-8CDF-02E8-DEFA-3C515C50121A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D65E562C-4A5A-3E62-56ED-028112B5DAB8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52A381AD-5505-8ACF-5B85-1D3D3BFDD321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793CCA7C-5640-B0DD-E253-A06C1248B36D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6E58E1FD-3274-8240-E320-351455174442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A964CC36-99F9-3B29-465E-185019F38D97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4A6CB758-6C74-DAF3-E548-1603B71D1653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E25E6CF7-9CC9-E94C-BE25-45B713154DD0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90C03630-148A-F63E-2C56-D201BC78C626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EAF8CF67-AD10-D98D-1ADA-9943AF2896CF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111FA913-A3D9-F9A8-9116-F3C76229381F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45935732-1420-616C-D131-832779FACC8B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23BC23A4-9AB0-B63E-38F4-F684DC938ADA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3B3283F6-272C-F843-4B87-4823A8E75C65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A462D818-AFD5-079B-B080-C9E8916EF571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94A1D438-0EEB-AC1B-5587-050C7828E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836" y="5857193"/>
            <a:ext cx="6378793" cy="2859992"/>
          </a:xfrm>
          <a:prstGeom prst="rect">
            <a:avLst/>
          </a:prstGeom>
        </p:spPr>
      </p:pic>
      <p:pic>
        <p:nvPicPr>
          <p:cNvPr id="4" name="Grafik 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FD058B4-163D-6048-5035-1AECF77C6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779" y="1786443"/>
            <a:ext cx="6374295" cy="2852383"/>
          </a:xfrm>
          <a:prstGeom prst="rect">
            <a:avLst/>
          </a:prstGeom>
        </p:spPr>
      </p:pic>
      <p:sp>
        <p:nvSpPr>
          <p:cNvPr id="7" name="Wie lange sollten Texte laufen?">
            <a:extLst>
              <a:ext uri="{FF2B5EF4-FFF2-40B4-BE49-F238E27FC236}">
                <a16:creationId xmlns:a16="http://schemas.microsoft.com/office/drawing/2014/main" id="{2372EA88-35EB-01C0-CF09-2E9DBD61A9A9}"/>
              </a:ext>
            </a:extLst>
          </p:cNvPr>
          <p:cNvSpPr txBox="1"/>
          <p:nvPr/>
        </p:nvSpPr>
        <p:spPr>
          <a:xfrm>
            <a:off x="768350" y="1987656"/>
            <a:ext cx="5735433" cy="265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b="1" dirty="0"/>
              <a:t>SOLL Anforderungen</a:t>
            </a:r>
          </a:p>
        </p:txBody>
      </p:sp>
      <p:sp>
        <p:nvSpPr>
          <p:cNvPr id="10" name="Wie lange sollten Texte laufen?">
            <a:extLst>
              <a:ext uri="{FF2B5EF4-FFF2-40B4-BE49-F238E27FC236}">
                <a16:creationId xmlns:a16="http://schemas.microsoft.com/office/drawing/2014/main" id="{0E0473E0-F4B9-6FA7-1591-EEAB62E99A40}"/>
              </a:ext>
            </a:extLst>
          </p:cNvPr>
          <p:cNvSpPr txBox="1"/>
          <p:nvPr/>
        </p:nvSpPr>
        <p:spPr>
          <a:xfrm>
            <a:off x="768775" y="5541222"/>
            <a:ext cx="5735433" cy="265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b="1" dirty="0"/>
              <a:t>WIRD Anforderungen</a:t>
            </a:r>
          </a:p>
        </p:txBody>
      </p:sp>
      <p:sp>
        <p:nvSpPr>
          <p:cNvPr id="11" name="Im Idealfall sollten die Headlines und Mengentexte in einer Zeile etwa 9 bis 13 Worte enthalten. Somit sollten die Textblöcke in der Regel nicht breiter als vier Spalten sein. Alles andere ist zumeist schlecht lesbar.">
            <a:extLst>
              <a:ext uri="{FF2B5EF4-FFF2-40B4-BE49-F238E27FC236}">
                <a16:creationId xmlns:a16="http://schemas.microsoft.com/office/drawing/2014/main" id="{004A42C8-66CE-1D53-41C8-720339899FF5}"/>
              </a:ext>
            </a:extLst>
          </p:cNvPr>
          <p:cNvSpPr txBox="1"/>
          <p:nvPr/>
        </p:nvSpPr>
        <p:spPr>
          <a:xfrm>
            <a:off x="766008" y="6483287"/>
            <a:ext cx="5126923" cy="160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Perspektivische Erweiterungen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Teilweise außerhalb des </a:t>
            </a:r>
            <a:r>
              <a:rPr lang="de-DE" err="1"/>
              <a:t>akuellten</a:t>
            </a:r>
            <a:r>
              <a:rPr lang="de-DE"/>
              <a:t> Projektumfangs, aber konzeptionell vorgesehen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</p:txBody>
      </p:sp>
      <p:sp>
        <p:nvSpPr>
          <p:cNvPr id="12" name="Im Idealfall sollten die Headlines und Mengentexte in einer Zeile etwa 9 bis 13 Worte enthalten. Somit sollten die Textblöcke in der Regel nicht breiter als vier Spalten sein. Alles andere ist zumeist schlecht lesbar.">
            <a:extLst>
              <a:ext uri="{FF2B5EF4-FFF2-40B4-BE49-F238E27FC236}">
                <a16:creationId xmlns:a16="http://schemas.microsoft.com/office/drawing/2014/main" id="{F26FBB94-FAC3-3486-F780-F80AAAA57F2C}"/>
              </a:ext>
            </a:extLst>
          </p:cNvPr>
          <p:cNvSpPr txBox="1"/>
          <p:nvPr/>
        </p:nvSpPr>
        <p:spPr>
          <a:xfrm>
            <a:off x="766572" y="2724572"/>
            <a:ext cx="4784692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 dirty="0"/>
              <a:t>Wünschenswert zur Erhöhung von Lernwirksamkeit, Motivation und Benutzerfreundlichkeit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 dirty="0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 dirty="0"/>
              <a:t>Systemoptimierungen für 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 dirty="0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543812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32B9-9017-742E-0E3B-F4C539939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A93C273A-7688-3514-D200-2E2D8117C7B0}"/>
              </a:ext>
            </a:extLst>
          </p:cNvPr>
          <p:cNvSpPr txBox="1"/>
          <p:nvPr/>
        </p:nvSpPr>
        <p:spPr>
          <a:xfrm>
            <a:off x="766967" y="778217"/>
            <a:ext cx="4358565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Nicht-funktionale Anforderungen</a:t>
            </a:r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A8C4D5C0-8469-A02D-35A5-B35830930D83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A525112F-93DE-DBD3-223E-C81674BB69BD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9335B5AF-DC4D-8A48-E9FA-642F3B4E3A7F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0A096D8C-F869-0477-45A1-0608006E0FD9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056A82FA-9F5E-D917-082B-1DC75BDC1629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E9BEAFEC-6C22-A937-667C-00AA791C4F75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007A3BCC-1E9E-51AE-D4E4-2930894578C9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227A90B1-B508-04C5-61B2-102ACF1679D0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13F03858-BB71-5DE3-DA5A-1F6CA07A0341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4ACE4283-CF81-6D2A-2764-166D3ED802CB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8388C5F3-A096-5B6F-A9D0-AAC2207A6DFC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806C7D0B-CD57-B96C-4109-AEF8DD51D3D7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64F0CB73-75F1-D997-70BC-4ED6DB1DA486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F62B445B-4468-CC8B-9B66-BF8644EA888F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0789EB6D-49BA-819D-02BD-C5D3E4FD649D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E34D763F-DB28-0EEB-FED1-27E0A5282E0A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3172389B-7CFA-ACB5-BAC0-70AC7B0BC79A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D48E175C-87ED-FBC2-4D62-1DE3D3111198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9A159766-36AC-7D7E-D463-BDAB85C6CDA1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A293AE5C-223A-A374-CA25-0CEDE5DDB74F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1D83A5F4-5A64-3798-5030-4C1B46769FD5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6DB36618-1C38-0F54-C9BC-82F9C44D3341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8A4CA218-F561-2526-A929-C23C639A177E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07C494D8-ECC6-ECD0-FF5F-975A4A84FC3B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83FB3133-C96F-4AF6-74CA-2D7CA93FD8CA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AA5380F2-5AE1-A094-7FC3-503880D76DD5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DEC86F0B-59CA-7572-AF12-541C929EE7C6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3B7E8A7E-1EA8-16D0-2428-50D27B463422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2A2F7C6F-BDB4-0014-F63C-A6B62B161A3C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24B111B1-9D24-FE26-67DD-0EF0186D54AD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330643A1-98E6-E647-7610-600B8B278943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764E8E4C-CD49-C631-9012-FB6464BA1B1B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44B624F2-5EFD-2F87-DB43-8E8D27E4E991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762DCA96-1A26-A8A3-047F-F9E3B87F29A3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C0D4B01F-8D92-0559-5D5A-104D1B29F139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01D95EEC-552E-CF61-1F9C-3BB234097AFC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6ED3B64F-1C76-8DFC-27BD-F0DCED5D9562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" name="Grafik 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C13CFD57-81FF-3A86-D4BA-95E1822DB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70" y="2587779"/>
            <a:ext cx="5255177" cy="2689071"/>
          </a:xfrm>
          <a:prstGeom prst="rect">
            <a:avLst/>
          </a:prstGeom>
        </p:spPr>
      </p:pic>
      <p:sp>
        <p:nvSpPr>
          <p:cNvPr id="6" name="Im Idealfall sollten die Headlines und Mengentexte in einer Zeile etwa 9 bis 13 Worte enthalten. Somit sollten die Textblöcke in der Regel nicht breiter als vier Spalten sein. Alles andere ist zumeist schlecht lesbar.">
            <a:extLst>
              <a:ext uri="{FF2B5EF4-FFF2-40B4-BE49-F238E27FC236}">
                <a16:creationId xmlns:a16="http://schemas.microsoft.com/office/drawing/2014/main" id="{DAF70F2F-FC6C-ECEA-155E-D2D1EA8E05C1}"/>
              </a:ext>
            </a:extLst>
          </p:cNvPr>
          <p:cNvSpPr txBox="1"/>
          <p:nvPr/>
        </p:nvSpPr>
        <p:spPr>
          <a:xfrm>
            <a:off x="6507779" y="3663950"/>
            <a:ext cx="5126923" cy="104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Sicherstellung von Qualität, Usability, Performance und Wartbarkeit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982224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7A2EB-7EAE-F545-0010-65331DBC0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68EEE6D1-E1F4-CCF1-3801-8D087BF2BDF0}"/>
              </a:ext>
            </a:extLst>
          </p:cNvPr>
          <p:cNvSpPr txBox="1"/>
          <p:nvPr/>
        </p:nvSpPr>
        <p:spPr>
          <a:xfrm>
            <a:off x="766967" y="778217"/>
            <a:ext cx="1671933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Projektrisiken</a:t>
            </a:r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4AABF29D-8C5F-2230-C62B-60C6870A86DA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0BFAC864-10DE-87C6-EFD1-BCBB06740E10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F5A56CDD-7751-5D36-A2A1-77854B8DA485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DD0D313C-DE97-F2DB-A476-026A90DA2296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66C768AF-B0BD-1537-48A8-2F7EA66A19AF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BCCD8C58-5853-8C77-8CBE-43BE320524D0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AE0FD4F6-91A1-2698-E38C-713830BB7B27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9DC83E48-549E-D1BD-D656-8FC1F3B6D5E9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DFD1B6C6-ACF1-B649-35D4-60AE9D7BFB32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AB010B14-FD5B-3E01-5853-2714DFF80791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56ED4C87-3922-7C85-B6EF-843376AC3159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71D4846C-42A4-778B-AC34-70BD9CB3A647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F963294A-1634-724C-0B39-BDDDD28C74E3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13AC8C02-2C9E-5F36-54A4-3A843C1E2A0D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9A6C4F33-E6D6-CDAF-1216-2FF3DD9676A0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8933672B-9C71-5906-E6ED-8987A739CE1F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6415196A-6104-6200-8197-E4E930C81ED0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EB562002-BEAC-E83C-5DE7-1E7E0FA0690A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B61CAF6D-DAF0-C3C9-57FC-E0A4A9C4E226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AF8E362D-83F0-E742-2B74-EBAD0E31F270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07F1BEF3-7249-6ED1-4CD8-3634792863A0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93843948-7AE5-7F88-7E7D-BE869CAD557F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59FB2C5F-B6FB-B975-FC01-4BDED469CA37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58668E6A-22EA-F2BA-E198-684E180A4811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E45AFBA8-398F-F579-B423-FB16D8FB2FF3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5782F07D-FF85-2185-9DAF-D6F68298BFA4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3767CDF8-F895-6E87-425E-D336494C200A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807D9816-FD7F-C28B-A6A9-0640B36A5807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D6952A74-A0B7-4A2E-DDD0-FDA33D27AF2D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8C4EBBD4-8295-4A94-F5C5-18D795AF6AA0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70BA2993-B65C-469C-C156-4BF8B62719ED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2936A98F-710A-EB17-19CE-BB3A7F50CD32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CF2CEF32-6096-B987-CDEC-D6D6B98A9E3F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73F60D66-126C-2A14-1241-C1B995EDCA76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3069F3B9-01CC-9A34-B348-947760360F39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98B977C5-1C99-0EAC-CCB4-68BA7F01A468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2A5B7AE6-99B4-1611-B489-CE65945297B4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5B9F03-41A4-7069-2934-6B849230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75940" y="1523564"/>
            <a:ext cx="6275304" cy="7833878"/>
          </a:xfrm>
          <a:prstGeom prst="rect">
            <a:avLst/>
          </a:prstGeom>
        </p:spPr>
      </p:pic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FEFACE33-47C0-E115-BD41-4B42CCC33871}"/>
              </a:ext>
            </a:extLst>
          </p:cNvPr>
          <p:cNvSpPr txBox="1"/>
          <p:nvPr/>
        </p:nvSpPr>
        <p:spPr>
          <a:xfrm>
            <a:off x="768350" y="1987656"/>
            <a:ext cx="5735433" cy="265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b="1"/>
              <a:t>Relevante Risikotypen</a:t>
            </a:r>
          </a:p>
        </p:txBody>
      </p:sp>
      <p:sp>
        <p:nvSpPr>
          <p:cNvPr id="10" name="Im Idealfall sollten die Headlines und Mengentexte in einer Zeile etwa 9 bis 13 Worte enthalten. Somit sollten die Textblöcke in der Regel nicht breiter als vier Spalten sein. Alles andere ist zumeist schlecht lesbar.">
            <a:extLst>
              <a:ext uri="{FF2B5EF4-FFF2-40B4-BE49-F238E27FC236}">
                <a16:creationId xmlns:a16="http://schemas.microsoft.com/office/drawing/2014/main" id="{30C3985D-AE63-01ED-F5AD-6AF4B88E26A7}"/>
              </a:ext>
            </a:extLst>
          </p:cNvPr>
          <p:cNvSpPr txBox="1"/>
          <p:nvPr/>
        </p:nvSpPr>
        <p:spPr>
          <a:xfrm>
            <a:off x="765583" y="2719942"/>
            <a:ext cx="7562032" cy="78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Technische/Anwendungslogische Risiken:  R1, R2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/>
          </a:p>
        </p:txBody>
      </p:sp>
      <p:sp>
        <p:nvSpPr>
          <p:cNvPr id="11" name="Im Idealfall sollten die Headlines und Mengentexte in einer Zeile etwa 9 bis 13 Worte enthalten. Somit sollten die Textblöcke in der Regel nicht breiter als vier Spalten sein. Alles andere ist zumeist schlecht lesbar.">
            <a:extLst>
              <a:ext uri="{FF2B5EF4-FFF2-40B4-BE49-F238E27FC236}">
                <a16:creationId xmlns:a16="http://schemas.microsoft.com/office/drawing/2014/main" id="{82446ABB-FD62-0AC6-F285-17D3C10E93B0}"/>
              </a:ext>
            </a:extLst>
          </p:cNvPr>
          <p:cNvSpPr txBox="1"/>
          <p:nvPr/>
        </p:nvSpPr>
        <p:spPr>
          <a:xfrm>
            <a:off x="765841" y="4608802"/>
            <a:ext cx="4780078" cy="104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Kompetenzorientiere/organisatorische Risiken: R1, R5  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/>
          </a:p>
        </p:txBody>
      </p:sp>
      <p:sp>
        <p:nvSpPr>
          <p:cNvPr id="13" name="Im Idealfall sollten die Headlines und Mengentexte in einer Zeile etwa 9 bis 13 Worte enthalten. Somit sollten die Textblöcke in der Regel nicht breiter als vier Spalten sein. Alles andere ist zumeist schlecht lesbar.">
            <a:extLst>
              <a:ext uri="{FF2B5EF4-FFF2-40B4-BE49-F238E27FC236}">
                <a16:creationId xmlns:a16="http://schemas.microsoft.com/office/drawing/2014/main" id="{6BCFC945-F6E5-E14C-366A-294DDEAEE3A4}"/>
              </a:ext>
            </a:extLst>
          </p:cNvPr>
          <p:cNvSpPr txBox="1"/>
          <p:nvPr/>
        </p:nvSpPr>
        <p:spPr>
          <a:xfrm>
            <a:off x="766358" y="3690110"/>
            <a:ext cx="7562032" cy="78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 sz="1600"/>
              <a:t>Architekturelle Risiken: R4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/>
          </a:p>
        </p:txBody>
      </p:sp>
      <p:sp>
        <p:nvSpPr>
          <p:cNvPr id="15" name="Im Idealfall sollten die Headlines und Mengentexte in einer Zeile etwa 9 bis 13 Worte enthalten. Somit sollten die Textblöcke in der Regel nicht breiter als vier Spalten sein. Alles andere ist zumeist schlecht lesbar.">
            <a:extLst>
              <a:ext uri="{FF2B5EF4-FFF2-40B4-BE49-F238E27FC236}">
                <a16:creationId xmlns:a16="http://schemas.microsoft.com/office/drawing/2014/main" id="{C45DC5B0-58E4-E6EC-8B97-18CAF5BA7160}"/>
              </a:ext>
            </a:extLst>
          </p:cNvPr>
          <p:cNvSpPr txBox="1"/>
          <p:nvPr/>
        </p:nvSpPr>
        <p:spPr>
          <a:xfrm>
            <a:off x="766099" y="5545070"/>
            <a:ext cx="7562032" cy="78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 lang="de-DE"/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r>
              <a:rPr lang="de-DE"/>
              <a:t>Kommunikative Risiken: R3</a:t>
            </a:r>
          </a:p>
          <a:p>
            <a:pPr algn="l">
              <a:defRPr sz="1700" b="0">
                <a:latin typeface="PT Sans"/>
                <a:ea typeface="PT Sans"/>
                <a:cs typeface="PT Sans"/>
                <a:sym typeface="PT Sans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73064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DB39B-C3E9-D29C-281A-D519FAC8E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5E7AA314-FE2A-4471-2F7A-9682AC26B6C7}"/>
              </a:ext>
            </a:extLst>
          </p:cNvPr>
          <p:cNvSpPr txBox="1"/>
          <p:nvPr/>
        </p:nvSpPr>
        <p:spPr>
          <a:xfrm>
            <a:off x="766967" y="778217"/>
            <a:ext cx="5089535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Potenzielle Erweiterungsmöglichkeiten</a:t>
            </a:r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D0AB992F-DAD6-E4C8-34BA-176849509F2C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4F957C94-595F-E025-76D9-2F4593C692BF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B1B67EE3-D2E0-A55B-3D73-104CDDEB6FAD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C983BF63-18DC-270D-A049-3C6EDF60FDC3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075764C7-13B6-48F3-E678-601305B4062E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03367049-5032-5225-6C51-3750A82ACC31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DBAF0F25-12CB-77D8-8688-3C9E951F5CFB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DDED2DB8-DFAE-C67F-EC1D-FA5B343490D7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BFD74F21-7014-EF36-6A11-7335DFDEA714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9B1DE453-A76C-4C40-65B1-7E0FED8A828A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F4574119-B2A6-48CB-883B-468560B68EEF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0416FF28-FA96-B9E1-3D9E-D6C34BD6A86F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7B8B0D45-3FA3-8027-357F-2431E0801C87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4B111915-CC65-4A7B-FAEB-FC2D834B8ACB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BF0215B7-400F-5A4F-95FC-1F9622B9D5BC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7A61EFEE-4E5E-4CF3-831F-F52458355148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E0B569AC-CAAC-4EFC-A58C-F531E4B4144B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29D8E892-AC33-59A0-4360-9462AFED32E0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CB6D48E4-760E-B141-30F7-A5688811B8A8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22ED58B8-F0A7-1444-B008-E4DF7054D48E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ACCA181F-0FE3-FCA2-0D60-9D7F06D78417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337154A1-E8AE-C97B-5C4F-2FC200AB564D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4F1404E7-814E-0135-FFB4-2DE4E2B469C4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4DC93B65-0019-969E-AB76-2459887EDC91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F425BD89-BCA8-E09E-7D7B-D97A230891F8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D7A32ACC-7489-6E53-48A3-28EDDDF34C79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150CE7EF-0917-9435-77EF-52D86C9F7556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7CA2D264-3D5B-E669-E2F1-5F0BDF3222C5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956D51FC-7771-F2AC-DEE2-6A0B9F00EFCE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B0AE57D1-6B84-7F5A-A60A-5A92655B3D50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41B48522-91F1-F21F-8E1F-5209CE713F74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86BF1FE4-009D-F5DA-6366-0735FCF73073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516EF2ED-7575-5A18-5ED8-5D2EFD255DFA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CCBFEEB0-0B75-3C8F-F82A-AF124A890F45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B9ED2DD4-07ED-9318-F890-AF8457594A26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EF786E20-48EA-658B-732D-AEC39B8D4E7F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75EA744E-99A9-3C7B-C15B-8997485D906E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5B0F6172-F710-4DEA-F4CA-85192EDB4EC0}"/>
              </a:ext>
            </a:extLst>
          </p:cNvPr>
          <p:cNvSpPr txBox="1"/>
          <p:nvPr/>
        </p:nvSpPr>
        <p:spPr>
          <a:xfrm>
            <a:off x="768350" y="1987656"/>
            <a:ext cx="10463160" cy="3371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de-DE" sz="1800"/>
              <a:t>Künstlich erstellte Inhalte können durch andere ergänzt werden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Rubriken, Kategorien oder Themenbereiche können eingeteilt werden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Anbindung an APIs oder Datenbanken um Inhalte direkt zu erstellen, einzigartig zu generieren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Online Features und soziale Interaktion: Duelle, Vergleichsstatistiken, Party Modi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Zusätzliche Visualisierung oder andere bildliche Inhalte: Videos, Live-Grafiken, Feeds</a:t>
            </a:r>
          </a:p>
          <a:p>
            <a:pPr marL="285750" indent="-285750">
              <a:buFont typeface="Calibri"/>
              <a:buChar char="-"/>
            </a:pPr>
            <a:endParaRPr lang="de-DE" sz="1800"/>
          </a:p>
          <a:p>
            <a:pPr marL="285750" indent="-285750">
              <a:buFont typeface="Calibri"/>
              <a:buChar char="-"/>
            </a:pPr>
            <a:r>
              <a:rPr lang="de-DE" sz="1800"/>
              <a:t>Das System als </a:t>
            </a:r>
            <a:r>
              <a:rPr lang="de-DE" sz="1800" err="1"/>
              <a:t>Lernplatform</a:t>
            </a:r>
            <a:r>
              <a:rPr lang="de-DE" sz="1800"/>
              <a:t> erweitern und neue Spiele ergänzen</a:t>
            </a:r>
          </a:p>
        </p:txBody>
      </p:sp>
    </p:spTree>
    <p:extLst>
      <p:ext uri="{BB962C8B-B14F-4D97-AF65-F5344CB8AC3E}">
        <p14:creationId xmlns:p14="http://schemas.microsoft.com/office/powerpoint/2010/main" val="220139690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AB92-5742-E77C-34A4-3F69095F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A4B522D1-479C-E626-78F1-187CC92F242F}"/>
              </a:ext>
            </a:extLst>
          </p:cNvPr>
          <p:cNvSpPr txBox="1"/>
          <p:nvPr/>
        </p:nvSpPr>
        <p:spPr>
          <a:xfrm>
            <a:off x="766967" y="778217"/>
            <a:ext cx="2284280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Erste Zeitplanung</a:t>
            </a:r>
            <a:endParaRPr lang="en-US"/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5FD7C8FA-65C3-62D6-2D69-0F2D4B05F795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EF60C475-0FFE-62EB-8337-A57006D4D041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8F23144D-E9EC-DFC5-A212-E08F8EC6F6E0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2C19BB9D-0D24-6DDF-B208-9807F00B8F24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7214AE6D-19F3-21C4-2733-06C8D5F9E74E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366ED264-4A88-94C3-888F-2181BF6B3A1F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6A933AAF-EE1A-FA1D-7438-4013642292CF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20F87C18-D815-2775-4B86-3848A7F9BDA5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C704408E-5B13-C30B-36A7-B6AD00B5D34C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929ED97B-9CCD-2A12-B117-A6F7D2397E77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BBDED33A-A019-156B-FDAF-62508CDE5BC0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99FAE944-ECDB-D36C-438A-7CD32C8E08C8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F709EC09-A779-A2F7-1521-4A2CE7BF110D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128D2701-D91F-D0DF-2CF0-118E3E4D0604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C5469E80-3607-5BFA-5F95-B9D8E329BC10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AFF61A79-F350-3DF2-F345-569822017DB5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05970C6F-0100-278E-0164-18565A406ABC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4B90CC55-C132-62FA-6FA8-F720E891D545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EFB551F2-305B-5890-D3B6-EE2167CBCC49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79533AAA-4FA2-34B4-8707-C54149C55336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0DA9613E-5CAF-31CD-397C-0DCEBFA192A8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54A8EBEF-61FB-B500-1829-EF9E428C9215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7158BF68-9FA8-9CD6-32FC-168A6A48909C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8C329568-016A-DE19-FFF8-3D30DC9AF9B6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263F20CA-084C-DE5E-17C3-2A5BFB0405E1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8CA1A81B-E943-9546-DEF6-71CDAC23F932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58BAE55E-C909-4068-3691-5574B87F385F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AB165040-171B-A3E6-249D-A99DA7318489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10233F66-EDDE-899E-CF42-7094E17CA09E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A6E37019-F35A-7A3C-BC58-0185B504E801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BD1AB926-64A7-C514-86F6-ADAA5A6C1CFA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77A46009-0366-164C-26C3-35A4E6329744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E7731BF5-E9A9-716D-F182-50473D42BB01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683EEA78-9ACB-720E-39CF-91258C25641E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A3E749C7-C9A2-B1D1-5CC5-AD66D84113F8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4AF59B82-1079-EB69-74E9-F41E9FDA8636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D5F22A0E-C677-BA54-A11C-078D3DE8421D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3DC43280-DDF5-1BFF-E000-46DD374D063A}"/>
              </a:ext>
            </a:extLst>
          </p:cNvPr>
          <p:cNvSpPr txBox="1"/>
          <p:nvPr/>
        </p:nvSpPr>
        <p:spPr>
          <a:xfrm>
            <a:off x="768350" y="1987656"/>
            <a:ext cx="10463160" cy="5343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 sz="1800" u="sng"/>
              <a:t>Monat 1:</a:t>
            </a:r>
          </a:p>
          <a:p>
            <a:r>
              <a:rPr lang="de-DE"/>
              <a:t>Ausarbeitung des Konzepts und der genauen Projektumsetzung sowie dessen Iteration, Anforderungsentwicklung und Priorisierung, Gliederung der Artefakt-Teilbereiche und entwickeln der Proof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Concepts</a:t>
            </a:r>
            <a:endParaRPr lang="de-DE"/>
          </a:p>
          <a:p>
            <a:endParaRPr lang="de-DE"/>
          </a:p>
          <a:p>
            <a:r>
              <a:rPr lang="de-DE" sz="1800" u="sng"/>
              <a:t>Monat 2:</a:t>
            </a:r>
          </a:p>
          <a:p>
            <a:r>
              <a:rPr lang="de-DE"/>
              <a:t>Anpassung und Verfeinerung des Konzepts und der Umsetzung durch Feedback sowie erweiterte Recherche der ersten Anwendungsplanung, theoretische Grundkonzeption und Start der technischen Umsetzung sowie der Einführungsphase des Projekts</a:t>
            </a:r>
          </a:p>
          <a:p>
            <a:endParaRPr lang="de-DE"/>
          </a:p>
          <a:p>
            <a:r>
              <a:rPr lang="de-DE" sz="1800" u="sng"/>
              <a:t>Monat 3: </a:t>
            </a:r>
          </a:p>
          <a:p>
            <a:r>
              <a:rPr lang="de-DE"/>
              <a:t>Hauptsächliche technische Entwicklung des Spiels und des ersten Prototypen und dessen erste Evaluation, Iteration der Anwendungsplanung, konstante Anforderungsprüfung, gegebenenfalls Anpassung des Zeitplans und der Prioritäten</a:t>
            </a:r>
          </a:p>
          <a:p>
            <a:endParaRPr lang="de-DE"/>
          </a:p>
          <a:p>
            <a:r>
              <a:rPr lang="de-DE" sz="1800" u="sng"/>
              <a:t>Monat 4:</a:t>
            </a:r>
            <a:r>
              <a:rPr lang="de-DE" sz="1800"/>
              <a:t> </a:t>
            </a:r>
          </a:p>
          <a:p>
            <a:r>
              <a:rPr lang="de-DE"/>
              <a:t>Evaluation des Entwicklungsprojekts, hinzufügen und optimieren fehlender oder unzureichender Anforderungen innerhalb des Systems, Anpassung und feingranulare Optimierung des Prototyps, erstes Feedback von Testern und Akademikern</a:t>
            </a:r>
          </a:p>
        </p:txBody>
      </p:sp>
    </p:spTree>
    <p:extLst>
      <p:ext uri="{BB962C8B-B14F-4D97-AF65-F5344CB8AC3E}">
        <p14:creationId xmlns:p14="http://schemas.microsoft.com/office/powerpoint/2010/main" val="253130606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17E37-46EB-83D8-A65E-4CE2C4E7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ypographie">
            <a:extLst>
              <a:ext uri="{FF2B5EF4-FFF2-40B4-BE49-F238E27FC236}">
                <a16:creationId xmlns:a16="http://schemas.microsoft.com/office/drawing/2014/main" id="{E943DD3B-1EC8-85EB-F13D-E038D1E315C0}"/>
              </a:ext>
            </a:extLst>
          </p:cNvPr>
          <p:cNvSpPr txBox="1"/>
          <p:nvPr/>
        </p:nvSpPr>
        <p:spPr>
          <a:xfrm>
            <a:off x="766967" y="778217"/>
            <a:ext cx="1170192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1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r>
              <a:rPr lang="de-DE"/>
              <a:t>Quellen 1</a:t>
            </a:r>
            <a:endParaRPr lang="en-US"/>
          </a:p>
        </p:txBody>
      </p:sp>
      <p:sp>
        <p:nvSpPr>
          <p:cNvPr id="345" name="133">
            <a:extLst>
              <a:ext uri="{FF2B5EF4-FFF2-40B4-BE49-F238E27FC236}">
                <a16:creationId xmlns:a16="http://schemas.microsoft.com/office/drawing/2014/main" id="{7C75197C-C5D3-06A2-CE80-78E0FCE23DE8}"/>
              </a:ext>
            </a:extLst>
          </p:cNvPr>
          <p:cNvSpPr/>
          <p:nvPr/>
        </p:nvSpPr>
        <p:spPr>
          <a:xfrm>
            <a:off x="768350" y="10079566"/>
            <a:ext cx="1689101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6" name="21">
            <a:extLst>
              <a:ext uri="{FF2B5EF4-FFF2-40B4-BE49-F238E27FC236}">
                <a16:creationId xmlns:a16="http://schemas.microsoft.com/office/drawing/2014/main" id="{EF27F7F3-A918-6647-A479-58BFF07BD40A}"/>
              </a:ext>
            </a:extLst>
          </p:cNvPr>
          <p:cNvSpPr/>
          <p:nvPr/>
        </p:nvSpPr>
        <p:spPr>
          <a:xfrm>
            <a:off x="24574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7" name="133">
            <a:extLst>
              <a:ext uri="{FF2B5EF4-FFF2-40B4-BE49-F238E27FC236}">
                <a16:creationId xmlns:a16="http://schemas.microsoft.com/office/drawing/2014/main" id="{363E7B1F-46C6-7C31-FD7B-E85BBE5ED307}"/>
              </a:ext>
            </a:extLst>
          </p:cNvPr>
          <p:cNvSpPr/>
          <p:nvPr/>
        </p:nvSpPr>
        <p:spPr>
          <a:xfrm>
            <a:off x="27241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48" name="21">
            <a:extLst>
              <a:ext uri="{FF2B5EF4-FFF2-40B4-BE49-F238E27FC236}">
                <a16:creationId xmlns:a16="http://schemas.microsoft.com/office/drawing/2014/main" id="{AF6D7597-6BC8-20F1-AEAA-2C5373D1F2F5}"/>
              </a:ext>
            </a:extLst>
          </p:cNvPr>
          <p:cNvSpPr/>
          <p:nvPr/>
        </p:nvSpPr>
        <p:spPr>
          <a:xfrm>
            <a:off x="44132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49" name="133">
            <a:extLst>
              <a:ext uri="{FF2B5EF4-FFF2-40B4-BE49-F238E27FC236}">
                <a16:creationId xmlns:a16="http://schemas.microsoft.com/office/drawing/2014/main" id="{034DEC0A-CD96-3281-B5A0-B1D4FBB6099D}"/>
              </a:ext>
            </a:extLst>
          </p:cNvPr>
          <p:cNvSpPr/>
          <p:nvPr/>
        </p:nvSpPr>
        <p:spPr>
          <a:xfrm>
            <a:off x="46799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0" name="21">
            <a:extLst>
              <a:ext uri="{FF2B5EF4-FFF2-40B4-BE49-F238E27FC236}">
                <a16:creationId xmlns:a16="http://schemas.microsoft.com/office/drawing/2014/main" id="{6320E196-A175-3110-56C8-69C93BC0A133}"/>
              </a:ext>
            </a:extLst>
          </p:cNvPr>
          <p:cNvSpPr/>
          <p:nvPr/>
        </p:nvSpPr>
        <p:spPr>
          <a:xfrm>
            <a:off x="63690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1" name="133">
            <a:extLst>
              <a:ext uri="{FF2B5EF4-FFF2-40B4-BE49-F238E27FC236}">
                <a16:creationId xmlns:a16="http://schemas.microsoft.com/office/drawing/2014/main" id="{D41B25F6-7E56-1280-CF2F-B4E3D9030831}"/>
              </a:ext>
            </a:extLst>
          </p:cNvPr>
          <p:cNvSpPr/>
          <p:nvPr/>
        </p:nvSpPr>
        <p:spPr>
          <a:xfrm>
            <a:off x="66357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2" name="21">
            <a:extLst>
              <a:ext uri="{FF2B5EF4-FFF2-40B4-BE49-F238E27FC236}">
                <a16:creationId xmlns:a16="http://schemas.microsoft.com/office/drawing/2014/main" id="{11DDAB9E-0948-C112-C9C2-37D9E00AF4C6}"/>
              </a:ext>
            </a:extLst>
          </p:cNvPr>
          <p:cNvSpPr/>
          <p:nvPr/>
        </p:nvSpPr>
        <p:spPr>
          <a:xfrm>
            <a:off x="83248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3" name="133">
            <a:extLst>
              <a:ext uri="{FF2B5EF4-FFF2-40B4-BE49-F238E27FC236}">
                <a16:creationId xmlns:a16="http://schemas.microsoft.com/office/drawing/2014/main" id="{100DF07F-CCFD-684B-11D4-4D4EE6D82606}"/>
              </a:ext>
            </a:extLst>
          </p:cNvPr>
          <p:cNvSpPr/>
          <p:nvPr/>
        </p:nvSpPr>
        <p:spPr>
          <a:xfrm>
            <a:off x="85915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4" name="21">
            <a:extLst>
              <a:ext uri="{FF2B5EF4-FFF2-40B4-BE49-F238E27FC236}">
                <a16:creationId xmlns:a16="http://schemas.microsoft.com/office/drawing/2014/main" id="{C43C3C93-96BC-B5BD-682C-F17D225FA6D9}"/>
              </a:ext>
            </a:extLst>
          </p:cNvPr>
          <p:cNvSpPr/>
          <p:nvPr/>
        </p:nvSpPr>
        <p:spPr>
          <a:xfrm>
            <a:off x="10280650" y="10079566"/>
            <a:ext cx="266700" cy="2667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5" name="133">
            <a:extLst>
              <a:ext uri="{FF2B5EF4-FFF2-40B4-BE49-F238E27FC236}">
                <a16:creationId xmlns:a16="http://schemas.microsoft.com/office/drawing/2014/main" id="{28CFA7F0-AB12-B570-91E1-08A28FD6C830}"/>
              </a:ext>
            </a:extLst>
          </p:cNvPr>
          <p:cNvSpPr/>
          <p:nvPr/>
        </p:nvSpPr>
        <p:spPr>
          <a:xfrm>
            <a:off x="10547350" y="10079566"/>
            <a:ext cx="1689100" cy="1689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133</a:t>
            </a:r>
          </a:p>
        </p:txBody>
      </p:sp>
      <p:sp>
        <p:nvSpPr>
          <p:cNvPr id="356" name="67">
            <a:extLst>
              <a:ext uri="{FF2B5EF4-FFF2-40B4-BE49-F238E27FC236}">
                <a16:creationId xmlns:a16="http://schemas.microsoft.com/office/drawing/2014/main" id="{8E109EE6-D1A4-E65C-8771-9DEBA8E766BD}"/>
              </a:ext>
            </a:extLst>
          </p:cNvPr>
          <p:cNvSpPr/>
          <p:nvPr/>
        </p:nvSpPr>
        <p:spPr>
          <a:xfrm>
            <a:off x="-1041400" y="-6351"/>
            <a:ext cx="850900" cy="8509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67</a:t>
            </a:r>
          </a:p>
        </p:txBody>
      </p:sp>
      <p:sp>
        <p:nvSpPr>
          <p:cNvPr id="357" name="53">
            <a:extLst>
              <a:ext uri="{FF2B5EF4-FFF2-40B4-BE49-F238E27FC236}">
                <a16:creationId xmlns:a16="http://schemas.microsoft.com/office/drawing/2014/main" id="{5E058BE8-1CE7-8B00-E309-52E41A33B90C}"/>
              </a:ext>
            </a:extLst>
          </p:cNvPr>
          <p:cNvSpPr/>
          <p:nvPr/>
        </p:nvSpPr>
        <p:spPr>
          <a:xfrm>
            <a:off x="-863600" y="844549"/>
            <a:ext cx="673100" cy="673101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58" name="21">
            <a:extLst>
              <a:ext uri="{FF2B5EF4-FFF2-40B4-BE49-F238E27FC236}">
                <a16:creationId xmlns:a16="http://schemas.microsoft.com/office/drawing/2014/main" id="{11449C80-3382-9D71-A8C3-928AF18C4088}"/>
              </a:ext>
            </a:extLst>
          </p:cNvPr>
          <p:cNvSpPr/>
          <p:nvPr/>
        </p:nvSpPr>
        <p:spPr>
          <a:xfrm>
            <a:off x="-457200" y="1517650"/>
            <a:ext cx="266700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59" name="53">
            <a:extLst>
              <a:ext uri="{FF2B5EF4-FFF2-40B4-BE49-F238E27FC236}">
                <a16:creationId xmlns:a16="http://schemas.microsoft.com/office/drawing/2014/main" id="{6ADE7370-8AE3-2BCB-C937-F97E9E883BA5}"/>
              </a:ext>
            </a:extLst>
          </p:cNvPr>
          <p:cNvSpPr/>
          <p:nvPr/>
        </p:nvSpPr>
        <p:spPr>
          <a:xfrm>
            <a:off x="-863600" y="1784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0" name="21">
            <a:extLst>
              <a:ext uri="{FF2B5EF4-FFF2-40B4-BE49-F238E27FC236}">
                <a16:creationId xmlns:a16="http://schemas.microsoft.com/office/drawing/2014/main" id="{0E8D43E5-52B7-91F4-4359-C7933C921844}"/>
              </a:ext>
            </a:extLst>
          </p:cNvPr>
          <p:cNvSpPr/>
          <p:nvPr/>
        </p:nvSpPr>
        <p:spPr>
          <a:xfrm>
            <a:off x="-457201" y="2457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1" name="53">
            <a:extLst>
              <a:ext uri="{FF2B5EF4-FFF2-40B4-BE49-F238E27FC236}">
                <a16:creationId xmlns:a16="http://schemas.microsoft.com/office/drawing/2014/main" id="{8A07F582-471A-8EE5-3059-978675D7C00D}"/>
              </a:ext>
            </a:extLst>
          </p:cNvPr>
          <p:cNvSpPr/>
          <p:nvPr/>
        </p:nvSpPr>
        <p:spPr>
          <a:xfrm>
            <a:off x="-863600" y="2724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2" name="21">
            <a:extLst>
              <a:ext uri="{FF2B5EF4-FFF2-40B4-BE49-F238E27FC236}">
                <a16:creationId xmlns:a16="http://schemas.microsoft.com/office/drawing/2014/main" id="{281552EB-152E-CE32-32F5-522FF2E82882}"/>
              </a:ext>
            </a:extLst>
          </p:cNvPr>
          <p:cNvSpPr/>
          <p:nvPr/>
        </p:nvSpPr>
        <p:spPr>
          <a:xfrm>
            <a:off x="-457201" y="3397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3" name="53">
            <a:extLst>
              <a:ext uri="{FF2B5EF4-FFF2-40B4-BE49-F238E27FC236}">
                <a16:creationId xmlns:a16="http://schemas.microsoft.com/office/drawing/2014/main" id="{3609AAFC-AEAC-7E9E-2489-7FEBC0983125}"/>
              </a:ext>
            </a:extLst>
          </p:cNvPr>
          <p:cNvSpPr/>
          <p:nvPr/>
        </p:nvSpPr>
        <p:spPr>
          <a:xfrm>
            <a:off x="-863600" y="3663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4" name="21">
            <a:extLst>
              <a:ext uri="{FF2B5EF4-FFF2-40B4-BE49-F238E27FC236}">
                <a16:creationId xmlns:a16="http://schemas.microsoft.com/office/drawing/2014/main" id="{74E263A9-B251-8CBC-058A-C71232EF9C91}"/>
              </a:ext>
            </a:extLst>
          </p:cNvPr>
          <p:cNvSpPr/>
          <p:nvPr/>
        </p:nvSpPr>
        <p:spPr>
          <a:xfrm>
            <a:off x="-457201" y="43370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5" name="53">
            <a:extLst>
              <a:ext uri="{FF2B5EF4-FFF2-40B4-BE49-F238E27FC236}">
                <a16:creationId xmlns:a16="http://schemas.microsoft.com/office/drawing/2014/main" id="{C8ACE006-FCF0-217B-DE59-DB0074ABBF16}"/>
              </a:ext>
            </a:extLst>
          </p:cNvPr>
          <p:cNvSpPr/>
          <p:nvPr/>
        </p:nvSpPr>
        <p:spPr>
          <a:xfrm>
            <a:off x="-863600" y="46037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6" name="21">
            <a:extLst>
              <a:ext uri="{FF2B5EF4-FFF2-40B4-BE49-F238E27FC236}">
                <a16:creationId xmlns:a16="http://schemas.microsoft.com/office/drawing/2014/main" id="{619C76D7-F44A-9C28-01B8-964998268748}"/>
              </a:ext>
            </a:extLst>
          </p:cNvPr>
          <p:cNvSpPr/>
          <p:nvPr/>
        </p:nvSpPr>
        <p:spPr>
          <a:xfrm>
            <a:off x="-457201" y="52768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7" name="53">
            <a:extLst>
              <a:ext uri="{FF2B5EF4-FFF2-40B4-BE49-F238E27FC236}">
                <a16:creationId xmlns:a16="http://schemas.microsoft.com/office/drawing/2014/main" id="{779AC5A3-30F5-3450-381D-D920A0AFA057}"/>
              </a:ext>
            </a:extLst>
          </p:cNvPr>
          <p:cNvSpPr/>
          <p:nvPr/>
        </p:nvSpPr>
        <p:spPr>
          <a:xfrm>
            <a:off x="-863600" y="55435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68" name="21">
            <a:extLst>
              <a:ext uri="{FF2B5EF4-FFF2-40B4-BE49-F238E27FC236}">
                <a16:creationId xmlns:a16="http://schemas.microsoft.com/office/drawing/2014/main" id="{5B3752E2-7CBC-C6FD-E251-392D5AE06EB9}"/>
              </a:ext>
            </a:extLst>
          </p:cNvPr>
          <p:cNvSpPr/>
          <p:nvPr/>
        </p:nvSpPr>
        <p:spPr>
          <a:xfrm>
            <a:off x="-457201" y="62166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69" name="53">
            <a:extLst>
              <a:ext uri="{FF2B5EF4-FFF2-40B4-BE49-F238E27FC236}">
                <a16:creationId xmlns:a16="http://schemas.microsoft.com/office/drawing/2014/main" id="{C418D98B-8AE7-3381-1963-E17D699CD41F}"/>
              </a:ext>
            </a:extLst>
          </p:cNvPr>
          <p:cNvSpPr/>
          <p:nvPr/>
        </p:nvSpPr>
        <p:spPr>
          <a:xfrm>
            <a:off x="-863600" y="64833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0" name="21">
            <a:extLst>
              <a:ext uri="{FF2B5EF4-FFF2-40B4-BE49-F238E27FC236}">
                <a16:creationId xmlns:a16="http://schemas.microsoft.com/office/drawing/2014/main" id="{440271D7-A81B-7B85-4DD0-C53D17B9FAF2}"/>
              </a:ext>
            </a:extLst>
          </p:cNvPr>
          <p:cNvSpPr/>
          <p:nvPr/>
        </p:nvSpPr>
        <p:spPr>
          <a:xfrm>
            <a:off x="-457201" y="71564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1" name="53">
            <a:extLst>
              <a:ext uri="{FF2B5EF4-FFF2-40B4-BE49-F238E27FC236}">
                <a16:creationId xmlns:a16="http://schemas.microsoft.com/office/drawing/2014/main" id="{D53A44B5-2B6B-FDE1-EF2F-FFBECE218EB6}"/>
              </a:ext>
            </a:extLst>
          </p:cNvPr>
          <p:cNvSpPr/>
          <p:nvPr/>
        </p:nvSpPr>
        <p:spPr>
          <a:xfrm>
            <a:off x="-863600" y="74231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sp>
        <p:nvSpPr>
          <p:cNvPr id="372" name="21">
            <a:extLst>
              <a:ext uri="{FF2B5EF4-FFF2-40B4-BE49-F238E27FC236}">
                <a16:creationId xmlns:a16="http://schemas.microsoft.com/office/drawing/2014/main" id="{B6F8FD1D-2A71-D07B-1D75-CCE4EFCEA541}"/>
              </a:ext>
            </a:extLst>
          </p:cNvPr>
          <p:cNvSpPr/>
          <p:nvPr/>
        </p:nvSpPr>
        <p:spPr>
          <a:xfrm>
            <a:off x="-457201" y="8096250"/>
            <a:ext cx="266701" cy="2667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21</a:t>
            </a:r>
          </a:p>
        </p:txBody>
      </p:sp>
      <p:sp>
        <p:nvSpPr>
          <p:cNvPr id="373" name="53">
            <a:extLst>
              <a:ext uri="{FF2B5EF4-FFF2-40B4-BE49-F238E27FC236}">
                <a16:creationId xmlns:a16="http://schemas.microsoft.com/office/drawing/2014/main" id="{DAAD3E60-B845-45C5-44AB-6E19D8BE404D}"/>
              </a:ext>
            </a:extLst>
          </p:cNvPr>
          <p:cNvSpPr/>
          <p:nvPr/>
        </p:nvSpPr>
        <p:spPr>
          <a:xfrm>
            <a:off x="-863600" y="8362950"/>
            <a:ext cx="673100" cy="6731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800" b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defRPr>
            </a:lvl1pPr>
          </a:lstStyle>
          <a:p>
            <a:r>
              <a:t>53</a:t>
            </a:r>
          </a:p>
        </p:txBody>
      </p:sp>
      <p:grpSp>
        <p:nvGrpSpPr>
          <p:cNvPr id="380" name="Gruppieren">
            <a:extLst>
              <a:ext uri="{FF2B5EF4-FFF2-40B4-BE49-F238E27FC236}">
                <a16:creationId xmlns:a16="http://schemas.microsoft.com/office/drawing/2014/main" id="{8AA0DF1E-82A4-E3DA-AE62-0E16DACC8F52}"/>
              </a:ext>
            </a:extLst>
          </p:cNvPr>
          <p:cNvGrpSpPr/>
          <p:nvPr/>
        </p:nvGrpSpPr>
        <p:grpSpPr>
          <a:xfrm>
            <a:off x="0" y="9652000"/>
            <a:ext cx="13004800" cy="254000"/>
            <a:chOff x="0" y="0"/>
            <a:chExt cx="13004800" cy="254000"/>
          </a:xfrm>
        </p:grpSpPr>
        <p:sp>
          <p:nvSpPr>
            <p:cNvPr id="374" name="Rechteck">
              <a:extLst>
                <a:ext uri="{FF2B5EF4-FFF2-40B4-BE49-F238E27FC236}">
                  <a16:creationId xmlns:a16="http://schemas.microsoft.com/office/drawing/2014/main" id="{5E75B5EE-6B47-B40E-B6D7-5F28E275F727}"/>
                </a:ext>
              </a:extLst>
            </p:cNvPr>
            <p:cNvSpPr/>
            <p:nvPr/>
          </p:nvSpPr>
          <p:spPr>
            <a:xfrm>
              <a:off x="762000" y="0"/>
              <a:ext cx="2870201" cy="254000"/>
            </a:xfrm>
            <a:prstGeom prst="rect">
              <a:avLst/>
            </a:prstGeom>
            <a:solidFill>
              <a:srgbClr val="01AD2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5" name="Rechteck">
              <a:extLst>
                <a:ext uri="{FF2B5EF4-FFF2-40B4-BE49-F238E27FC236}">
                  <a16:creationId xmlns:a16="http://schemas.microsoft.com/office/drawing/2014/main" id="{8167D69D-2DFE-78A9-02F3-8EFB55F6734F}"/>
                </a:ext>
              </a:extLst>
            </p:cNvPr>
            <p:cNvSpPr/>
            <p:nvPr/>
          </p:nvSpPr>
          <p:spPr>
            <a:xfrm>
              <a:off x="3632200" y="0"/>
              <a:ext cx="2870200" cy="254000"/>
            </a:xfrm>
            <a:prstGeom prst="rect">
              <a:avLst/>
            </a:prstGeom>
            <a:solidFill>
              <a:srgbClr val="DD116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6" name="Rechteck">
              <a:extLst>
                <a:ext uri="{FF2B5EF4-FFF2-40B4-BE49-F238E27FC236}">
                  <a16:creationId xmlns:a16="http://schemas.microsoft.com/office/drawing/2014/main" id="{CC181C00-9410-639F-1C6E-6450D13D9450}"/>
                </a:ext>
              </a:extLst>
            </p:cNvPr>
            <p:cNvSpPr/>
            <p:nvPr/>
          </p:nvSpPr>
          <p:spPr>
            <a:xfrm>
              <a:off x="6502400" y="0"/>
              <a:ext cx="2870200" cy="254000"/>
            </a:xfrm>
            <a:prstGeom prst="rect">
              <a:avLst/>
            </a:prstGeom>
            <a:solidFill>
              <a:srgbClr val="9314C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7" name="Rechteck">
              <a:extLst>
                <a:ext uri="{FF2B5EF4-FFF2-40B4-BE49-F238E27FC236}">
                  <a16:creationId xmlns:a16="http://schemas.microsoft.com/office/drawing/2014/main" id="{F61AC2C7-B4AB-A14D-8067-E5D36390C2A6}"/>
                </a:ext>
              </a:extLst>
            </p:cNvPr>
            <p:cNvSpPr/>
            <p:nvPr/>
          </p:nvSpPr>
          <p:spPr>
            <a:xfrm>
              <a:off x="9372600" y="0"/>
              <a:ext cx="2870200" cy="254000"/>
            </a:xfrm>
            <a:prstGeom prst="rect">
              <a:avLst/>
            </a:pr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8" name="Rechteck">
              <a:extLst>
                <a:ext uri="{FF2B5EF4-FFF2-40B4-BE49-F238E27FC236}">
                  <a16:creationId xmlns:a16="http://schemas.microsoft.com/office/drawing/2014/main" id="{D69C5A38-89CF-25C1-CBED-5455C90F3D76}"/>
                </a:ext>
              </a:extLst>
            </p:cNvPr>
            <p:cNvSpPr/>
            <p:nvPr/>
          </p:nvSpPr>
          <p:spPr>
            <a:xfrm>
              <a:off x="1224280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  <p:sp>
          <p:nvSpPr>
            <p:cNvPr id="379" name="Rechteck">
              <a:extLst>
                <a:ext uri="{FF2B5EF4-FFF2-40B4-BE49-F238E27FC236}">
                  <a16:creationId xmlns:a16="http://schemas.microsoft.com/office/drawing/2014/main" id="{DF7DC594-63F7-3DE8-5356-AD50688D43E8}"/>
                </a:ext>
              </a:extLst>
            </p:cNvPr>
            <p:cNvSpPr/>
            <p:nvPr/>
          </p:nvSpPr>
          <p:spPr>
            <a:xfrm>
              <a:off x="0" y="0"/>
              <a:ext cx="762000" cy="254000"/>
            </a:xfrm>
            <a:prstGeom prst="rect">
              <a:avLst/>
            </a:prstGeom>
            <a:solidFill>
              <a:srgbClr val="4953E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4200" b="0">
                  <a:latin typeface="Gill Sans"/>
                  <a:ea typeface="Gill Sans"/>
                  <a:cs typeface="Gill Sans"/>
                  <a:sym typeface="Gill Sans"/>
                </a:defRPr>
              </a:pPr>
              <a:endParaRPr/>
            </a:p>
          </p:txBody>
        </p:sp>
      </p:grpSp>
      <p:sp>
        <p:nvSpPr>
          <p:cNvPr id="381" name="Linie">
            <a:extLst>
              <a:ext uri="{FF2B5EF4-FFF2-40B4-BE49-F238E27FC236}">
                <a16:creationId xmlns:a16="http://schemas.microsoft.com/office/drawing/2014/main" id="{93A803F9-2365-0AAA-2F28-7AE13CAF6BF7}"/>
              </a:ext>
            </a:extLst>
          </p:cNvPr>
          <p:cNvSpPr/>
          <p:nvPr/>
        </p:nvSpPr>
        <p:spPr>
          <a:xfrm>
            <a:off x="768350" y="1193800"/>
            <a:ext cx="11474450" cy="0"/>
          </a:xfrm>
          <a:prstGeom prst="line">
            <a:avLst/>
          </a:prstGeom>
          <a:ln w="25400">
            <a:solidFill>
              <a:srgbClr val="8723C7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" name="Wie lange sollten Texte laufen?">
            <a:extLst>
              <a:ext uri="{FF2B5EF4-FFF2-40B4-BE49-F238E27FC236}">
                <a16:creationId xmlns:a16="http://schemas.microsoft.com/office/drawing/2014/main" id="{698222B5-C82B-D6AD-A5DA-6DAC60DD69F3}"/>
              </a:ext>
            </a:extLst>
          </p:cNvPr>
          <p:cNvSpPr txBox="1"/>
          <p:nvPr/>
        </p:nvSpPr>
        <p:spPr>
          <a:xfrm>
            <a:off x="768350" y="1987656"/>
            <a:ext cx="10463160" cy="6754285"/>
          </a:xfrm>
          <a:prstGeom prst="rect">
            <a:avLst/>
          </a:prstGeom>
          <a:ln w="12700">
            <a:solidFill>
              <a:schemeClr val="accent1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lvl1pPr algn="l">
              <a:lnSpc>
                <a:spcPts val="2200"/>
              </a:lnSpc>
              <a:defRPr sz="1700" b="0">
                <a:latin typeface="Roboto Slab Bold"/>
                <a:ea typeface="Roboto Slab Bold"/>
                <a:cs typeface="Roboto Slab Bold"/>
                <a:sym typeface="Roboto Slab Bold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https://www.hb.fh-muenster.de/opus4/frontdoor/deliver/index/docId/17786/file/ITB-Arbeitsberichte_Band11.pdf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https://science.orf.at/v2/stories/2941289/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https://mediakompetent.de/manipulation-mit-daten-erkennen/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https://www.visual-literacy.org</a:t>
            </a: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https://escapefake.org/de/</a:t>
            </a:r>
            <a:endParaRPr lang="de-DE" b="1">
              <a:solidFill>
                <a:schemeClr val="accent1">
                  <a:lumMod val="76000"/>
                </a:schemeClr>
              </a:solidFill>
              <a:cs typeface="Arial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https://www.fhnw.ch/plattformen/fightfakenews/</a:t>
            </a:r>
            <a:endParaRPr lang="de-DE" b="1">
              <a:solidFill>
                <a:schemeClr val="accent1">
                  <a:lumMod val="76000"/>
                </a:schemeClr>
              </a:solidFill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https://heiup.uni-heidelberg.de/journals/hdjbo/article/download/24017/17712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https://www.prometheanworld.com/de/ressourcen-center/blog/darum-ist-visuelles-lernen-so-erfolgreich/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https://www.springermedizin.de/wirkung-visueller-und-auditiver-hinweise-auf-die-visuelle-aufmer/50529098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https://www.unrealengine.com/en-US/uses/mobile-games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https://www.unrealengine.com/en-US/feed?tags=interviews%2Cmobile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https://dev.epicgames.com/community/learning/tutorials/MPDr/fab-the-unreal-engine-data-charts-plugin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https://dev.epicgames.com/documentation/en-us/unreal-engine/android-support-for-unreal-engine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https://d3js.org/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https://kotlinlang.org/docs/data-analysis-visualization.html#create-a-bar-chart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https://kotlinlang.org/docs/lets-plot.html#before-you-start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de-DE" b="1">
                <a:solidFill>
                  <a:schemeClr val="accent1">
                    <a:lumMod val="76000"/>
                  </a:schemeClr>
                </a:solidFill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https://developer.android.com/compose</a:t>
            </a: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endParaRPr lang="de-DE" b="1">
              <a:solidFill>
                <a:schemeClr val="accent1">
                  <a:lumMod val="76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endParaRPr lang="de-DE" b="1">
              <a:solidFill>
                <a:schemeClr val="accent1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4873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2089</Words>
  <Application>Microsoft Office PowerPoint</Application>
  <PresentationFormat>Benutzerdefiniert</PresentationFormat>
  <Paragraphs>779</Paragraphs>
  <Slides>19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8" baseType="lpstr">
      <vt:lpstr>Arial</vt:lpstr>
      <vt:lpstr>Calibri</vt:lpstr>
      <vt:lpstr>Helvetica Light</vt:lpstr>
      <vt:lpstr>Helvetica Neue</vt:lpstr>
      <vt:lpstr>Helvetica Neue Light</vt:lpstr>
      <vt:lpstr>Helvetica Neue Medium</vt:lpstr>
      <vt:lpstr>Helvetica Neue Thin</vt:lpstr>
      <vt:lpstr>Roboto Slab Regular</vt:lpstr>
      <vt:lpstr>White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Florian Ross</dc:creator>
  <cp:lastModifiedBy>Florian Ross</cp:lastModifiedBy>
  <cp:revision>2</cp:revision>
  <dcterms:modified xsi:type="dcterms:W3CDTF">2025-10-31T00:37:08Z</dcterms:modified>
</cp:coreProperties>
</file>