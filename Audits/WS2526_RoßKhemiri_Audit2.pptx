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85" r:id="rId3"/>
    <p:sldId id="298" r:id="rId4"/>
    <p:sldId id="278" r:id="rId5"/>
    <p:sldId id="297" r:id="rId6"/>
    <p:sldId id="284" r:id="rId7"/>
    <p:sldId id="282" r:id="rId8"/>
    <p:sldId id="291" r:id="rId9"/>
    <p:sldId id="292" r:id="rId10"/>
    <p:sldId id="293" r:id="rId11"/>
    <p:sldId id="288" r:id="rId12"/>
    <p:sldId id="299" r:id="rId13"/>
    <p:sldId id="300" r:id="rId14"/>
    <p:sldId id="301" r:id="rId15"/>
    <p:sldId id="286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008A9-BD0E-2E2C-54BF-7F10E3DE197D}" v="8" dt="2025-12-04T12:52:29.226"/>
    <p1510:client id="{5366531E-FDD7-06FC-E6A2-2C469DEEACB9}" v="1164" dt="2025-12-04T14:22:16.569"/>
    <p1510:client id="{DD38D5DA-243A-41A2-CC50-D5404B0A3A72}" v="7382" dt="2025-12-04T21:52:50.297"/>
    <p1510:client id="{E3C2755E-5C89-955C-4A60-99C91E672DC3}" v="55" dt="2025-12-04T21:47:25.68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3" name="Shape 14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16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1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Da </a:t>
            </a:r>
            <a:r>
              <a:rPr lang="en-US" dirty="0" err="1">
                <a:latin typeface="Calibri"/>
                <a:ea typeface="Calibri"/>
                <a:cs typeface="Calibri"/>
              </a:rPr>
              <a:t>im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ersten</a:t>
            </a:r>
            <a:r>
              <a:rPr lang="en-US" dirty="0">
                <a:latin typeface="Calibri"/>
                <a:ea typeface="Calibri"/>
                <a:cs typeface="Calibri"/>
              </a:rPr>
              <a:t> Audit </a:t>
            </a:r>
            <a:r>
              <a:rPr lang="en-US" dirty="0" err="1">
                <a:latin typeface="Calibri"/>
                <a:ea typeface="Calibri"/>
                <a:cs typeface="Calibri"/>
              </a:rPr>
              <a:t>genauere</a:t>
            </a:r>
            <a:r>
              <a:rPr lang="en-US" dirty="0">
                <a:latin typeface="Calibri"/>
                <a:ea typeface="Calibri"/>
                <a:cs typeface="Calibri"/>
              </a:rPr>
              <a:t> Evaluation des Trial und Error- und des </a:t>
            </a:r>
            <a:r>
              <a:rPr lang="en-US" dirty="0" err="1">
                <a:latin typeface="Calibri"/>
                <a:ea typeface="Calibri"/>
                <a:cs typeface="Calibri"/>
              </a:rPr>
              <a:t>allgemeinen</a:t>
            </a:r>
            <a:r>
              <a:rPr lang="en-US" dirty="0">
                <a:latin typeface="Calibri"/>
                <a:ea typeface="Calibri"/>
                <a:cs typeface="Calibri"/>
              </a:rPr>
              <a:t> Spiel-</a:t>
            </a:r>
            <a:r>
              <a:rPr lang="en-US" dirty="0" err="1">
                <a:latin typeface="Calibri"/>
                <a:ea typeface="Calibri"/>
                <a:cs typeface="Calibri"/>
              </a:rPr>
              <a:t>Konzepts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gewünscht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wurde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sind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wir</a:t>
            </a:r>
            <a:r>
              <a:rPr lang="en-US" dirty="0">
                <a:latin typeface="Calibri"/>
                <a:ea typeface="Calibri"/>
                <a:cs typeface="Calibri"/>
              </a:rPr>
              <a:t> am Anfang der </a:t>
            </a:r>
            <a:r>
              <a:rPr lang="en-US" dirty="0" err="1">
                <a:latin typeface="Calibri"/>
                <a:ea typeface="Calibri"/>
                <a:cs typeface="Calibri"/>
              </a:rPr>
              <a:t>Vorbereitung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zum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zweiten</a:t>
            </a:r>
            <a:r>
              <a:rPr lang="en-US" dirty="0">
                <a:latin typeface="Calibri"/>
                <a:ea typeface="Calibri"/>
                <a:cs typeface="Calibri"/>
              </a:rPr>
              <a:t> Audit </a:t>
            </a:r>
            <a:r>
              <a:rPr lang="en-US" dirty="0" err="1">
                <a:latin typeface="Calibri"/>
                <a:ea typeface="Calibri"/>
                <a:cs typeface="Calibri"/>
              </a:rPr>
              <a:t>darauf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eingegangen</a:t>
            </a:r>
            <a:r>
              <a:rPr lang="en-US" dirty="0">
                <a:latin typeface="Calibri"/>
                <a:ea typeface="Calibri"/>
                <a:cs typeface="Calibri"/>
              </a:rPr>
              <a:t>. Dabei hat die Recherche des Spiels </a:t>
            </a:r>
            <a:r>
              <a:rPr lang="en-US" dirty="0" err="1">
                <a:latin typeface="Calibri"/>
                <a:ea typeface="Calibri"/>
                <a:cs typeface="Calibri"/>
              </a:rPr>
              <a:t>als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didaktisches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Konzept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als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sehr</a:t>
            </a:r>
            <a:r>
              <a:rPr lang="en-US" dirty="0">
                <a:latin typeface="Calibri"/>
                <a:ea typeface="Calibri"/>
                <a:cs typeface="Calibri"/>
              </a:rPr>
              <a:t> gut </a:t>
            </a:r>
            <a:r>
              <a:rPr lang="en-US" dirty="0" err="1">
                <a:latin typeface="Calibri"/>
                <a:ea typeface="Calibri"/>
                <a:cs typeface="Calibri"/>
              </a:rPr>
              <a:t>geeignetes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interaktives</a:t>
            </a:r>
            <a:r>
              <a:rPr lang="en-US" dirty="0">
                <a:latin typeface="Calibri"/>
                <a:ea typeface="Calibri"/>
                <a:cs typeface="Calibri"/>
              </a:rPr>
              <a:t> Mittel </a:t>
            </a:r>
            <a:r>
              <a:rPr lang="en-US" dirty="0" err="1">
                <a:latin typeface="Calibri"/>
                <a:ea typeface="Calibri"/>
                <a:cs typeface="Calibri"/>
              </a:rPr>
              <a:t>zur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Vermittlung</a:t>
            </a:r>
            <a:r>
              <a:rPr lang="en-US" dirty="0">
                <a:latin typeface="Calibri"/>
                <a:ea typeface="Calibri"/>
                <a:cs typeface="Calibri"/>
              </a:rPr>
              <a:t> von Wissen </a:t>
            </a:r>
            <a:r>
              <a:rPr lang="en-US" dirty="0" err="1">
                <a:latin typeface="Calibri"/>
                <a:ea typeface="Calibri"/>
                <a:cs typeface="Calibri"/>
              </a:rPr>
              <a:t>darstellt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vorrausgesetzt</a:t>
            </a:r>
            <a:r>
              <a:rPr lang="en-US" dirty="0">
                <a:latin typeface="Calibri"/>
                <a:ea typeface="Calibri"/>
                <a:cs typeface="Calibri"/>
              </a:rPr>
              <a:t> es </a:t>
            </a:r>
            <a:r>
              <a:rPr lang="en-US" dirty="0" err="1">
                <a:latin typeface="Calibri"/>
                <a:ea typeface="Calibri"/>
                <a:cs typeface="Calibri"/>
              </a:rPr>
              <a:t>ist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unterhaltsam</a:t>
            </a:r>
            <a:r>
              <a:rPr lang="en-US" dirty="0">
                <a:latin typeface="Calibri"/>
                <a:ea typeface="Calibri"/>
                <a:cs typeface="Calibri"/>
              </a:rPr>
              <a:t> und </a:t>
            </a:r>
            <a:r>
              <a:rPr lang="en-US" dirty="0" err="1">
                <a:latin typeface="Calibri"/>
                <a:ea typeface="Calibri"/>
                <a:cs typeface="Calibri"/>
              </a:rPr>
              <a:t>macht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Spaß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latin typeface="Calibri"/>
                <a:ea typeface="Calibri"/>
                <a:cs typeface="Calibri"/>
              </a:rPr>
              <a:t>Im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Artefakt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zum</a:t>
            </a:r>
            <a:r>
              <a:rPr lang="en-US" dirty="0">
                <a:latin typeface="Calibri"/>
                <a:ea typeface="Calibri"/>
                <a:cs typeface="Calibri"/>
              </a:rPr>
              <a:t> Trial und Error </a:t>
            </a:r>
            <a:r>
              <a:rPr lang="en-US" dirty="0" err="1">
                <a:latin typeface="Calibri"/>
                <a:ea typeface="Calibri"/>
                <a:cs typeface="Calibri"/>
              </a:rPr>
              <a:t>als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Didaktisches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Konzept</a:t>
            </a:r>
            <a:r>
              <a:rPr lang="en-US" dirty="0">
                <a:latin typeface="Calibri"/>
                <a:ea typeface="Calibri"/>
                <a:cs typeface="Calibri"/>
              </a:rPr>
              <a:t> hat die Recherche </a:t>
            </a:r>
            <a:r>
              <a:rPr lang="en-US" dirty="0" err="1">
                <a:latin typeface="Calibri"/>
                <a:ea typeface="Calibri"/>
                <a:cs typeface="Calibri"/>
              </a:rPr>
              <a:t>gezeigt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dass</a:t>
            </a:r>
            <a:r>
              <a:rPr lang="en-US" dirty="0">
                <a:latin typeface="Calibri"/>
                <a:ea typeface="Calibri"/>
                <a:cs typeface="Calibri"/>
              </a:rPr>
              <a:t> Trial und Error </a:t>
            </a:r>
            <a:r>
              <a:rPr lang="en-US" dirty="0" err="1">
                <a:latin typeface="Calibri"/>
                <a:ea typeface="Calibri"/>
                <a:cs typeface="Calibri"/>
              </a:rPr>
              <a:t>unterstützende</a:t>
            </a:r>
            <a:r>
              <a:rPr lang="en-US" dirty="0">
                <a:latin typeface="Calibri"/>
                <a:ea typeface="Calibri"/>
                <a:cs typeface="Calibri"/>
              </a:rPr>
              <a:t> Mittel </a:t>
            </a:r>
            <a:r>
              <a:rPr lang="en-US" dirty="0" err="1">
                <a:latin typeface="Calibri"/>
                <a:ea typeface="Calibri"/>
                <a:cs typeface="Calibri"/>
              </a:rPr>
              <a:t>benötigt</a:t>
            </a:r>
            <a:r>
              <a:rPr lang="en-US" dirty="0">
                <a:latin typeface="Calibri"/>
                <a:ea typeface="Calibri"/>
                <a:cs typeface="Calibri"/>
              </a:rPr>
              <a:t> (Die mit dem Spiel und </a:t>
            </a:r>
            <a:r>
              <a:rPr lang="en-US" dirty="0" err="1">
                <a:latin typeface="Calibri"/>
                <a:ea typeface="Calibri"/>
                <a:cs typeface="Calibri"/>
              </a:rPr>
              <a:t>dessen</a:t>
            </a:r>
            <a:r>
              <a:rPr lang="en-US" dirty="0">
                <a:latin typeface="Calibri"/>
                <a:ea typeface="Calibri"/>
                <a:cs typeface="Calibri"/>
              </a:rPr>
              <a:t> Gamification </a:t>
            </a:r>
            <a:r>
              <a:rPr lang="en-US" dirty="0" err="1">
                <a:latin typeface="Calibri"/>
                <a:ea typeface="Calibri"/>
                <a:cs typeface="Calibri"/>
              </a:rPr>
              <a:t>geliefert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werden</a:t>
            </a:r>
            <a:r>
              <a:rPr lang="en-US" dirty="0">
                <a:latin typeface="Calibri"/>
                <a:ea typeface="Calibri"/>
                <a:cs typeface="Calibri"/>
              </a:rPr>
              <a:t>) um </a:t>
            </a:r>
            <a:r>
              <a:rPr lang="en-US" dirty="0" err="1">
                <a:latin typeface="Calibri"/>
                <a:ea typeface="Calibri"/>
                <a:cs typeface="Calibri"/>
              </a:rPr>
              <a:t>einen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guten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Lernerfolg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ermöglichen</a:t>
            </a:r>
            <a:r>
              <a:rPr lang="en-US" dirty="0">
                <a:latin typeface="Calibri"/>
                <a:ea typeface="Calibri"/>
                <a:cs typeface="Calibri"/>
              </a:rPr>
              <a:t>.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8285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Auflistung</a:t>
            </a:r>
            <a:r>
              <a:rPr lang="en-US">
                <a:latin typeface="Calibri"/>
                <a:ea typeface="Calibri"/>
                <a:cs typeface="Calibri"/>
              </a:rPr>
              <a:t>/Evaluation der </a:t>
            </a:r>
            <a:r>
              <a:rPr lang="en-US" err="1">
                <a:latin typeface="Calibri"/>
                <a:ea typeface="Calibri"/>
                <a:cs typeface="Calibri"/>
              </a:rPr>
              <a:t>relevanten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Statistik-Methoden</a:t>
            </a:r>
            <a:r>
              <a:rPr lang="en-US">
                <a:latin typeface="Calibri"/>
                <a:ea typeface="Calibri"/>
                <a:cs typeface="Calibri"/>
              </a:rPr>
              <a:t> auf Basis von </a:t>
            </a:r>
            <a:r>
              <a:rPr lang="en-US" err="1">
                <a:latin typeface="Calibri"/>
                <a:ea typeface="Calibri"/>
                <a:cs typeface="Calibri"/>
              </a:rPr>
              <a:t>vorheriger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ausgiebiger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Rechereche</a:t>
            </a:r>
            <a:r>
              <a:rPr lang="en-US">
                <a:latin typeface="Calibri"/>
                <a:ea typeface="Calibri"/>
                <a:cs typeface="Calibri"/>
              </a:rPr>
              <a:t> , </a:t>
            </a:r>
            <a:r>
              <a:rPr lang="en-US" err="1">
                <a:latin typeface="Calibri"/>
                <a:ea typeface="Calibri"/>
                <a:cs typeface="Calibri"/>
              </a:rPr>
              <a:t>kategorisiert</a:t>
            </a:r>
            <a:r>
              <a:rPr lang="en-US">
                <a:latin typeface="Calibri"/>
                <a:ea typeface="Calibri"/>
                <a:cs typeface="Calibri"/>
              </a:rPr>
              <a:t> in:</a:t>
            </a:r>
          </a:p>
          <a:p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Achsen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Darstellung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Methoden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sich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auf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jegliche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Art der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Veränderung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Achsen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beziehen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Visuelle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Anpassungen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Methoden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die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sich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auf das design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bzw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visuelle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umsetztung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beziehen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Verzerrung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Methoden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die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sich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auf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inhaltliche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kontextuelle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Manipulationen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beziehen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Diese wurden auf Relevanz, Umsetztbarkeit und Dynamität bewertet. Daraus resultierend wurden die wichtigsten Methoden die wir umsetzten wollen ausgewählt(gekennzeichnet mit X, jeweils 3 aus einer Kategorie, ausser Achsen Darstellung da alle, weil simpel)</a:t>
            </a:r>
            <a:endParaRPr lang="en-US"/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97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Kategorie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"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Datenverzerrung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"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stellt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natürlich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andere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Hindernisse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die rein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visuelle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Anpassung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Statistiken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Deshalb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haben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in dem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Artefakt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"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Darstellung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u.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dynamische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Umsetzung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Methoden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" Ideen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entwickelt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diese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besonderen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Statistik-Methoden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unserer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App nicht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über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Darstellungen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gezeigt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sondern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diese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dynamisch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anhand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von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gegebenen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Datensätzen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für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jede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Aufgabe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individuell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generiert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werden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können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bzw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Ob die Methode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überhaupt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allgemein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für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eine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spezifische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Statistik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möglich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Diese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Folie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zeigt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die 3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Datenverzerrungen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vertikalen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Prototyp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umsetzen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wollen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653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Wir </a:t>
            </a:r>
            <a:r>
              <a:rPr lang="en-US" err="1">
                <a:latin typeface="Calibri"/>
                <a:ea typeface="Calibri"/>
                <a:cs typeface="Calibri"/>
              </a:rPr>
              <a:t>haben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unsere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Anforderungen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überarbeitet</a:t>
            </a:r>
            <a:r>
              <a:rPr lang="en-US">
                <a:latin typeface="Calibri"/>
                <a:ea typeface="Calibri"/>
                <a:cs typeface="Calibri"/>
              </a:rPr>
              <a:t> und </a:t>
            </a:r>
            <a:r>
              <a:rPr lang="en-US" err="1">
                <a:latin typeface="Calibri"/>
                <a:ea typeface="Calibri"/>
                <a:cs typeface="Calibri"/>
              </a:rPr>
              <a:t>darus</a:t>
            </a:r>
            <a:r>
              <a:rPr lang="en-US">
                <a:latin typeface="Calibri"/>
                <a:ea typeface="Calibri"/>
                <a:cs typeface="Calibri"/>
              </a:rPr>
              <a:t> 53 </a:t>
            </a:r>
            <a:r>
              <a:rPr lang="en-US" err="1">
                <a:latin typeface="Calibri"/>
                <a:ea typeface="Calibri"/>
                <a:cs typeface="Calibri"/>
              </a:rPr>
              <a:t>Detailiertere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funktionale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Anforderungen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erstellt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Im</a:t>
            </a:r>
            <a:r>
              <a:rPr lang="en-US">
                <a:latin typeface="Calibri"/>
                <a:ea typeface="Calibri"/>
                <a:cs typeface="Calibri"/>
              </a:rPr>
              <a:t> Layout: </a:t>
            </a:r>
            <a:r>
              <a:rPr lang="en-US" err="1">
                <a:latin typeface="Calibri"/>
                <a:ea typeface="Calibri"/>
                <a:cs typeface="Calibri"/>
              </a:rPr>
              <a:t>Beschreibung</a:t>
            </a:r>
            <a:r>
              <a:rPr lang="en-US">
                <a:latin typeface="Calibri"/>
                <a:ea typeface="Calibri"/>
                <a:cs typeface="Calibri"/>
              </a:rPr>
              <a:t>, EXIT, FAIL, (Fallback))</a:t>
            </a:r>
          </a:p>
          <a:p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Diese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haben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wir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dazu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noch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Gruppiert</a:t>
            </a: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6964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Diese</a:t>
            </a:r>
            <a:r>
              <a:rPr lang="en-US" dirty="0">
                <a:latin typeface="Calibri"/>
                <a:ea typeface="Calibri"/>
                <a:cs typeface="Calibri"/>
              </a:rPr>
              <a:t> Folie </a:t>
            </a:r>
            <a:r>
              <a:rPr lang="en-US" dirty="0" err="1">
                <a:latin typeface="Calibri"/>
                <a:ea typeface="Calibri"/>
                <a:cs typeface="Calibri"/>
              </a:rPr>
              <a:t>zeigt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unsere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Projektrisiken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aufgeführt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als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Tabelle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latin typeface="Calibri"/>
                <a:ea typeface="Calibri"/>
                <a:cs typeface="Calibri"/>
              </a:rPr>
              <a:t>Im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Artefakt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sind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außerdem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ausformulierte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Projektrisiken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finden</a:t>
            </a:r>
            <a:r>
              <a:rPr lang="en-US" dirty="0"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2885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Diese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Folge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zeigt</a:t>
            </a:r>
            <a:r>
              <a:rPr lang="en-US" dirty="0">
                <a:latin typeface="Calibri"/>
                <a:ea typeface="Calibri"/>
                <a:cs typeface="Calibri"/>
              </a:rPr>
              <a:t> das POC </a:t>
            </a:r>
            <a:r>
              <a:rPr lang="en-US" dirty="0" err="1">
                <a:latin typeface="Calibri"/>
                <a:ea typeface="Calibri"/>
                <a:cs typeface="Calibri"/>
              </a:rPr>
              <a:t>zum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Projektrisiko</a:t>
            </a:r>
            <a:r>
              <a:rPr lang="en-US" dirty="0">
                <a:latin typeface="Calibri"/>
                <a:ea typeface="Calibri"/>
                <a:cs typeface="Calibri"/>
              </a:rPr>
              <a:t> R5: </a:t>
            </a:r>
            <a:r>
              <a:rPr lang="en-US" dirty="0" err="1">
                <a:latin typeface="Calibri"/>
                <a:ea typeface="Calibri"/>
                <a:cs typeface="Calibri"/>
              </a:rPr>
              <a:t>Aufgabenumfang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kann</a:t>
            </a:r>
            <a:r>
              <a:rPr lang="en-US" dirty="0">
                <a:latin typeface="Calibri"/>
                <a:ea typeface="Calibri"/>
                <a:cs typeface="Calibri"/>
              </a:rPr>
              <a:t> nicht </a:t>
            </a:r>
            <a:r>
              <a:rPr lang="en-US" dirty="0" err="1">
                <a:latin typeface="Calibri"/>
                <a:ea typeface="Calibri"/>
                <a:cs typeface="Calibri"/>
              </a:rPr>
              <a:t>vollständig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umgesetzt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werden</a:t>
            </a:r>
            <a:r>
              <a:rPr lang="en-US" dirty="0">
                <a:latin typeface="Calibri"/>
                <a:ea typeface="Calibri"/>
                <a:cs typeface="Calibri"/>
              </a:rPr>
              <a:t>.</a:t>
            </a:r>
            <a:endParaRPr lang="en-US" dirty="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5518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Folge</a:t>
            </a:r>
            <a:r>
              <a:rPr lang="en-US" dirty="0"/>
              <a:t> </a:t>
            </a:r>
            <a:r>
              <a:rPr lang="en-US" dirty="0" err="1"/>
              <a:t>zeigt</a:t>
            </a:r>
            <a:r>
              <a:rPr lang="en-US" dirty="0"/>
              <a:t> das POC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Projektrisiko</a:t>
            </a:r>
            <a:r>
              <a:rPr lang="en-US" dirty="0"/>
              <a:t> R2: Zu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Entwicklungsumfang</a:t>
            </a:r>
            <a:r>
              <a:rPr lang="en-US" dirty="0"/>
              <a:t>.</a:t>
            </a:r>
            <a:endParaRPr lang="en-US" dirty="0" err="1">
              <a:solidFill>
                <a:srgbClr val="000000"/>
              </a:solidFill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6328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Folge</a:t>
            </a:r>
            <a:r>
              <a:rPr lang="en-US" dirty="0"/>
              <a:t> </a:t>
            </a:r>
            <a:r>
              <a:rPr lang="en-US" dirty="0" err="1"/>
              <a:t>zeigt</a:t>
            </a:r>
            <a:r>
              <a:rPr lang="en-US" dirty="0"/>
              <a:t> das POC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Projektrisiko</a:t>
            </a:r>
            <a:r>
              <a:rPr lang="en-US" dirty="0"/>
              <a:t> R6: Nicht </a:t>
            </a:r>
            <a:r>
              <a:rPr lang="en-US" dirty="0" err="1"/>
              <a:t>ausreichend</a:t>
            </a:r>
            <a:r>
              <a:rPr lang="en-US" dirty="0"/>
              <a:t> </a:t>
            </a:r>
            <a:r>
              <a:rPr lang="en-US" dirty="0" err="1"/>
              <a:t>Nutzermotivation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7297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Erste (nicht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feste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Konzepte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für UI und Screen Mockups die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Vorstellung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App Navigation und 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verschiedenen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benötigten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Screens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helfen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sollen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um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sowohl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Anforderungen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PoCs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besser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formulieren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beschreiben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zu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können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Außerdem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können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die Mockups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Orientierung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zur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generellen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Struktur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App und des Spiels für die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Entwickler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dienen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6353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13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1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6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Titeltext</a:t>
            </a:r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"/>
          <p:cNvSpPr>
            <a:spLocks noGrp="1"/>
          </p:cNvSpPr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el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Titeltext</a:t>
            </a:r>
          </a:p>
        </p:txBody>
      </p:sp>
      <p:sp>
        <p:nvSpPr>
          <p:cNvPr id="22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M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3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ild"/>
          <p:cNvSpPr>
            <a:spLocks noGrp="1"/>
          </p:cNvSpPr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el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Titeltext</a:t>
            </a:r>
          </a:p>
        </p:txBody>
      </p:sp>
      <p:sp>
        <p:nvSpPr>
          <p:cNvPr id="40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4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57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8" name="Rechteck"/>
          <p:cNvSpPr/>
          <p:nvPr/>
        </p:nvSpPr>
        <p:spPr>
          <a:xfrm>
            <a:off x="-87859" y="-876298"/>
            <a:ext cx="11651941" cy="1072156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Aufzählung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Bild"/>
          <p:cNvSpPr>
            <a:spLocks noGrp="1"/>
          </p:cNvSpPr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7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68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9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ebene 1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ild"/>
          <p:cNvSpPr>
            <a:spLocks noGrp="1"/>
          </p:cNvSpPr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Bild"/>
          <p:cNvSpPr>
            <a:spLocks noGrp="1"/>
          </p:cNvSpPr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Bild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–Christian Bauer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–Christian Bauer</a:t>
            </a:r>
          </a:p>
        </p:txBody>
      </p:sp>
      <p:sp>
        <p:nvSpPr>
          <p:cNvPr id="95" name="„Zitat hier eingeben.“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„Zitat hier eingeben.“ </a:t>
            </a:r>
          </a:p>
        </p:txBody>
      </p:sp>
      <p:sp>
        <p:nvSpPr>
          <p:cNvPr id="9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Bild"/>
          <p:cNvSpPr>
            <a:spLocks noGrp="1"/>
          </p:cNvSpPr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el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Titeltext</a:t>
            </a:r>
          </a:p>
        </p:txBody>
      </p:sp>
      <p:grpSp>
        <p:nvGrpSpPr>
          <p:cNvPr id="122" name="Gruppieren"/>
          <p:cNvGrpSpPr/>
          <p:nvPr/>
        </p:nvGrpSpPr>
        <p:grpSpPr>
          <a:xfrm>
            <a:off x="1285431" y="-1"/>
            <a:ext cx="11724801" cy="102401"/>
            <a:chOff x="0" y="0"/>
            <a:chExt cx="11724800" cy="102399"/>
          </a:xfrm>
        </p:grpSpPr>
        <p:sp>
          <p:nvSpPr>
            <p:cNvPr id="119" name="Rechteck"/>
            <p:cNvSpPr/>
            <p:nvPr/>
          </p:nvSpPr>
          <p:spPr>
            <a:xfrm>
              <a:off x="-1" y="-1"/>
              <a:ext cx="3891201" cy="102401"/>
            </a:xfrm>
            <a:prstGeom prst="rect">
              <a:avLst/>
            </a:prstGeom>
            <a:solidFill>
              <a:srgbClr val="AA0F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0" name="Rechteck"/>
            <p:cNvSpPr/>
            <p:nvPr/>
          </p:nvSpPr>
          <p:spPr>
            <a:xfrm>
              <a:off x="3891200" y="-1"/>
              <a:ext cx="3891201" cy="102401"/>
            </a:xfrm>
            <a:prstGeom prst="rect">
              <a:avLst/>
            </a:prstGeom>
            <a:solidFill>
              <a:srgbClr val="D747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1" name="Rechteck"/>
            <p:cNvSpPr/>
            <p:nvPr/>
          </p:nvSpPr>
          <p:spPr>
            <a:xfrm>
              <a:off x="7782400" y="-1"/>
              <a:ext cx="3942401" cy="102401"/>
            </a:xfrm>
            <a:prstGeom prst="rect">
              <a:avLst/>
            </a:prstGeom>
            <a:solidFill>
              <a:srgbClr val="901B6E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23" name="Logo_17pt.wmf" descr="Logo_17pt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500" y="8573622"/>
            <a:ext cx="1492393" cy="869245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el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Titeltext</a:t>
            </a:r>
          </a:p>
        </p:txBody>
      </p:sp>
      <p:grpSp>
        <p:nvGrpSpPr>
          <p:cNvPr id="135" name="Gruppieren"/>
          <p:cNvGrpSpPr/>
          <p:nvPr/>
        </p:nvGrpSpPr>
        <p:grpSpPr>
          <a:xfrm>
            <a:off x="1285431" y="-1"/>
            <a:ext cx="11724801" cy="102401"/>
            <a:chOff x="0" y="0"/>
            <a:chExt cx="11724800" cy="102399"/>
          </a:xfrm>
        </p:grpSpPr>
        <p:sp>
          <p:nvSpPr>
            <p:cNvPr id="132" name="Rechteck"/>
            <p:cNvSpPr/>
            <p:nvPr/>
          </p:nvSpPr>
          <p:spPr>
            <a:xfrm>
              <a:off x="-1" y="-1"/>
              <a:ext cx="3891201" cy="102401"/>
            </a:xfrm>
            <a:prstGeom prst="rect">
              <a:avLst/>
            </a:prstGeom>
            <a:solidFill>
              <a:srgbClr val="AA0F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3" name="Rechteck"/>
            <p:cNvSpPr/>
            <p:nvPr/>
          </p:nvSpPr>
          <p:spPr>
            <a:xfrm>
              <a:off x="3891200" y="-1"/>
              <a:ext cx="3891201" cy="102401"/>
            </a:xfrm>
            <a:prstGeom prst="rect">
              <a:avLst/>
            </a:prstGeom>
            <a:solidFill>
              <a:srgbClr val="D747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4" name="Rechteck"/>
            <p:cNvSpPr/>
            <p:nvPr/>
          </p:nvSpPr>
          <p:spPr>
            <a:xfrm>
              <a:off x="7782400" y="-1"/>
              <a:ext cx="3942401" cy="102401"/>
            </a:xfrm>
            <a:prstGeom prst="rect">
              <a:avLst/>
            </a:prstGeom>
            <a:solidFill>
              <a:srgbClr val="901B6E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13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Titeltext</a:t>
            </a:r>
          </a:p>
        </p:txBody>
      </p:sp>
      <p:sp>
        <p:nvSpPr>
          <p:cNvPr id="3" name="Textebene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hf hdr="0" ftr="0" dt="0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journals.sagepub.com/doi/full/10.1177/2515245917745629" TargetMode="External"/><Relationship Id="rId3" Type="http://schemas.openxmlformats.org/officeDocument/2006/relationships/hyperlink" Target="https://smart.dhgate.com/small-sample-size-why-its-bad-for-research-outcomes/" TargetMode="External"/><Relationship Id="rId7" Type="http://schemas.openxmlformats.org/officeDocument/2006/relationships/hyperlink" Target="https://pmc.ncbi.nlm.nih.gov/articles/PMC7419489/" TargetMode="External"/><Relationship Id="rId12" Type="http://schemas.openxmlformats.org/officeDocument/2006/relationships/hyperlink" Target="https://www.sciencedirect.com/science/chapter/bookseries/abs/pii/B9780123876911000028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clearerthinking.org/post/are-you-being-misled-by-statistics" TargetMode="External"/><Relationship Id="rId11" Type="http://schemas.openxmlformats.org/officeDocument/2006/relationships/hyperlink" Target="https://uwaterloo.ca/centre-for-teaching-excellence/catalogs/tip-sheets/gamification-and-game-based-learning" TargetMode="External"/><Relationship Id="rId5" Type="http://schemas.openxmlformats.org/officeDocument/2006/relationships/hyperlink" Target="https://pmc.ncbi.nlm.nih.gov/articles/PMC9645302/" TargetMode="External"/><Relationship Id="rId10" Type="http://schemas.openxmlformats.org/officeDocument/2006/relationships/hyperlink" Target="https://experientiallearninginstitute.org/what-is-experiential-learning/" TargetMode="External"/><Relationship Id="rId4" Type="http://schemas.openxmlformats.org/officeDocument/2006/relationships/hyperlink" Target="https://designbuddy.substack.com/p/intent-frame" TargetMode="External"/><Relationship Id="rId9" Type="http://schemas.openxmlformats.org/officeDocument/2006/relationships/hyperlink" Target="https://www.clearinghouse.edu.tum.de/spielbasiertes-lernen/spielbasiertes-lernen-und-motivation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journals.oslomet.no/index.php/techneA/article/view/4391" TargetMode="External"/><Relationship Id="rId13" Type="http://schemas.openxmlformats.org/officeDocument/2006/relationships/hyperlink" Target="https://www.sciencedirect.com/science/article/pii/S074756321630855X" TargetMode="External"/><Relationship Id="rId3" Type="http://schemas.openxmlformats.org/officeDocument/2006/relationships/hyperlink" Target="https://de.duolingo.com/" TargetMode="External"/><Relationship Id="rId7" Type="http://schemas.openxmlformats.org/officeDocument/2006/relationships/hyperlink" Target="https://link.springer.com/article/10.1007/s10648-025-10071-x" TargetMode="External"/><Relationship Id="rId12" Type="http://schemas.openxmlformats.org/officeDocument/2006/relationships/hyperlink" Target="https://www.frontiersin.org/journals/psychology/articles/10.3389/fpsyg.2022.1073985/ful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research.autodesk.com/publications/supercharging-trial-and-error-for-learning-complex-software-applications/" TargetMode="External"/><Relationship Id="rId11" Type="http://schemas.openxmlformats.org/officeDocument/2006/relationships/hyperlink" Target="https://www.mdpi.com/2227-7102/14/4/367" TargetMode="External"/><Relationship Id="rId5" Type="http://schemas.openxmlformats.org/officeDocument/2006/relationships/hyperlink" Target="https://www.brainscape.com/" TargetMode="External"/><Relationship Id="rId10" Type="http://schemas.openxmlformats.org/officeDocument/2006/relationships/hyperlink" Target="https://pubmed.ncbi.nlm.nih.gov/32565668/" TargetMode="External"/><Relationship Id="rId4" Type="http://schemas.openxmlformats.org/officeDocument/2006/relationships/hyperlink" Target="https://kahoot.it/" TargetMode="External"/><Relationship Id="rId9" Type="http://schemas.openxmlformats.org/officeDocument/2006/relationships/hyperlink" Target="https://link.springer.com/article/10.1007/s11423-022-10104-0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8023157/" TargetMode="External"/><Relationship Id="rId3" Type="http://schemas.openxmlformats.org/officeDocument/2006/relationships/hyperlink" Target="https://www.researchgate.net/publication/362443721_GAMIFICATION_ELEMENTS_AND_ITS_IMPACT_ON_STUDENTS" TargetMode="External"/><Relationship Id="rId7" Type="http://schemas.openxmlformats.org/officeDocument/2006/relationships/hyperlink" Target="https://link.springer.com/article/10.1007/s40429-024-00595-7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visualitics.it/gamification-data-visualization/?lang=en" TargetMode="External"/><Relationship Id="rId11" Type="http://schemas.openxmlformats.org/officeDocument/2006/relationships/hyperlink" Target="https://www.gamified.uk/2014/07/08/flow-gamification-misunderstanding/" TargetMode="External"/><Relationship Id="rId5" Type="http://schemas.openxmlformats.org/officeDocument/2006/relationships/hyperlink" Target="https://www.tandfonline.com/doi/full/10.1080/10447318.2022.2041909#d1e1103" TargetMode="External"/><Relationship Id="rId10" Type="http://schemas.openxmlformats.org/officeDocument/2006/relationships/hyperlink" Target="https://www.sciencedirect.com/science/article/pii/S0747563221002867#bib3" TargetMode="External"/><Relationship Id="rId4" Type="http://schemas.openxmlformats.org/officeDocument/2006/relationships/hyperlink" Target="https://www.frontiersin.org/journals/psychology/articles/10.3389/fpsyg.2022.1073985/full" TargetMode="External"/><Relationship Id="rId9" Type="http://schemas.openxmlformats.org/officeDocument/2006/relationships/hyperlink" Target="https://www.sciencedirect.com/science/article/abs/pii/S1567422324000140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133"/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46" name="21"/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47" name="133"/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48" name="21"/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49" name="133"/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0" name="21"/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1" name="133"/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2" name="21"/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3" name="133"/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4" name="21"/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5" name="133"/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6" name="67"/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157" name="53"/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58" name="21"/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9" name="53"/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0" name="21"/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1" name="53"/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2" name="21"/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3" name="53"/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4" name="21"/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5" name="53"/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6" name="21"/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7" name="53"/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8" name="21"/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9" name="53"/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70" name="21"/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71" name="53"/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72" name="21"/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73" name="53"/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78" name="Rechteck"/>
          <p:cNvSpPr/>
          <p:nvPr/>
        </p:nvSpPr>
        <p:spPr>
          <a:xfrm>
            <a:off x="0" y="9626737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81" name="Linie"/>
          <p:cNvSpPr/>
          <p:nvPr/>
        </p:nvSpPr>
        <p:spPr>
          <a:xfrm>
            <a:off x="762000" y="432435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83" name="Advanced Media Institute"/>
          <p:cNvSpPr txBox="1"/>
          <p:nvPr/>
        </p:nvSpPr>
        <p:spPr>
          <a:xfrm>
            <a:off x="768350" y="3664652"/>
            <a:ext cx="9512301" cy="373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b="1"/>
              <a:t>Data </a:t>
            </a:r>
            <a:r>
              <a:rPr lang="de-DE" b="1" err="1"/>
              <a:t>Detective</a:t>
            </a:r>
            <a:r>
              <a:rPr lang="de-DE" b="1"/>
              <a:t> – Audit 2</a:t>
            </a:r>
            <a:endParaRPr b="1"/>
          </a:p>
        </p:txBody>
      </p:sp>
      <p:sp>
        <p:nvSpPr>
          <p:cNvPr id="5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DE8316C1-927E-D972-FC8F-4B2D95B29C39}"/>
              </a:ext>
            </a:extLst>
          </p:cNvPr>
          <p:cNvSpPr txBox="1"/>
          <p:nvPr/>
        </p:nvSpPr>
        <p:spPr>
          <a:xfrm>
            <a:off x="768350" y="4617165"/>
            <a:ext cx="11478332" cy="747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Entwicklungsprojekt</a:t>
            </a:r>
            <a:r>
              <a:rPr lang="en-US"/>
              <a:t> WS 25/26 </a:t>
            </a:r>
          </a:p>
          <a:p>
            <a:r>
              <a:rPr lang="en-US"/>
              <a:t>von Florian </a:t>
            </a:r>
            <a:r>
              <a:rPr lang="en-US" err="1"/>
              <a:t>Roß</a:t>
            </a:r>
            <a:r>
              <a:rPr lang="en-US"/>
              <a:t> und Karim Khemiri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ABF7FA-A7C2-4887-2B6A-657E227C30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8C7D-58DB-5545-3ABC-DA33A08E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67CE85D9-F6D8-33BC-AB36-863A6DCC084F}"/>
              </a:ext>
            </a:extLst>
          </p:cNvPr>
          <p:cNvSpPr txBox="1"/>
          <p:nvPr/>
        </p:nvSpPr>
        <p:spPr>
          <a:xfrm>
            <a:off x="766967" y="778217"/>
            <a:ext cx="2548775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dirty="0" err="1"/>
              <a:t>Inhaltsverzeichniss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0A554A99-653E-FF22-31E2-120ADBE26ABC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443ACAB8-321E-3FAB-7163-6DEFAB88E402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D0A37020-C3D4-A51F-8BFA-929AC365285F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2403B48F-B31D-7135-25D7-87C9EF4518B0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2B74CB59-7C2A-D1C2-7BC8-55F0A65199E7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10DC9006-B54C-9E49-52A2-219A852293E7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25E54088-064A-5E7F-63DD-2E4EAF26539C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445762E8-2B62-0A5C-806B-323406EE5E8F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30A7D652-FCFE-EF03-B112-FEC17874CF4F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E8588F48-07A2-87B4-5520-16C12484063F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C77469EA-724F-E32E-10DF-EBDF9F07C5A2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60E4A57A-EAA1-FA0A-AEE6-C8D6B17F203E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182B7793-B519-258C-B03E-A94362833AF4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2E72AF66-FED8-F14B-C062-34FD86CFF65E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1D5CC136-B2AE-2D6F-CB4B-63D5E0CEE7A8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40C1C59F-3B26-6278-591E-E69A5755BF0E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EC18762D-1E51-CF3E-68A0-BA3136FB3FB2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AD53138B-7322-8EA6-FE44-3BA86BE55FA4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AB77C628-89E7-CA0A-596B-ACF6D72AA06A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F3A7D920-70DB-2EF3-9835-C1E0C280EBE8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E316F6C6-EF9B-3752-224A-861D8A1B77C9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4B6CC3FA-6FE9-BC1F-FFF8-E262E71E8E9F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0989EB16-9ADF-5B9F-380C-D547C3661A81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4204AEF2-8131-014D-E4F7-E0E19957F491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DB93AE43-9B26-E331-0556-8AAE9BB6AD36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265E6FD7-86B5-3317-80A9-E9BDE2B9BDFC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A72C8523-7024-E0E1-EC0F-DBD6429D921A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DDCA3F95-004F-36DE-E5BB-CF607DFF3B4D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9426BFDE-F494-81B8-8B1F-459A9234822C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82CE5A2B-38DE-E80F-D414-DBDCF00D50E6}"/>
              </a:ext>
            </a:extLst>
          </p:cNvPr>
          <p:cNvSpPr/>
          <p:nvPr/>
        </p:nvSpPr>
        <p:spPr>
          <a:xfrm>
            <a:off x="794973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915DDFD4-E602-AEEC-F2F3-11A0988EA39E}"/>
              </a:ext>
            </a:extLst>
          </p:cNvPr>
          <p:cNvSpPr txBox="1"/>
          <p:nvPr/>
        </p:nvSpPr>
        <p:spPr>
          <a:xfrm>
            <a:off x="768350" y="1781799"/>
            <a:ext cx="11478332" cy="452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100" err="1">
                <a:solidFill>
                  <a:srgbClr val="000000"/>
                </a:solidFill>
              </a:rPr>
              <a:t>Didaktische</a:t>
            </a:r>
            <a:r>
              <a:rPr lang="en-US" sz="2100" dirty="0">
                <a:solidFill>
                  <a:srgbClr val="000000"/>
                </a:solidFill>
              </a:rPr>
              <a:t> </a:t>
            </a:r>
            <a:r>
              <a:rPr lang="en-US" sz="2100" err="1">
                <a:solidFill>
                  <a:srgbClr val="000000"/>
                </a:solidFill>
              </a:rPr>
              <a:t>Begründung</a:t>
            </a:r>
            <a:r>
              <a:rPr lang="en-US" sz="2100" dirty="0">
                <a:solidFill>
                  <a:srgbClr val="000000"/>
                </a:solidFill>
              </a:rPr>
              <a:t> und Gamification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100" err="1">
                <a:solidFill>
                  <a:srgbClr val="000000"/>
                </a:solidFill>
              </a:rPr>
              <a:t>Statistik</a:t>
            </a:r>
            <a:r>
              <a:rPr lang="en-US" sz="2100" dirty="0">
                <a:solidFill>
                  <a:srgbClr val="000000"/>
                </a:solidFill>
              </a:rPr>
              <a:t>-</a:t>
            </a:r>
            <a:r>
              <a:rPr lang="en-US" sz="2100" err="1">
                <a:solidFill>
                  <a:srgbClr val="000000"/>
                </a:solidFill>
              </a:rPr>
              <a:t>Methoden</a:t>
            </a:r>
            <a:r>
              <a:rPr lang="en-US" sz="2100" dirty="0">
                <a:solidFill>
                  <a:srgbClr val="000000"/>
                </a:solidFill>
              </a:rPr>
              <a:t>-Evaluation (2)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100" dirty="0" err="1">
                <a:solidFill>
                  <a:srgbClr val="000000"/>
                </a:solidFill>
              </a:rPr>
              <a:t>Dynamische</a:t>
            </a:r>
            <a:r>
              <a:rPr lang="en-US" sz="2100" dirty="0">
                <a:solidFill>
                  <a:srgbClr val="000000"/>
                </a:solidFill>
              </a:rPr>
              <a:t> </a:t>
            </a:r>
            <a:r>
              <a:rPr lang="en-US" sz="2100" dirty="0" err="1">
                <a:solidFill>
                  <a:srgbClr val="000000"/>
                </a:solidFill>
              </a:rPr>
              <a:t>Umsetzung</a:t>
            </a:r>
            <a:endParaRPr lang="en-US" sz="21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100" dirty="0" err="1">
                <a:solidFill>
                  <a:srgbClr val="000000"/>
                </a:solidFill>
              </a:rPr>
              <a:t>Funktionale</a:t>
            </a:r>
            <a:r>
              <a:rPr lang="en-US" sz="2100" dirty="0">
                <a:solidFill>
                  <a:srgbClr val="000000"/>
                </a:solidFill>
              </a:rPr>
              <a:t> </a:t>
            </a:r>
            <a:r>
              <a:rPr lang="en-US" sz="2100" dirty="0" err="1">
                <a:solidFill>
                  <a:srgbClr val="000000"/>
                </a:solidFill>
              </a:rPr>
              <a:t>Anforderungen</a:t>
            </a:r>
            <a:endParaRPr lang="en-US" sz="21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100" dirty="0" err="1">
                <a:solidFill>
                  <a:srgbClr val="000000"/>
                </a:solidFill>
              </a:rPr>
              <a:t>Projektrisiken</a:t>
            </a:r>
            <a:endParaRPr lang="en-US" sz="21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Proof of Concepts (3)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21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Bonus: UI-Mockups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21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2100" b="1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2100" b="1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21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21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2100" dirty="0">
              <a:solidFill>
                <a:srgbClr val="000000"/>
              </a:solidFill>
            </a:endParaRP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D015C6BD-21AF-D395-735C-A354C1A46DBB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FA9FAF-E28F-0751-5AFB-97C9C7657D8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0623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7815C-D24B-5363-3E7D-34EDCAC51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87F69CF6-862D-3D25-1065-9BCD4348C578}"/>
              </a:ext>
            </a:extLst>
          </p:cNvPr>
          <p:cNvSpPr txBox="1"/>
          <p:nvPr/>
        </p:nvSpPr>
        <p:spPr>
          <a:xfrm>
            <a:off x="766967" y="778217"/>
            <a:ext cx="5480668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Didaktische</a:t>
            </a:r>
            <a:r>
              <a:rPr lang="en-US"/>
              <a:t> </a:t>
            </a:r>
            <a:r>
              <a:rPr lang="en-US" err="1"/>
              <a:t>Begründung</a:t>
            </a:r>
            <a:r>
              <a:rPr lang="en-US"/>
              <a:t> und Gamification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0CC5D344-1CC7-CE70-4179-32E1214E8122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8AB45337-09C6-A186-8DB0-2CC85BA6A1DB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B561F1DE-CB18-48B6-413F-2FA999EBC07E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CF781C21-F9F9-77AB-DA4D-A20DAE270CF4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306383E0-55B3-0490-2381-7EFEF987046C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A48B07C4-75A9-98D8-ABB6-3A368F240529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317C177F-A499-4F6C-73E9-0A2B64075CC7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9AA657AB-83E8-3777-4605-BF09E669B4FC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7EF4A070-D271-359C-91C2-8DFE373412BF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CBAB9A09-80FA-F66E-B006-C5FF106E0F8A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9241ADC0-97BD-FC78-863B-5C623676E94F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53F8C10C-09E9-A367-6224-1CD42FD09959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7B6B5439-A2FF-0B10-B2DE-1679B1C18ECA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FDC28F35-E51D-9C41-C172-78BB3708354E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80CAF47F-6C92-AE59-BF87-AF37C8560972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D3259E6F-ACA0-5CFE-42BA-91815A48CCAC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69539360-3360-DAEB-2537-CB5DA2E23E2E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19B2C946-129B-1B94-61B6-75E7F760BE92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4BCEFC14-C1B6-26CC-7216-BF4D1AE34094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A85615F6-4805-18D5-DCF3-177E87DA1532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6D8FDFBF-9116-1482-9B10-002558AB6C07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E2952DAB-5AE3-B625-4D69-9B954479F357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45BC7AD2-E94B-814A-9E6F-7DE27A06ED35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CA48F10E-60A2-C243-20DF-D495860FD9B0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09B65DC5-6474-1559-88AC-F4736658E046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11A917A8-7792-5366-8DE9-AF6E12920304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1D644428-C1CB-D4CA-756B-9B41812EF3F5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FA2E635C-99FF-D3C1-07C0-B3259A06FC8F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DA890F17-26DA-5F1C-9F6D-AB836CF6623B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B23210A2-407C-1C99-AF84-0F57D795274B}"/>
              </a:ext>
            </a:extLst>
          </p:cNvPr>
          <p:cNvSpPr/>
          <p:nvPr/>
        </p:nvSpPr>
        <p:spPr>
          <a:xfrm>
            <a:off x="794973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06BFFE5C-7274-9BF2-2213-886C722A8AA9}"/>
              </a:ext>
            </a:extLst>
          </p:cNvPr>
          <p:cNvSpPr txBox="1"/>
          <p:nvPr/>
        </p:nvSpPr>
        <p:spPr>
          <a:xfrm>
            <a:off x="768350" y="2455264"/>
            <a:ext cx="11478332" cy="529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/>
              <a:t>Evaluation:</a:t>
            </a: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>
                <a:latin typeface="PT Sans"/>
              </a:rPr>
              <a:t>Trial und Error </a:t>
            </a:r>
            <a:r>
              <a:rPr lang="en-US" err="1">
                <a:latin typeface="PT Sans"/>
              </a:rPr>
              <a:t>ist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nur</a:t>
            </a:r>
            <a:r>
              <a:rPr lang="en-US">
                <a:latin typeface="PT Sans"/>
              </a:rPr>
              <a:t> </a:t>
            </a:r>
            <a:r>
              <a:rPr lang="en-US" err="1">
                <a:latin typeface="PT Sans"/>
              </a:rPr>
              <a:t>unter</a:t>
            </a:r>
            <a:r>
              <a:rPr lang="en-US">
                <a:latin typeface="PT Sans"/>
              </a:rPr>
              <a:t> </a:t>
            </a:r>
            <a:r>
              <a:rPr lang="en-US" err="1">
                <a:latin typeface="PT Sans"/>
              </a:rPr>
              <a:t>Bedingungen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gute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Lernmethode</a:t>
            </a:r>
            <a:endParaRPr lang="en-US">
              <a:latin typeface="PT Sans"/>
            </a:endParaRP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err="1">
                <a:latin typeface="PT Sans"/>
              </a:rPr>
              <a:t>Unterstützende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Faktoren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benötigt</a:t>
            </a:r>
            <a:r>
              <a:rPr lang="en-US">
                <a:latin typeface="PT Sans"/>
              </a:rPr>
              <a:t> um den </a:t>
            </a:r>
            <a:r>
              <a:rPr lang="en-US" err="1">
                <a:latin typeface="PT Sans"/>
              </a:rPr>
              <a:t>Prozess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effizienter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gestalten</a:t>
            </a: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>
                <a:latin typeface="PT Sans"/>
              </a:rPr>
              <a:t>Die </a:t>
            </a:r>
            <a:r>
              <a:rPr lang="en-US" err="1">
                <a:latin typeface="PT Sans"/>
              </a:rPr>
              <a:t>Kombination</a:t>
            </a:r>
            <a:r>
              <a:rPr lang="en-US">
                <a:latin typeface="PT Sans"/>
              </a:rPr>
              <a:t> von </a:t>
            </a:r>
            <a:r>
              <a:rPr lang="en-US" err="1">
                <a:latin typeface="PT Sans"/>
              </a:rPr>
              <a:t>explorativem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erfahrungsorientiertem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Lernen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mit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strukturierter</a:t>
            </a:r>
            <a:r>
              <a:rPr lang="en-US">
                <a:latin typeface="PT Sans"/>
              </a:rPr>
              <a:t> Praxis (</a:t>
            </a:r>
            <a:r>
              <a:rPr lang="en-US" err="1">
                <a:latin typeface="PT Sans"/>
              </a:rPr>
              <a:t>wie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Spiele</a:t>
            </a:r>
            <a:r>
              <a:rPr lang="en-US">
                <a:latin typeface="PT Sans"/>
              </a:rPr>
              <a:t>) </a:t>
            </a:r>
            <a:r>
              <a:rPr lang="en-US" err="1">
                <a:latin typeface="PT Sans"/>
              </a:rPr>
              <a:t>erzielt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dabei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gerade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bei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komplexem</a:t>
            </a:r>
            <a:r>
              <a:rPr lang="en-US">
                <a:latin typeface="PT Sans"/>
              </a:rPr>
              <a:t> Wissen </a:t>
            </a:r>
            <a:r>
              <a:rPr lang="en-US" err="1">
                <a:latin typeface="PT Sans"/>
              </a:rPr>
              <a:t>bessere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Lernresultate</a:t>
            </a:r>
            <a:endParaRPr lang="en-US"/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err="1">
                <a:latin typeface="PT Sans"/>
              </a:rPr>
              <a:t>Spiele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allgemein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erhöhen</a:t>
            </a:r>
            <a:r>
              <a:rPr lang="en-US">
                <a:latin typeface="PT Sans"/>
              </a:rPr>
              <a:t> den </a:t>
            </a:r>
            <a:r>
              <a:rPr lang="en-US" err="1">
                <a:latin typeface="PT Sans"/>
              </a:rPr>
              <a:t>Lernerfolg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drastisch</a:t>
            </a:r>
            <a:r>
              <a:rPr lang="en-US">
                <a:latin typeface="PT Sans"/>
              </a:rPr>
              <a:t> je </a:t>
            </a:r>
            <a:r>
              <a:rPr lang="en-US" err="1">
                <a:latin typeface="PT Sans"/>
              </a:rPr>
              <a:t>mehr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Spaß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sie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machen</a:t>
            </a:r>
            <a:endParaRPr lang="en-US">
              <a:latin typeface="PT Sans"/>
            </a:endParaRPr>
          </a:p>
          <a:p>
            <a:endParaRPr lang="en-US"/>
          </a:p>
          <a:p>
            <a:r>
              <a:rPr lang="en-US" err="1"/>
              <a:t>Umsetzung</a:t>
            </a:r>
            <a:r>
              <a:rPr lang="en-US"/>
              <a:t>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Für </a:t>
            </a:r>
            <a:r>
              <a:rPr lang="en-US" err="1">
                <a:latin typeface="PT Sans"/>
              </a:rPr>
              <a:t>Lernmotivation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Spielspaß</a:t>
            </a:r>
            <a:r>
              <a:rPr lang="en-US">
                <a:latin typeface="PT Sans"/>
              </a:rPr>
              <a:t> muss das </a:t>
            </a:r>
            <a:r>
              <a:rPr lang="en-US" err="1">
                <a:latin typeface="PT Sans"/>
              </a:rPr>
              <a:t>didaktische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Konzept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durch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Beispiele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erweitert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 die </a:t>
            </a:r>
            <a:r>
              <a:rPr lang="en-US" err="1">
                <a:latin typeface="PT Sans"/>
              </a:rPr>
              <a:t>durch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relevante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Interessante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Inhalte</a:t>
            </a:r>
            <a:r>
              <a:rPr lang="en-US">
                <a:latin typeface="PT Sans"/>
              </a:rPr>
              <a:t> den </a:t>
            </a:r>
            <a:r>
              <a:rPr lang="en-US" err="1">
                <a:latin typeface="PT Sans"/>
              </a:rPr>
              <a:t>Nutzer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ansprechen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Ein Tutorial </a:t>
            </a:r>
            <a:r>
              <a:rPr lang="en-US" err="1">
                <a:latin typeface="PT Sans"/>
              </a:rPr>
              <a:t>wird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benötigt</a:t>
            </a:r>
            <a:r>
              <a:rPr lang="en-US">
                <a:latin typeface="PT Sans"/>
              </a:rPr>
              <a:t> um </a:t>
            </a:r>
            <a:r>
              <a:rPr lang="en-US" err="1">
                <a:latin typeface="PT Sans"/>
              </a:rPr>
              <a:t>Daten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Statistik-Methoden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greifbar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machen</a:t>
            </a:r>
            <a:r>
              <a:rPr lang="en-US">
                <a:latin typeface="PT Sans"/>
              </a:rPr>
              <a:t>, an das Thema </a:t>
            </a:r>
            <a:r>
              <a:rPr lang="en-US" err="1">
                <a:latin typeface="PT Sans"/>
              </a:rPr>
              <a:t>heranzuführen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Grundwissen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vermitteln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 err="1">
                <a:latin typeface="PT Sans"/>
              </a:rPr>
              <a:t>Inhalte</a:t>
            </a:r>
            <a:r>
              <a:rPr lang="en-US">
                <a:latin typeface="PT Sans"/>
              </a:rPr>
              <a:t> 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mit</a:t>
            </a:r>
            <a:r>
              <a:rPr lang="en-US">
                <a:latin typeface="PT Sans"/>
              </a:rPr>
              <a:t> </a:t>
            </a:r>
            <a:r>
              <a:rPr lang="en-US" err="1">
                <a:latin typeface="PT Sans"/>
              </a:rPr>
              <a:t>Referenzen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historischen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oder</a:t>
            </a:r>
            <a:r>
              <a:rPr lang="en-US">
                <a:latin typeface="PT Sans"/>
              </a:rPr>
              <a:t> </a:t>
            </a:r>
            <a:r>
              <a:rPr lang="en-US" err="1">
                <a:latin typeface="PT Sans"/>
              </a:rPr>
              <a:t>relevanten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Daten</a:t>
            </a:r>
            <a:r>
              <a:rPr lang="en-US">
                <a:latin typeface="PT Sans"/>
              </a:rPr>
              <a:t> in </a:t>
            </a:r>
            <a:r>
              <a:rPr lang="en-US" err="1">
                <a:latin typeface="PT Sans"/>
              </a:rPr>
              <a:t>Verbindung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gebracht</a:t>
            </a:r>
            <a:r>
              <a:rPr lang="en-US">
                <a:latin typeface="PT Sans"/>
              </a:rPr>
              <a:t>.</a:t>
            </a: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 err="1">
                <a:latin typeface="PT Sans"/>
              </a:rPr>
              <a:t>Aufgaben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müssen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Erklärungen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bieten</a:t>
            </a:r>
            <a:r>
              <a:rPr lang="en-US">
                <a:latin typeface="PT Sans"/>
              </a:rPr>
              <a:t> falls der </a:t>
            </a:r>
            <a:r>
              <a:rPr lang="en-US" err="1">
                <a:latin typeface="PT Sans"/>
              </a:rPr>
              <a:t>Nutzer</a:t>
            </a:r>
            <a:r>
              <a:rPr lang="en-US">
                <a:latin typeface="PT Sans"/>
              </a:rPr>
              <a:t> die </a:t>
            </a:r>
            <a:r>
              <a:rPr lang="en-US" err="1">
                <a:latin typeface="PT Sans"/>
              </a:rPr>
              <a:t>Auflösung</a:t>
            </a:r>
            <a:r>
              <a:rPr lang="en-US">
                <a:latin typeface="PT Sans"/>
              </a:rPr>
              <a:t> nicht </a:t>
            </a:r>
            <a:r>
              <a:rPr lang="en-US" err="1">
                <a:latin typeface="PT Sans"/>
              </a:rPr>
              <a:t>versteht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=&gt; </a:t>
            </a:r>
            <a:r>
              <a:rPr lang="en-US" u="sng">
                <a:latin typeface="PT Sans"/>
              </a:rPr>
              <a:t>Gamification muss für </a:t>
            </a:r>
            <a:r>
              <a:rPr lang="en-US" u="sng" err="1">
                <a:latin typeface="PT Sans"/>
              </a:rPr>
              <a:t>Spaß</a:t>
            </a:r>
            <a:r>
              <a:rPr lang="en-US" u="sng">
                <a:latin typeface="PT Sans"/>
              </a:rPr>
              <a:t> und Motivation </a:t>
            </a:r>
            <a:r>
              <a:rPr lang="en-US" u="sng" err="1">
                <a:latin typeface="PT Sans"/>
              </a:rPr>
              <a:t>sorgen</a:t>
            </a:r>
            <a:endParaRPr lang="en-US" u="sng">
              <a:latin typeface="PT Sans"/>
            </a:endParaRPr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DF4C96AE-2E72-DFBD-B838-415FB63D137C}"/>
              </a:ext>
            </a:extLst>
          </p:cNvPr>
          <p:cNvSpPr txBox="1"/>
          <p:nvPr/>
        </p:nvSpPr>
        <p:spPr>
          <a:xfrm>
            <a:off x="768350" y="1781799"/>
            <a:ext cx="11478332" cy="373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/>
              <a:t>Reichen </a:t>
            </a:r>
            <a:r>
              <a:rPr lang="en-US" err="1"/>
              <a:t>Didaktische</a:t>
            </a:r>
            <a:r>
              <a:rPr lang="en-US"/>
              <a:t> </a:t>
            </a:r>
            <a:r>
              <a:rPr lang="en-US" err="1"/>
              <a:t>Inhalte</a:t>
            </a:r>
            <a:r>
              <a:rPr lang="en-US"/>
              <a:t> </a:t>
            </a:r>
            <a:r>
              <a:rPr lang="en-US" err="1"/>
              <a:t>nur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Trial und Error?</a:t>
            </a: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797BC209-DB57-5375-22BE-79D1BD943B7F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A973E6-9754-23FD-4E88-B2C9B0D039B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495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6B1B0-5854-3AC1-E281-2291DCCD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372E788A-9DB5-3053-93D8-E18714AEAF4F}"/>
              </a:ext>
            </a:extLst>
          </p:cNvPr>
          <p:cNvSpPr txBox="1"/>
          <p:nvPr/>
        </p:nvSpPr>
        <p:spPr>
          <a:xfrm>
            <a:off x="766967" y="778217"/>
            <a:ext cx="4443524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b="1" err="1"/>
              <a:t>Statistik</a:t>
            </a:r>
            <a:r>
              <a:rPr lang="en-US" b="1"/>
              <a:t>-</a:t>
            </a:r>
            <a:r>
              <a:rPr lang="en-US" b="1" err="1"/>
              <a:t>Methoden</a:t>
            </a:r>
            <a:r>
              <a:rPr lang="en-US" b="1"/>
              <a:t>-Evaluation 1/2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1024317F-123C-C9AC-ECCA-BF8AD64B0ACF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352C0746-A198-5754-EEEA-1C0BA835FD55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0039A8A9-BAA7-4E1D-499F-CD99EF5875C5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F75D4247-0580-CEB6-3209-FC4D464F0F2C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63D6A68C-AA6A-533A-918D-59D3C9FABBC0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B069E5C8-D8C7-0123-DA70-1BEFA70A12D4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FB553264-2E81-1841-50A4-CD1E50B9D637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4FD4B6CF-AA37-35EC-E35F-18B512E01E18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6D8FF259-8700-9A7C-F6E3-C42C5E97BB7F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C4BF2052-676B-4A1A-BC83-15AC41EDE03D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CBA704BF-000F-6EB9-2F63-5C14271EE46E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F67F5CE7-8F4C-E78E-F4B6-D85AC3C11EA4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FFF17838-F28F-8D1F-12D7-2076C76096AD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65B62C91-3A68-CCB2-82A4-3B403F43799B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18809EB6-B2F7-246B-BD28-F27121058982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DCCF49AC-C909-CC9B-D9DF-995FE0FF8015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65F778C3-8807-82C0-698C-AAE82AC2B42B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6511E425-3997-B44D-BDA7-D1641243C2B7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89CC6D22-501F-139E-020C-E11BF3B39CE4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E2F2D8A3-682C-BBAD-23C8-2494AD425F37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251D19AE-D6BE-5BA1-15B2-4907CFEDA377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FBC0F84B-B155-51CD-418E-8FC9DCF609D7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D8F2B819-E977-2F21-EA81-858CE23D70A7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DD2AD223-CE73-1807-F649-D5122F40FAEA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05077616-E1BC-CA1B-3B9D-9E04D17EC55E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441C695D-7C08-397E-496E-37855FD08FE3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8AE702F3-9F89-519D-9392-5A220B39A766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CF183502-A4F6-7FE5-D647-6D57017939B6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227378EA-574A-0952-35D1-33BC87B1A275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0D2E269A-C4BD-25E9-B921-EA6FD5556BD0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0EE52C75-B8F0-DEE3-B001-B7708BC1C3BE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pic>
        <p:nvPicPr>
          <p:cNvPr id="8" name="Grafik 3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08FA0F95-ED97-8C72-5C93-FC9F73F3B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70" y="1323975"/>
            <a:ext cx="7772400" cy="3806686"/>
          </a:xfrm>
          <a:prstGeom prst="rect">
            <a:avLst/>
          </a:prstGeom>
        </p:spPr>
      </p:pic>
      <p:pic>
        <p:nvPicPr>
          <p:cNvPr id="10" name="Grafik 5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64C3B8AD-CBDC-DEDC-5BE3-16B04F6E5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977" y="5273317"/>
            <a:ext cx="7772400" cy="3556115"/>
          </a:xfrm>
          <a:prstGeom prst="rect">
            <a:avLst/>
          </a:prstGeom>
        </p:spPr>
      </p:pic>
      <p:sp>
        <p:nvSpPr>
          <p:cNvPr id="14" name="Bildunterschriften nutzen die PT Sans, Regular in 14pt mit einem Zeilenabstand von 1 oder 100%, werden auf 60% Transparenz reduziert.">
            <a:extLst>
              <a:ext uri="{FF2B5EF4-FFF2-40B4-BE49-F238E27FC236}">
                <a16:creationId xmlns:a16="http://schemas.microsoft.com/office/drawing/2014/main" id="{18BC3B98-AFF6-1E40-7213-CBE57F033524}"/>
              </a:ext>
            </a:extLst>
          </p:cNvPr>
          <p:cNvSpPr txBox="1"/>
          <p:nvPr/>
        </p:nvSpPr>
        <p:spPr>
          <a:xfrm>
            <a:off x="3244044" y="9025226"/>
            <a:ext cx="6494935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defRPr sz="1400" b="0"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pPr algn="ctr"/>
            <a:r>
              <a:rPr lang="en-US"/>
              <a:t>Bilder: Audit2/WS2526_RoßKhemiri_Statistik-Methoden-Evaluation.pdf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84963A-344E-B4B2-03CE-2E960EA900A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72039" y="9296400"/>
            <a:ext cx="340259" cy="324306"/>
          </a:xfrm>
        </p:spPr>
        <p:txBody>
          <a:bodyPr/>
          <a:lstStyle/>
          <a:p>
            <a:fld id="{86CB4B4D-7CA3-9044-876B-883B54F8677D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313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5007-DD1B-EC5E-91FB-A500BDDB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D4A6F496-FFA6-CC06-F6EE-499978E08D86}"/>
              </a:ext>
            </a:extLst>
          </p:cNvPr>
          <p:cNvSpPr txBox="1"/>
          <p:nvPr/>
        </p:nvSpPr>
        <p:spPr>
          <a:xfrm>
            <a:off x="766967" y="778217"/>
            <a:ext cx="4473982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b="1" dirty="0" err="1"/>
              <a:t>Statistik</a:t>
            </a:r>
            <a:r>
              <a:rPr lang="en-US" b="1" dirty="0"/>
              <a:t>-</a:t>
            </a:r>
            <a:r>
              <a:rPr lang="en-US" b="1" dirty="0" err="1"/>
              <a:t>Methoden</a:t>
            </a:r>
            <a:r>
              <a:rPr lang="en-US" b="1" dirty="0"/>
              <a:t>-Evaluation 2/2</a:t>
            </a:r>
            <a:endParaRPr lang="en-US" dirty="0"/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0AA5AA6E-1F3B-0740-698C-6EB873DDEE1C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9D3067EB-011E-5554-1BFF-13DF2A6487F0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3C94194B-5A28-B7DB-338B-CDB039D317F6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269B5D1E-FC4E-1732-56E4-E2685B21085C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8A4D1508-0AB0-2AE2-3F6A-462B3B813614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8DB6F9F9-4C0B-50BE-76EF-A339E4795306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CFC8F924-460B-6E55-69CB-EA457D8C9E7C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74C7AD76-5D27-C48B-3FDF-080B98B4C833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14685D5C-CDAC-8C1D-1830-B4E381C228E4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7CE54120-5B2A-1F26-B2FB-BF5517E7E714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F24C753C-173E-5DD7-0C72-3FB610F909A8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68CF6DD4-B011-77BA-A5D8-DFA6E8F0D2C2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7DE4059F-8059-DB5A-07EB-15A28D96322D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2B37E4B4-A38D-DC08-8201-052910F576EC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8770F94B-B558-7414-B9AF-256420E92C21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625FDEFD-EF64-EB59-ED69-D0673446F20A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075B3A41-F9FD-FCEC-58CD-FE6EF6C63DBD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22CBE419-7364-CD00-8677-552609D6DD15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4FA658EC-3BCC-CAAF-35D9-CABB655572BB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639BFF25-E83F-C93C-B29A-F02CA9FAD13F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2383EB77-F264-819A-B7BC-0B7EF9D9DA78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7E82870A-7250-F8C6-37C1-6BB12C37D7F3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06DC8A9F-39B1-A7C1-B79F-D0B99D5630FE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19B49B45-9D94-FD3E-3AD0-BFBD3F1046E3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9E6D3640-33EE-E007-6239-3A7EAAEA9E3B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591BC81D-79B6-92FF-4AC9-01C053F4E388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AD715CBB-BE81-1D91-4FCB-F060A0685123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ACB244D0-9760-FF61-4C75-269DF17C13E7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AB8AC3A8-6DB9-786F-5E3D-975FB2ACE3DC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29BC766C-64EC-1B86-F4EB-9F701E36E594}"/>
              </a:ext>
            </a:extLst>
          </p:cNvPr>
          <p:cNvSpPr/>
          <p:nvPr/>
        </p:nvSpPr>
        <p:spPr>
          <a:xfrm>
            <a:off x="794973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949E9673-869E-331E-ECA9-DA62B6C9053D}"/>
              </a:ext>
            </a:extLst>
          </p:cNvPr>
          <p:cNvSpPr txBox="1"/>
          <p:nvPr/>
        </p:nvSpPr>
        <p:spPr>
          <a:xfrm>
            <a:off x="768350" y="2455264"/>
            <a:ext cx="11478332" cy="4308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endParaRPr lang="en-US" dirty="0"/>
          </a:p>
          <a:p>
            <a:r>
              <a:rPr lang="en-US" dirty="0" err="1"/>
              <a:t>Verwechslung</a:t>
            </a:r>
            <a:r>
              <a:rPr lang="en-US" dirty="0"/>
              <a:t> von Median und </a:t>
            </a:r>
            <a:r>
              <a:rPr lang="en-US" dirty="0" err="1"/>
              <a:t>Mittelwert</a:t>
            </a:r>
            <a:r>
              <a:rPr lang="en-US" dirty="0"/>
              <a:t>:</a:t>
            </a: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dirty="0" err="1">
                <a:latin typeface="PT Sans"/>
              </a:rPr>
              <a:t>Darstellung</a:t>
            </a:r>
            <a:r>
              <a:rPr lang="en-US" dirty="0">
                <a:latin typeface="PT Sans"/>
              </a:rPr>
              <a:t>: </a:t>
            </a:r>
            <a:r>
              <a:rPr lang="en-US" dirty="0" err="1">
                <a:latin typeface="PT Sans"/>
              </a:rPr>
              <a:t>Zusätzliche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Werte</a:t>
            </a:r>
            <a:r>
              <a:rPr lang="en-US" dirty="0">
                <a:latin typeface="PT Sans"/>
              </a:rPr>
              <a:t>, </a:t>
            </a:r>
            <a:r>
              <a:rPr lang="en-US" dirty="0" err="1">
                <a:latin typeface="PT Sans"/>
              </a:rPr>
              <a:t>Visualisierung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durch</a:t>
            </a:r>
            <a:r>
              <a:rPr lang="en-US" dirty="0">
                <a:latin typeface="PT Sans"/>
              </a:rPr>
              <a:t> Linien, </a:t>
            </a:r>
            <a:r>
              <a:rPr lang="en-US" dirty="0" err="1">
                <a:latin typeface="PT Sans"/>
              </a:rPr>
              <a:t>verschieben</a:t>
            </a:r>
            <a:r>
              <a:rPr lang="en-US" dirty="0">
                <a:latin typeface="PT Sans"/>
              </a:rPr>
              <a:t> der </a:t>
            </a:r>
            <a:r>
              <a:rPr lang="en-US" dirty="0" err="1">
                <a:latin typeface="PT Sans"/>
              </a:rPr>
              <a:t>Elemente</a:t>
            </a:r>
            <a:endParaRPr lang="en-US" dirty="0">
              <a:latin typeface="PT Sans"/>
            </a:endParaRP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dirty="0" err="1">
                <a:latin typeface="PT Sans"/>
              </a:rPr>
              <a:t>Dynamische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Umsetzung</a:t>
            </a:r>
            <a:r>
              <a:rPr lang="en-US" dirty="0">
                <a:latin typeface="PT Sans"/>
              </a:rPr>
              <a:t>: </a:t>
            </a:r>
            <a:r>
              <a:rPr lang="en-US" dirty="0" err="1">
                <a:latin typeface="PT Sans"/>
              </a:rPr>
              <a:t>Problemlos</a:t>
            </a:r>
            <a:r>
              <a:rPr lang="en-US" dirty="0">
                <a:latin typeface="PT Sans"/>
              </a:rPr>
              <a:t> in </a:t>
            </a:r>
            <a:r>
              <a:rPr lang="en-US" dirty="0" err="1">
                <a:latin typeface="PT Sans"/>
              </a:rPr>
              <a:t>Jeder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Statistik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umsetzbar</a:t>
            </a:r>
            <a:r>
              <a:rPr lang="en-US" dirty="0">
                <a:latin typeface="PT Sans"/>
              </a:rPr>
              <a:t>, </a:t>
            </a:r>
            <a:r>
              <a:rPr lang="en-US" dirty="0" err="1">
                <a:latin typeface="PT Sans"/>
              </a:rPr>
              <a:t>algorithmische</a:t>
            </a:r>
            <a:r>
              <a:rPr lang="en-US" dirty="0">
                <a:latin typeface="PT Sans"/>
              </a:rPr>
              <a:t> Filter für </a:t>
            </a:r>
            <a:r>
              <a:rPr lang="en-US" dirty="0" err="1">
                <a:latin typeface="PT Sans"/>
              </a:rPr>
              <a:t>ausschlagende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Werte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oder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Teildatensätze</a:t>
            </a:r>
          </a:p>
          <a:p>
            <a:endParaRPr lang="en-US"/>
          </a:p>
          <a:p>
            <a:endParaRPr lang="en-US" dirty="0"/>
          </a:p>
          <a:p>
            <a:r>
              <a:rPr lang="en-US" dirty="0"/>
              <a:t>"Cherry-Picking" der </a:t>
            </a:r>
            <a:r>
              <a:rPr lang="en-US" dirty="0" err="1"/>
              <a:t>Inhalte</a:t>
            </a:r>
            <a:r>
              <a:rPr lang="en-US" dirty="0"/>
              <a:t>:</a:t>
            </a: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dirty="0" err="1">
                <a:latin typeface="PT Sans"/>
              </a:rPr>
              <a:t>Darstellung</a:t>
            </a:r>
            <a:r>
              <a:rPr lang="en-US" dirty="0">
                <a:latin typeface="PT Sans"/>
              </a:rPr>
              <a:t>: </a:t>
            </a:r>
            <a:r>
              <a:rPr lang="en-US" dirty="0" err="1">
                <a:latin typeface="PT Sans"/>
              </a:rPr>
              <a:t>Zuschneiden</a:t>
            </a:r>
            <a:r>
              <a:rPr lang="en-US" dirty="0">
                <a:latin typeface="PT Sans"/>
              </a:rPr>
              <a:t> der </a:t>
            </a:r>
            <a:r>
              <a:rPr lang="en-US" dirty="0" err="1">
                <a:latin typeface="PT Sans"/>
              </a:rPr>
              <a:t>Statistik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oder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selektive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Filterung</a:t>
            </a:r>
            <a:r>
              <a:rPr lang="en-US" dirty="0">
                <a:latin typeface="PT Sans"/>
              </a:rPr>
              <a:t> von </a:t>
            </a:r>
            <a:r>
              <a:rPr lang="en-US" dirty="0" err="1">
                <a:latin typeface="PT Sans"/>
              </a:rPr>
              <a:t>Teildaten</a:t>
            </a:r>
            <a:r>
              <a:rPr lang="en-US" dirty="0">
                <a:latin typeface="PT Sans"/>
              </a:rPr>
              <a:t> (</a:t>
            </a:r>
            <a:r>
              <a:rPr lang="en-US" dirty="0" err="1">
                <a:latin typeface="PT Sans"/>
              </a:rPr>
              <a:t>z.b.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Zeitperiode</a:t>
            </a:r>
            <a:r>
              <a:rPr lang="en-US" dirty="0">
                <a:latin typeface="PT Sans"/>
              </a:rPr>
              <a:t>, </a:t>
            </a:r>
            <a:r>
              <a:rPr lang="en-US" dirty="0" err="1">
                <a:latin typeface="PT Sans"/>
              </a:rPr>
              <a:t>Vehaltenskurven</a:t>
            </a:r>
            <a:r>
              <a:rPr lang="en-US" dirty="0">
                <a:latin typeface="PT Sans"/>
              </a:rPr>
              <a:t>)</a:t>
            </a: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dirty="0" err="1">
                <a:latin typeface="PT Sans"/>
              </a:rPr>
              <a:t>Dynamische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Umsetzung</a:t>
            </a:r>
            <a:r>
              <a:rPr lang="en-US" dirty="0">
                <a:latin typeface="PT Sans"/>
              </a:rPr>
              <a:t>: Durch </a:t>
            </a:r>
            <a:r>
              <a:rPr lang="en-US" dirty="0" err="1">
                <a:latin typeface="PT Sans"/>
              </a:rPr>
              <a:t>vorheriges</a:t>
            </a:r>
            <a:r>
              <a:rPr lang="en-US" dirty="0">
                <a:latin typeface="PT Sans"/>
              </a:rPr>
              <a:t> </a:t>
            </a:r>
            <a:r>
              <a:rPr lang="en-US" dirty="0" err="1">
                <a:latin typeface="PT Sans"/>
              </a:rPr>
              <a:t>algorithmisches</a:t>
            </a:r>
            <a:r>
              <a:rPr lang="en-US" dirty="0">
                <a:latin typeface="PT Sans"/>
              </a:rPr>
              <a:t> </a:t>
            </a:r>
            <a:r>
              <a:rPr lang="en-US" dirty="0" err="1">
                <a:latin typeface="PT Sans"/>
              </a:rPr>
              <a:t>eingrenzen</a:t>
            </a:r>
            <a:r>
              <a:rPr lang="en-US" dirty="0">
                <a:latin typeface="PT Sans"/>
              </a:rPr>
              <a:t> und </a:t>
            </a:r>
            <a:r>
              <a:rPr lang="en-US" dirty="0" err="1">
                <a:latin typeface="PT Sans"/>
              </a:rPr>
              <a:t>späteres</a:t>
            </a:r>
            <a:r>
              <a:rPr lang="en-US" dirty="0">
                <a:latin typeface="PT Sans"/>
              </a:rPr>
              <a:t> </a:t>
            </a:r>
            <a:r>
              <a:rPr lang="en-US" dirty="0" err="1">
                <a:latin typeface="PT Sans"/>
              </a:rPr>
              <a:t>rückführen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einer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Gesamtstatistik</a:t>
            </a:r>
            <a:r>
              <a:rPr lang="en-US" dirty="0">
                <a:latin typeface="PT Sans"/>
              </a:rPr>
              <a:t> </a:t>
            </a: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r>
              <a:rPr lang="en-US" dirty="0" err="1"/>
              <a:t>Auswahl</a:t>
            </a:r>
            <a:r>
              <a:rPr lang="en-US" dirty="0"/>
              <a:t> </a:t>
            </a:r>
            <a:r>
              <a:rPr lang="en-US" dirty="0" err="1"/>
              <a:t>günstiger</a:t>
            </a:r>
            <a:r>
              <a:rPr lang="en-US" dirty="0"/>
              <a:t> </a:t>
            </a:r>
            <a:r>
              <a:rPr lang="en-US" dirty="0" err="1"/>
              <a:t>Zeitfenster</a:t>
            </a:r>
            <a:r>
              <a:rPr lang="en-US" dirty="0"/>
              <a:t>:</a:t>
            </a: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dirty="0" err="1">
                <a:latin typeface="PT Sans"/>
              </a:rPr>
              <a:t>Darstellung</a:t>
            </a:r>
            <a:r>
              <a:rPr lang="en-US" dirty="0">
                <a:latin typeface="PT Sans"/>
              </a:rPr>
              <a:t>: </a:t>
            </a:r>
            <a:r>
              <a:rPr lang="en-US" dirty="0" err="1">
                <a:latin typeface="PT Sans"/>
              </a:rPr>
              <a:t>Kontextbeschreibung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über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etwas</a:t>
            </a:r>
            <a:r>
              <a:rPr lang="en-US" dirty="0">
                <a:latin typeface="PT Sans"/>
              </a:rPr>
              <a:t>, was </a:t>
            </a:r>
            <a:r>
              <a:rPr lang="en-US" dirty="0" err="1">
                <a:latin typeface="PT Sans"/>
              </a:rPr>
              <a:t>sonst</a:t>
            </a:r>
            <a:r>
              <a:rPr lang="en-US" dirty="0">
                <a:latin typeface="PT Sans"/>
              </a:rPr>
              <a:t> </a:t>
            </a:r>
            <a:r>
              <a:rPr lang="en-US" dirty="0" err="1">
                <a:latin typeface="PT Sans"/>
              </a:rPr>
              <a:t>über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längeren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Zeitraum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gemessen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wird</a:t>
            </a:r>
            <a:r>
              <a:rPr lang="en-US" dirty="0">
                <a:latin typeface="PT Sans"/>
              </a:rPr>
              <a:t>, </a:t>
            </a:r>
            <a:r>
              <a:rPr lang="en-US" dirty="0" err="1">
                <a:latin typeface="PT Sans"/>
              </a:rPr>
              <a:t>selektiver</a:t>
            </a:r>
            <a:r>
              <a:rPr lang="en-US" dirty="0">
                <a:latin typeface="PT Sans"/>
              </a:rPr>
              <a:t> Zoom (</a:t>
            </a:r>
            <a:r>
              <a:rPr lang="en-US" dirty="0" err="1">
                <a:latin typeface="PT Sans"/>
              </a:rPr>
              <a:t>ähnlich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zu</a:t>
            </a:r>
            <a:r>
              <a:rPr lang="en-US" dirty="0">
                <a:latin typeface="PT Sans"/>
              </a:rPr>
              <a:t> Cherry-Picking)</a:t>
            </a:r>
          </a:p>
          <a:p>
            <a:pPr marL="285750" indent="-285750">
              <a:lnSpc>
                <a:spcPct val="100000"/>
              </a:lnSpc>
              <a:buFont typeface="Calibri"/>
              <a:buChar char="-"/>
            </a:pPr>
            <a:r>
              <a:rPr lang="en-US" dirty="0" err="1">
                <a:latin typeface="PT Sans"/>
              </a:rPr>
              <a:t>Dynamische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Umsetzung</a:t>
            </a:r>
            <a:r>
              <a:rPr lang="en-US" dirty="0">
                <a:latin typeface="PT Sans"/>
              </a:rPr>
              <a:t>: </a:t>
            </a:r>
            <a:r>
              <a:rPr lang="en-US" dirty="0" err="1">
                <a:latin typeface="PT Sans"/>
              </a:rPr>
              <a:t>Zufälliger</a:t>
            </a:r>
            <a:r>
              <a:rPr lang="en-US" dirty="0">
                <a:latin typeface="PT Sans"/>
              </a:rPr>
              <a:t> Zoom auf </a:t>
            </a:r>
            <a:r>
              <a:rPr lang="en-US" dirty="0" err="1">
                <a:latin typeface="PT Sans"/>
              </a:rPr>
              <a:t>kleinen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Zeitraum</a:t>
            </a:r>
            <a:r>
              <a:rPr lang="en-US" dirty="0">
                <a:latin typeface="PT Sans"/>
              </a:rPr>
              <a:t> der </a:t>
            </a:r>
            <a:r>
              <a:rPr lang="en-US" dirty="0" err="1">
                <a:latin typeface="PT Sans"/>
              </a:rPr>
              <a:t>anders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ausfällt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als</a:t>
            </a:r>
            <a:r>
              <a:rPr lang="en-US" dirty="0">
                <a:latin typeface="PT Sans"/>
              </a:rPr>
              <a:t> die </a:t>
            </a:r>
            <a:r>
              <a:rPr lang="en-US" dirty="0" err="1">
                <a:latin typeface="PT Sans"/>
              </a:rPr>
              <a:t>restliche</a:t>
            </a:r>
            <a:r>
              <a:rPr lang="en-US" dirty="0">
                <a:latin typeface="PT Sans"/>
              </a:rPr>
              <a:t> </a:t>
            </a:r>
            <a:r>
              <a:rPr lang="en-US" dirty="0" err="1">
                <a:latin typeface="PT Sans"/>
              </a:rPr>
              <a:t>Zeitachse</a:t>
            </a:r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3AD47156-B1A0-D6F6-8C5C-F89BAB057EAD}"/>
              </a:ext>
            </a:extLst>
          </p:cNvPr>
          <p:cNvSpPr txBox="1"/>
          <p:nvPr/>
        </p:nvSpPr>
        <p:spPr>
          <a:xfrm>
            <a:off x="768350" y="1781799"/>
            <a:ext cx="11478332" cy="373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dirty="0" err="1"/>
              <a:t>Datenverzerrung</a:t>
            </a:r>
            <a:r>
              <a:rPr lang="en-US" dirty="0"/>
              <a:t>:</a:t>
            </a: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6A34573E-6AD6-1249-E898-DF4C63D49B93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9AD1E3-E6F8-C278-7B74-72F51FD85F0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471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B2AB-2D27-7DB4-DB23-DE219FB7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7603BC23-3979-DD21-5C5A-28E716B82FC1}"/>
              </a:ext>
            </a:extLst>
          </p:cNvPr>
          <p:cNvSpPr txBox="1"/>
          <p:nvPr/>
        </p:nvSpPr>
        <p:spPr>
          <a:xfrm>
            <a:off x="766967" y="778217"/>
            <a:ext cx="360355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Funktionale</a:t>
            </a:r>
            <a:r>
              <a:rPr lang="en-US"/>
              <a:t> </a:t>
            </a:r>
            <a:r>
              <a:rPr lang="en-US" err="1"/>
              <a:t>Anforderungen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FD76EBC6-95DC-B427-E376-D944B304D997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F70454D3-7329-163A-DDF5-5F8614D0AA49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00837112-60E4-21E2-DF8F-649821551E80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8788FC17-0609-6B19-3BF0-296C6ACFE1A8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95CAF772-2C70-88BF-B9C0-6CF75DD500F2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54740043-DA95-7C1C-CF87-4592AB6103AD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43493E9B-9668-D84E-4CE9-936884066E48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716C9A3E-22F2-3C46-A080-E5FFDFBC61AB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90B4F490-7C8F-6D01-F818-6BB93099F96A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55140AEC-4542-12E0-1433-E69BC566215A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D711CDE2-6ECC-3427-CD17-EE9E0CCCAC81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DD13184D-A242-8A26-B3DA-C5252E3ECC8D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A992A903-27A6-5B17-7561-694176B27079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968683CE-60E8-36F2-9D5D-39E47F1ACDA7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5DD9A4D1-1EB9-5C3F-DE43-3B6C82F2F416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3A8102ED-8A61-47F5-05CE-F5B5D23E32A7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DB37097A-68F7-B56E-97E3-BC1BA94EA875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CB4E2025-1B20-F73D-E272-055F3DD431E1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F97078A9-0B11-BD60-91E1-B1705A02F0B6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3F83C0D4-C4E0-99AE-22B2-1A749E3D72E8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2EA212E2-C7F0-78A2-E3A4-032343B1B9A8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0D91B6DB-1FFD-C114-81C4-E45098D18272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688AC9C4-B5B4-426D-399E-6E74DB807D33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2B94CFF0-DEED-E345-F55F-2C7C86714855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5CCD55E4-A6A9-077E-F638-8DE70A94AC20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573A6C5F-5222-DB31-2184-30D97DC9DC3A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FF379E43-9016-BDC7-66EF-5AD39101F5A7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3F2072CC-A3E2-9F1A-B072-B7B0C543340D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573DAA94-3B06-7E86-49A9-65274E7BD775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2C0D7834-EA50-ED2E-EBB4-297200D00390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40" name="Mengentexte nutzen die PT Sans, Regular in 17pt mit einem Zeilenabstand von 1 oder 100%. Alle Schriftfamilien stehen bei Google Fonts zum Download bereit.">
            <a:extLst>
              <a:ext uri="{FF2B5EF4-FFF2-40B4-BE49-F238E27FC236}">
                <a16:creationId xmlns:a16="http://schemas.microsoft.com/office/drawing/2014/main" id="{F913F00B-C511-0F8B-AC9F-0C4958DC976E}"/>
              </a:ext>
            </a:extLst>
          </p:cNvPr>
          <p:cNvSpPr txBox="1"/>
          <p:nvPr/>
        </p:nvSpPr>
        <p:spPr>
          <a:xfrm>
            <a:off x="766967" y="2735629"/>
            <a:ext cx="10680439" cy="5047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defRPr sz="1700" b="0"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pPr marL="285750" indent="-285750">
              <a:buFont typeface="Arial"/>
              <a:buChar char="•"/>
            </a:pPr>
            <a:r>
              <a:rPr lang="de-DE" b="1"/>
              <a:t>Darstellung/UI/UX (101-118)</a:t>
            </a:r>
          </a:p>
          <a:p>
            <a:r>
              <a:rPr lang="de-DE" b="0" err="1">
                <a:latin typeface="PT Sans"/>
              </a:rPr>
              <a:t>Bsp</a:t>
            </a:r>
            <a:r>
              <a:rPr lang="de-DE" b="0">
                <a:latin typeface="PT Sans"/>
              </a:rPr>
              <a:t>: 107: Das System muss in der Lage sein, Statistiken visuell anzupassen und transformieren zu können</a:t>
            </a:r>
            <a:r>
              <a:rPr lang="de-DE"/>
              <a:t>.</a:t>
            </a:r>
            <a:endParaRPr lang="en-US"/>
          </a:p>
          <a:p>
            <a:r>
              <a:rPr lang="de-DE" err="1"/>
              <a:t>Bsp</a:t>
            </a:r>
            <a:r>
              <a:rPr lang="de-DE"/>
              <a:t>: 110: Das System muss in der Lage sein dem Nutzer Tendenzen der einzelnen Statistik-Tools mit Veränderungsraten und Gesamtraten einsehbar zu </a:t>
            </a:r>
            <a:r>
              <a:rPr lang="de-DE" err="1"/>
              <a:t>machen</a:t>
            </a:r>
            <a:r>
              <a:rPr lang="de-DE" sz="1400" err="1"/>
              <a:t>n</a:t>
            </a:r>
            <a:br>
              <a:rPr lang="en-US"/>
            </a:br>
            <a:endParaRPr lang="en-US"/>
          </a:p>
          <a:p>
            <a:endParaRPr lang="de-DE" sz="1200"/>
          </a:p>
          <a:p>
            <a:pPr marL="285750" indent="-285750">
              <a:buFont typeface="Arial"/>
              <a:buChar char="•"/>
            </a:pPr>
            <a:r>
              <a:rPr lang="de-DE" b="1"/>
              <a:t>Daten, Persistenz und Device-Features (119-125)</a:t>
            </a:r>
            <a:endParaRPr lang="de-DE" sz="1600" b="1">
              <a:cs typeface="Arial"/>
            </a:endParaRPr>
          </a:p>
          <a:p>
            <a:r>
              <a:rPr lang="de-DE" b="0" err="1">
                <a:latin typeface="PT Sans"/>
                <a:cs typeface="Arial"/>
              </a:rPr>
              <a:t>Bsp</a:t>
            </a:r>
            <a:r>
              <a:rPr lang="de-DE" b="0">
                <a:latin typeface="PT Sans"/>
                <a:cs typeface="Arial"/>
              </a:rPr>
              <a:t>: 119: Das System muss in der Lage sein, den Fortschritt des Nutzers persistent zu speichern.</a:t>
            </a:r>
            <a:endParaRPr lang="en-US" b="0">
              <a:latin typeface="PT Sans"/>
            </a:endParaRPr>
          </a:p>
          <a:p>
            <a:r>
              <a:rPr lang="de-DE" err="1">
                <a:cs typeface="Arial"/>
              </a:rPr>
              <a:t>Bsp</a:t>
            </a:r>
            <a:r>
              <a:rPr lang="de-DE">
                <a:cs typeface="Arial"/>
              </a:rPr>
              <a:t>: 123: Es gilt zu beweisen, dass in den Settings die Lautstärke verändert und gespeichert werden kann</a:t>
            </a:r>
            <a:endParaRPr lang="de-DE"/>
          </a:p>
          <a:p>
            <a:endParaRPr lang="de-D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cs typeface="Arial"/>
              </a:rPr>
              <a:t>Aufgabenlogik (126-145)  </a:t>
            </a:r>
          </a:p>
          <a:p>
            <a:r>
              <a:rPr lang="de-DE" err="1">
                <a:cs typeface="Arial"/>
              </a:rPr>
              <a:t>Bsp</a:t>
            </a:r>
            <a:r>
              <a:rPr lang="de-DE">
                <a:cs typeface="Arial"/>
              </a:rPr>
              <a:t>: 127: Es gilt zu beweisen, dass das System nach Lösungsabgabe dem Nutzer die Möglichkeit bietet die gelöste Aufgabe mit Realbeispielen zu vergleichen.</a:t>
            </a:r>
            <a:endParaRPr lang="en-US">
              <a:cs typeface="Arial"/>
            </a:endParaRPr>
          </a:p>
          <a:p>
            <a:r>
              <a:rPr lang="de-DE" err="1">
                <a:cs typeface="Arial"/>
              </a:rPr>
              <a:t>Bsp</a:t>
            </a:r>
            <a:r>
              <a:rPr lang="de-DE">
                <a:cs typeface="Arial"/>
              </a:rPr>
              <a:t>: 128: Es gilt zu beweisen, dass das System nach Lösungsabgabe dem Nutzer die Möglichkeit bietet eine nächste Aufgabe zu starten</a:t>
            </a:r>
            <a:endParaRPr lang="de-DE" b="0">
              <a:cs typeface="Arial"/>
            </a:endParaRPr>
          </a:p>
          <a:p>
            <a:pPr indent="0"/>
            <a:endParaRPr lang="de-DE" sz="1200">
              <a:cs typeface="Arial"/>
            </a:endParaRPr>
          </a:p>
          <a:p>
            <a:pPr marL="285750" lvl="4" indent="0"/>
            <a:endParaRPr lang="de-D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cs typeface="Arial"/>
              </a:rPr>
              <a:t>Gamification (146-154)</a:t>
            </a:r>
          </a:p>
          <a:p>
            <a:r>
              <a:rPr lang="de-DE" err="1">
                <a:cs typeface="Arial"/>
              </a:rPr>
              <a:t>Bsp</a:t>
            </a:r>
            <a:r>
              <a:rPr lang="de-DE">
                <a:cs typeface="Arial"/>
              </a:rPr>
              <a:t>: 146: Es gilt zu beweisen, dass das System Tagesziele darstellen und tracken kann.</a:t>
            </a:r>
          </a:p>
          <a:p>
            <a:r>
              <a:rPr lang="de-DE" err="1">
                <a:cs typeface="Arial"/>
              </a:rPr>
              <a:t>Bsp</a:t>
            </a:r>
            <a:r>
              <a:rPr lang="de-DE">
                <a:cs typeface="Arial"/>
              </a:rPr>
              <a:t>: 149: Es gilt zu beweisen, dass das System bei genügend XP ein visualisiertes Level Up durchführt </a:t>
            </a: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AEF007A0-5E9B-E27F-DCD8-3A5C46222277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7961862B-4F53-62DE-B3A6-4C96E831C939}"/>
              </a:ext>
            </a:extLst>
          </p:cNvPr>
          <p:cNvSpPr txBox="1"/>
          <p:nvPr/>
        </p:nvSpPr>
        <p:spPr>
          <a:xfrm>
            <a:off x="768350" y="1643596"/>
            <a:ext cx="11478332" cy="373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Überarbeitete</a:t>
            </a:r>
            <a:r>
              <a:rPr lang="en-US"/>
              <a:t> </a:t>
            </a:r>
            <a:r>
              <a:rPr lang="en-US" err="1"/>
              <a:t>gruppierte</a:t>
            </a:r>
            <a:r>
              <a:rPr lang="en-US"/>
              <a:t> FA´s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A55FEA-ECB2-A49B-FB12-F8417FED26E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873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D53A-F072-9458-C3D7-49773F637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67655330-23B9-1282-9B57-5F583D454985}"/>
              </a:ext>
            </a:extLst>
          </p:cNvPr>
          <p:cNvSpPr txBox="1"/>
          <p:nvPr/>
        </p:nvSpPr>
        <p:spPr>
          <a:xfrm>
            <a:off x="766967" y="778217"/>
            <a:ext cx="1845057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/>
              <a:t>Projektrisiken</a:t>
            </a:r>
            <a:endParaRPr lang="de-DE"/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AD92DFF3-BAD9-3E3F-F7EA-A572B24EA04A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2D74F3A4-F1E1-AD78-32F6-93770DB75CA4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D486112D-72B3-D5A3-49B7-6744906F4A47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47FAE1EB-E62F-0D57-0A37-C08C402BA8B1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DB49775C-AF18-CC0F-35ED-2E49DAB253A2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15D08382-F7D5-374B-86D7-0C6FA421CDF6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B79B746B-A4B9-74E0-D596-C4786E1CBF0A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57D8816D-BC4D-B69C-03A2-FEC63F2C708F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6357F016-D0A9-8AF1-D011-CCB23FDE1A18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186A3C6B-EBB2-D0D1-39EA-A9DA0296EF2C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A24152CA-5B5E-3816-EF83-A3D26590DA36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62B8771C-F002-54D2-6148-D3AF51C6FACD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790B0650-3162-65C1-FBF4-6FBB7C9247B3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386B49A8-77B4-B854-2C0E-DB2B1B019F6C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65632AF5-2F5C-6F39-A41D-9A7E6FBE69E5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D53EDDDB-7DDF-D362-77AA-D17B38B08B3A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FAFF73DE-1D33-D832-00EF-357BE662E4E8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6F4B346B-CF42-1466-A3C6-471FD0B2FD97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090FA921-A8BA-4246-4719-E6F41F487077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06036B81-D347-AB14-97E9-80AB860E32BA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FAEED444-529F-6F59-8A89-83A5BCC0BC23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40CD8D39-9D2B-B802-6E1E-15A79A1D983B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24651477-61F5-4426-9A98-9B3CFB85817A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7A18B098-68D2-B98F-B310-654D2AEC5709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721656E5-5BD3-12DB-1EA3-97BE2417D528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1680E7B9-E680-62E5-692C-19D8EF672990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BAB45DCA-BED1-210F-45EF-158A993E1AB5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B9D40736-B108-10F9-9969-7CE4016326BB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A56D8178-8AC2-81B7-72FE-7980EF2A5478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50AE04C1-07AA-B771-1779-4277C64CF80A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69EE3141-27F5-F773-E870-50B382BE3BF6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62263-640D-6D83-82B3-30FE39E5A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415" y="1324756"/>
            <a:ext cx="6504170" cy="7466404"/>
          </a:xfrm>
          <a:prstGeom prst="rect">
            <a:avLst/>
          </a:prstGeom>
        </p:spPr>
      </p:pic>
      <p:sp>
        <p:nvSpPr>
          <p:cNvPr id="8" name="Bildunterschriften nutzen die PT Sans, Regular in 14pt mit einem Zeilenabstand von 1 oder 100%, werden auf 60% Transparenz reduziert.">
            <a:extLst>
              <a:ext uri="{FF2B5EF4-FFF2-40B4-BE49-F238E27FC236}">
                <a16:creationId xmlns:a16="http://schemas.microsoft.com/office/drawing/2014/main" id="{23F151E8-3B5C-F855-8CA7-90705E571324}"/>
              </a:ext>
            </a:extLst>
          </p:cNvPr>
          <p:cNvSpPr txBox="1"/>
          <p:nvPr/>
        </p:nvSpPr>
        <p:spPr>
          <a:xfrm>
            <a:off x="3272813" y="8918733"/>
            <a:ext cx="6494935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defRPr sz="1400" b="0"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pPr algn="ctr"/>
            <a:r>
              <a:rPr lang="en-US"/>
              <a:t>Bild: Audit2/WS2526_RoßKhemiri_Projektrisiken.pdf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D62AC7-2E2F-69F2-1263-238AC42D52A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6036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2E5C-2DE2-3947-2233-BDD1559D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BF38D601-9483-5C63-BA3B-D9364798E6D3}"/>
              </a:ext>
            </a:extLst>
          </p:cNvPr>
          <p:cNvSpPr txBox="1"/>
          <p:nvPr/>
        </p:nvSpPr>
        <p:spPr>
          <a:xfrm>
            <a:off x="766967" y="778217"/>
            <a:ext cx="256801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Wichtigste</a:t>
            </a:r>
            <a:r>
              <a:rPr lang="en-US"/>
              <a:t> </a:t>
            </a:r>
            <a:r>
              <a:rPr lang="en-US" err="1"/>
              <a:t>PoCs</a:t>
            </a:r>
            <a:r>
              <a:rPr lang="en-US"/>
              <a:t> 1/3</a:t>
            </a:r>
            <a:endParaRPr lang="de-DE" err="1"/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52F7EF67-1292-9338-669F-850E1A67A950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6AB6B0D2-9587-E81B-AD19-CE06921886C0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14E3593B-8274-3336-2C11-FAB7B0668030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505A0E07-A355-C032-1AB3-2903A9CE5391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33CAE0A9-F1DC-BA20-A1BC-637F974C05C4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B9833BD8-DBDE-149A-41E5-DC6948375926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682DCD0F-DBB5-E004-4657-61A7139BBD74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45BA6375-DC36-94AE-BBD3-35E95C552E9E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F3680FED-8C5D-7BB0-4F6F-53C3D58A5ADA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5ED0ABF4-490C-30BC-FB09-2AFA843A7EA8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9C61AC76-E5FC-EB9F-3FF5-BD30884DA2A0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0575AC51-D2B7-C3F4-369A-92F0EC596851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1C8D8EFF-0CE0-6634-AFB2-89E9A66C888D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B4FA13D1-836B-4769-6F98-868155D5E10D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8E16532E-5039-DABE-638D-A7C51ABF20FE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08BEF91B-E945-DCEB-A80D-9ED1CCE53FBF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7D20DA98-4346-8E5A-5171-4EBB3C573475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6BF27C0F-AAFC-BD73-2A6D-001EEB877C05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CC3C85D0-D725-0C39-797E-C8C012BE12F9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CE480C88-F78D-5A70-EFE6-C1D49BD9C9BD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F74518A6-214F-BAC7-5D6B-DE1216A7C4FA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812E5784-C51C-5E5A-D14B-03014F5E2671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8E0ED4B8-3940-ED6A-80FC-D103ABFE0C67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067072DE-A9BF-0492-B65F-B8A5B4A6058F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D7F9DAC6-CC11-A47B-2922-223443B291B8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DC891C50-428A-C8B0-A829-BD64BD26A274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B4DA8E3D-20D1-5FD8-977B-61D14CE31AC4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84E2C4F9-D19A-6ECE-5AEE-4D81A21029D3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F5C2C925-7701-3DD3-455C-58BD7A2F8B1C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5D619BA4-53E9-59DB-A2FF-8F93CEB514A1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CE8DCA8D-7ECE-1510-42CB-A6DD2A135598}"/>
              </a:ext>
            </a:extLst>
          </p:cNvPr>
          <p:cNvSpPr txBox="1"/>
          <p:nvPr/>
        </p:nvSpPr>
        <p:spPr>
          <a:xfrm>
            <a:off x="768350" y="2162409"/>
            <a:ext cx="11478332" cy="5600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Beschreibung</a:t>
            </a:r>
            <a:r>
              <a:rPr lang="en-US"/>
              <a:t>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Es </a:t>
            </a:r>
            <a:r>
              <a:rPr lang="en-US" err="1">
                <a:latin typeface="PT Sans"/>
              </a:rPr>
              <a:t>soll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geprüft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ob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sich</a:t>
            </a:r>
            <a:r>
              <a:rPr lang="en-US">
                <a:latin typeface="PT Sans"/>
              </a:rPr>
              <a:t> der </a:t>
            </a:r>
            <a:r>
              <a:rPr lang="en-US" err="1">
                <a:latin typeface="PT Sans"/>
              </a:rPr>
              <a:t>geplante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Gesamtfunktionsumfang</a:t>
            </a:r>
            <a:r>
              <a:rPr lang="en-US">
                <a:latin typeface="PT Sans"/>
              </a:rPr>
              <a:t> der App in </a:t>
            </a:r>
            <a:r>
              <a:rPr lang="en-US" err="1">
                <a:latin typeface="PT Sans"/>
              </a:rPr>
              <a:t>modulare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Kernfunktionen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herunterbrechen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lässt</a:t>
            </a:r>
            <a:r>
              <a:rPr lang="en-US">
                <a:latin typeface="PT Sans"/>
              </a:rPr>
              <a:t>, die </a:t>
            </a:r>
            <a:r>
              <a:rPr lang="en-US" err="1">
                <a:latin typeface="PT Sans"/>
              </a:rPr>
              <a:t>trotz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begrenzter</a:t>
            </a:r>
            <a:r>
              <a:rPr lang="en-US">
                <a:latin typeface="PT Sans"/>
              </a:rPr>
              <a:t> Team- und </a:t>
            </a:r>
            <a:r>
              <a:rPr lang="en-US" err="1">
                <a:latin typeface="PT Sans"/>
              </a:rPr>
              <a:t>Zeitkapazität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vollständig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stabil</a:t>
            </a:r>
            <a:r>
              <a:rPr lang="en-US">
                <a:latin typeface="PT Sans"/>
              </a:rPr>
              <a:t> und in </a:t>
            </a:r>
            <a:r>
              <a:rPr lang="en-US" err="1">
                <a:latin typeface="PT Sans"/>
              </a:rPr>
              <a:t>nutzbarer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Qualität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implementiert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können</a:t>
            </a:r>
            <a:r>
              <a:rPr lang="en-US">
                <a:latin typeface="PT Sans"/>
              </a:rPr>
              <a:t>. </a:t>
            </a: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r>
              <a:rPr lang="en-US"/>
              <a:t>Exit: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Die </a:t>
            </a:r>
            <a:r>
              <a:rPr lang="en-US" err="1">
                <a:latin typeface="PT Sans"/>
              </a:rPr>
              <a:t>Kernfunktionen</a:t>
            </a:r>
            <a:r>
              <a:rPr lang="en-US">
                <a:latin typeface="PT Sans"/>
              </a:rPr>
              <a:t> (</a:t>
            </a:r>
            <a:r>
              <a:rPr lang="en-US" err="1">
                <a:latin typeface="PT Sans"/>
              </a:rPr>
              <a:t>Aufgaben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anzeigen,Antworten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auswählen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Lösungsabgabe</a:t>
            </a:r>
            <a:r>
              <a:rPr lang="en-US">
                <a:latin typeface="PT Sans"/>
              </a:rPr>
              <a:t>,</a:t>
            </a:r>
          </a:p>
          <a:p>
            <a:pPr>
              <a:lnSpc>
                <a:spcPct val="100000"/>
              </a:lnSpc>
            </a:pPr>
            <a:r>
              <a:rPr lang="en-US" err="1">
                <a:latin typeface="PT Sans"/>
              </a:rPr>
              <a:t>Lösungausgabe</a:t>
            </a:r>
            <a:r>
              <a:rPr lang="en-US">
                <a:latin typeface="PT Sans"/>
              </a:rPr>
              <a:t> und Navigation) </a:t>
            </a:r>
            <a:r>
              <a:rPr lang="en-US" err="1">
                <a:latin typeface="PT Sans"/>
              </a:rPr>
              <a:t>funktionieren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zuverlässig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Der </a:t>
            </a:r>
            <a:r>
              <a:rPr lang="en-US" err="1">
                <a:latin typeface="PT Sans"/>
              </a:rPr>
              <a:t>geschätzte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Zeitaufwand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wird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eingehalten</a:t>
            </a:r>
            <a:r>
              <a:rPr lang="en-US">
                <a:latin typeface="PT Sans"/>
              </a:rPr>
              <a:t>(+/- 20%)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Kernfunktionen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können</a:t>
            </a:r>
            <a:r>
              <a:rPr lang="en-US">
                <a:latin typeface="PT Sans"/>
              </a:rPr>
              <a:t> parallel </a:t>
            </a:r>
            <a:r>
              <a:rPr lang="en-US" err="1">
                <a:latin typeface="PT Sans"/>
              </a:rPr>
              <a:t>entwickelt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Features </a:t>
            </a:r>
            <a:r>
              <a:rPr lang="en-US" err="1">
                <a:latin typeface="PT Sans"/>
              </a:rPr>
              <a:t>sind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sauber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voneinander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getrennt</a:t>
            </a:r>
            <a:endParaRPr lang="en-US" err="1"/>
          </a:p>
          <a:p>
            <a:r>
              <a:rPr lang="en-US"/>
              <a:t>Fail: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Deaktivierte</a:t>
            </a:r>
            <a:r>
              <a:rPr lang="en-US">
                <a:latin typeface="PT Sans"/>
              </a:rPr>
              <a:t> Features </a:t>
            </a:r>
            <a:r>
              <a:rPr lang="en-US" err="1">
                <a:latin typeface="PT Sans"/>
              </a:rPr>
              <a:t>führen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App-Crashes </a:t>
            </a:r>
            <a:r>
              <a:rPr lang="en-US" err="1">
                <a:latin typeface="PT Sans"/>
              </a:rPr>
              <a:t>oder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inkonsistenter</a:t>
            </a:r>
            <a:r>
              <a:rPr lang="en-US">
                <a:latin typeface="PT Sans"/>
              </a:rPr>
              <a:t> UI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Die </a:t>
            </a:r>
            <a:r>
              <a:rPr lang="en-US" err="1">
                <a:latin typeface="PT Sans"/>
              </a:rPr>
              <a:t>Kernfunktionskette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funktioniert</a:t>
            </a:r>
            <a:r>
              <a:rPr lang="en-US">
                <a:latin typeface="PT Sans"/>
              </a:rPr>
              <a:t> nicht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Features </a:t>
            </a:r>
            <a:r>
              <a:rPr lang="en-US" err="1">
                <a:latin typeface="PT Sans"/>
              </a:rPr>
              <a:t>sind</a:t>
            </a:r>
            <a:r>
              <a:rPr lang="en-US">
                <a:latin typeface="PT Sans"/>
              </a:rPr>
              <a:t> nicht </a:t>
            </a:r>
            <a:r>
              <a:rPr lang="en-US" err="1">
                <a:latin typeface="PT Sans"/>
              </a:rPr>
              <a:t>sauber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voneinander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getrennt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Ein </a:t>
            </a:r>
            <a:r>
              <a:rPr lang="en-US" err="1">
                <a:latin typeface="PT Sans"/>
              </a:rPr>
              <a:t>großteil</a:t>
            </a:r>
            <a:r>
              <a:rPr lang="en-US">
                <a:latin typeface="PT Sans"/>
              </a:rPr>
              <a:t> der </a:t>
            </a:r>
            <a:r>
              <a:rPr lang="en-US" err="1">
                <a:latin typeface="PT Sans"/>
              </a:rPr>
              <a:t>Kernfunktionen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benötigt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deutlich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mehr</a:t>
            </a:r>
            <a:r>
              <a:rPr lang="en-US">
                <a:latin typeface="PT Sans"/>
              </a:rPr>
              <a:t> Zeit </a:t>
            </a:r>
            <a:r>
              <a:rPr lang="en-US" err="1">
                <a:latin typeface="PT Sans"/>
              </a:rPr>
              <a:t>als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geplant</a:t>
            </a:r>
          </a:p>
          <a:p>
            <a:endParaRPr lang="en-US"/>
          </a:p>
          <a:p>
            <a:r>
              <a:rPr lang="en-US"/>
              <a:t>Fallbacks: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1. </a:t>
            </a:r>
            <a:r>
              <a:rPr lang="en-US" err="1">
                <a:latin typeface="PT Sans"/>
              </a:rPr>
              <a:t>Funktionsumfang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reduzieren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2. </a:t>
            </a:r>
            <a:r>
              <a:rPr lang="en-US" err="1">
                <a:latin typeface="PT Sans"/>
              </a:rPr>
              <a:t>Aufgaben-Generierung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vereinfachen</a:t>
            </a:r>
          </a:p>
          <a:p>
            <a:endParaRPr lang="en-US"/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6C612004-263D-6E66-680C-98606692DD3D}"/>
              </a:ext>
            </a:extLst>
          </p:cNvPr>
          <p:cNvSpPr txBox="1"/>
          <p:nvPr/>
        </p:nvSpPr>
        <p:spPr>
          <a:xfrm>
            <a:off x="768350" y="1196090"/>
            <a:ext cx="11478332" cy="747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endParaRPr lang="en-US"/>
          </a:p>
          <a:p>
            <a:r>
              <a:rPr lang="en-US"/>
              <a:t>PoC 105: </a:t>
            </a:r>
            <a:r>
              <a:rPr lang="en-US" err="1"/>
              <a:t>Prüfung</a:t>
            </a:r>
            <a:r>
              <a:rPr lang="en-US"/>
              <a:t> der </a:t>
            </a:r>
            <a:r>
              <a:rPr lang="en-US" err="1"/>
              <a:t>Kernfunktionen</a:t>
            </a: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0B4817A7-CFDF-A94A-4C94-825E3D91262E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D2732-E96D-3553-EB08-0A5B800DD5A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436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4FDF-53BD-383C-FCB3-BB02B2B4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6859B067-5FC7-FFD1-AAAF-8B7A51538CA8}"/>
              </a:ext>
            </a:extLst>
          </p:cNvPr>
          <p:cNvSpPr txBox="1"/>
          <p:nvPr/>
        </p:nvSpPr>
        <p:spPr>
          <a:xfrm>
            <a:off x="766967" y="778217"/>
            <a:ext cx="2571217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Wichtigste</a:t>
            </a:r>
            <a:r>
              <a:rPr lang="en-US"/>
              <a:t> </a:t>
            </a:r>
            <a:r>
              <a:rPr lang="en-US" err="1"/>
              <a:t>PoCs</a:t>
            </a:r>
            <a:r>
              <a:rPr lang="en-US"/>
              <a:t> 2/3</a:t>
            </a:r>
            <a:endParaRPr lang="de-DE" err="1"/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06CAF701-36D3-942E-1900-179222049A53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BFD63596-3B28-9B9D-25B4-B89F9C6B5FB7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CEFE75C7-10EC-69A6-7B3B-A3FCAA8EBB93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21CA663E-DBF6-7AE7-5BFB-D49942428B54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3BAD2CCF-1412-B841-D2AF-CC31A5F69D98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A43DA1B5-C881-EB5F-5C1F-ACC75D1DC06F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D10E6E08-9A09-B68F-3A4F-F01C4B384944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37BE12DE-4808-8672-6785-BE2F445A6F13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C1D09A56-D88C-C711-3BEA-A6EA4BABA6FC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1422B7A2-42C2-956E-1950-BDE8A883A4FC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61F1F605-162F-E072-4AC3-1F5FE01F82C4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C314A78B-DD90-15F9-90CE-1EF1DAD747C6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E8D09ED8-1612-5154-4D51-9E3495EB2C89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AE5CE217-619D-F1CE-8060-E289E933CA0B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95E8C403-7C17-8E67-5618-A4174A77B53B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737D37F4-631C-825B-832E-924BC1C1A4EE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BB7214AE-3DAD-8FE7-46E8-8E5321693921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1F777418-23AB-CBA1-DB4A-5C0CE000DA4E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81902102-9795-300F-3E81-ADC902952616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D7ABD192-FC0A-15C8-DCFB-BF118D25279F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AABC8ABD-9A0D-5546-0D9F-2A725269B207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AD79A548-B823-D24B-8698-04F12EDAD13A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C1FBA991-C27C-3025-81ED-36A7DFD614F9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70F848A1-7E49-8AF0-4E81-D8210A8C505B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08226968-6CC0-D985-C32C-E693E1D11672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AFDF4906-7DAF-2BE8-7D34-EFC56081D7D4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DDD63F36-C2BE-960B-9EB1-5B4E728EBC2E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78FBE302-E27F-DA2D-E06B-4C750AA8D548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238C7DA2-FB88-3FD5-5892-CB4C06595EA2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4165305E-0324-2EED-C139-4BB66C91DBCA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894C7E58-02F4-EDF6-2C75-312169D4BA70}"/>
              </a:ext>
            </a:extLst>
          </p:cNvPr>
          <p:cNvSpPr txBox="1"/>
          <p:nvPr/>
        </p:nvSpPr>
        <p:spPr>
          <a:xfrm>
            <a:off x="768350" y="2215655"/>
            <a:ext cx="11478332" cy="638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Beschreibung</a:t>
            </a:r>
            <a:r>
              <a:rPr lang="en-US"/>
              <a:t>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Es </a:t>
            </a:r>
            <a:r>
              <a:rPr lang="en-US" err="1">
                <a:latin typeface="PT Sans"/>
              </a:rPr>
              <a:t>soll</a:t>
            </a:r>
            <a:r>
              <a:rPr lang="en-US">
                <a:latin typeface="PT Sans"/>
              </a:rPr>
              <a:t> der </a:t>
            </a:r>
            <a:r>
              <a:rPr lang="en-US" err="1">
                <a:latin typeface="PT Sans"/>
              </a:rPr>
              <a:t>Umfang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aller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Statistik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Methoden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geprüft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, in dem </a:t>
            </a:r>
            <a:r>
              <a:rPr lang="en-US" err="1">
                <a:latin typeface="PT Sans"/>
              </a:rPr>
              <a:t>jede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Statistik</a:t>
            </a:r>
            <a:r>
              <a:rPr lang="en-US">
                <a:latin typeface="PT Sans"/>
              </a:rPr>
              <a:t>-Methode in </a:t>
            </a:r>
            <a:r>
              <a:rPr lang="en-US" err="1">
                <a:latin typeface="PT Sans"/>
              </a:rPr>
              <a:t>einem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simplen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Kernkonzept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implementiert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wird</a:t>
            </a:r>
            <a:r>
              <a:rPr lang="en-US">
                <a:latin typeface="PT Sans"/>
              </a:rPr>
              <a:t>, um </a:t>
            </a:r>
            <a:r>
              <a:rPr lang="en-US" err="1">
                <a:latin typeface="PT Sans"/>
              </a:rPr>
              <a:t>einschätzen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können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wie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lange</a:t>
            </a:r>
            <a:r>
              <a:rPr lang="en-US">
                <a:latin typeface="PT Sans"/>
              </a:rPr>
              <a:t> die </a:t>
            </a:r>
            <a:r>
              <a:rPr lang="en-US" err="1">
                <a:latin typeface="PT Sans"/>
              </a:rPr>
              <a:t>vollständige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Implementierung</a:t>
            </a:r>
            <a:r>
              <a:rPr lang="en-US">
                <a:latin typeface="PT Sans"/>
              </a:rPr>
              <a:t> der Methode </a:t>
            </a:r>
            <a:r>
              <a:rPr lang="en-US" err="1">
                <a:latin typeface="PT Sans"/>
              </a:rPr>
              <a:t>benötigt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wie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komplex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diese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ausfällt</a:t>
            </a:r>
            <a:r>
              <a:rPr lang="en-US">
                <a:latin typeface="PT Sans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err="1">
                <a:latin typeface="PT Sans"/>
              </a:rPr>
              <a:t>Darstellungs</a:t>
            </a:r>
            <a:r>
              <a:rPr lang="en-US">
                <a:latin typeface="PT Sans"/>
              </a:rPr>
              <a:t>: </a:t>
            </a:r>
            <a:r>
              <a:rPr lang="en-US" err="1">
                <a:latin typeface="PT Sans"/>
              </a:rPr>
              <a:t>Achsenanpassung</a:t>
            </a:r>
            <a:r>
              <a:rPr lang="en-US">
                <a:latin typeface="PT Sans"/>
              </a:rPr>
              <a:t>/</a:t>
            </a:r>
            <a:r>
              <a:rPr lang="en-US" err="1">
                <a:latin typeface="PT Sans"/>
              </a:rPr>
              <a:t>Verschiebung</a:t>
            </a:r>
            <a:r>
              <a:rPr lang="en-US">
                <a:latin typeface="PT Sans"/>
              </a:rPr>
              <a:t> , </a:t>
            </a:r>
            <a:r>
              <a:rPr lang="en-US" err="1">
                <a:latin typeface="PT Sans"/>
              </a:rPr>
              <a:t>Ungleichmäßige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Achsen-Intervalle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Skalierung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Fehlende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Beschriftung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Stilistische</a:t>
            </a:r>
            <a:r>
              <a:rPr lang="en-US">
                <a:latin typeface="PT Sans"/>
              </a:rPr>
              <a:t> Mittel, </a:t>
            </a:r>
            <a:r>
              <a:rPr lang="en-US" err="1">
                <a:latin typeface="PT Sans"/>
              </a:rPr>
              <a:t>Überlappung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Okkludierung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 err="1">
                <a:latin typeface="PT Sans"/>
              </a:rPr>
              <a:t>Verzerrungs</a:t>
            </a:r>
            <a:r>
              <a:rPr lang="en-US">
                <a:latin typeface="PT Sans"/>
              </a:rPr>
              <a:t>: </a:t>
            </a:r>
            <a:r>
              <a:rPr lang="en-US" err="1">
                <a:latin typeface="PT Sans"/>
              </a:rPr>
              <a:t>Gewollte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Selekton</a:t>
            </a:r>
            <a:r>
              <a:rPr lang="en-US">
                <a:latin typeface="PT Sans"/>
              </a:rPr>
              <a:t> von </a:t>
            </a:r>
            <a:r>
              <a:rPr lang="en-US" err="1">
                <a:latin typeface="PT Sans"/>
              </a:rPr>
              <a:t>Daten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eines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kompletten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Satzes</a:t>
            </a:r>
            <a:r>
              <a:rPr lang="en-US">
                <a:latin typeface="PT Sans"/>
              </a:rPr>
              <a:t> (Cherry-Picking), </a:t>
            </a:r>
            <a:r>
              <a:rPr lang="en-US" err="1">
                <a:latin typeface="PT Sans"/>
              </a:rPr>
              <a:t>Auswahl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günstiger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Zeitfenster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r>
              <a:rPr lang="en-US"/>
              <a:t>Exit: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Es </a:t>
            </a:r>
            <a:r>
              <a:rPr lang="en-US" err="1">
                <a:latin typeface="PT Sans"/>
              </a:rPr>
              <a:t>ist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Basisversion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aller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Statistik-Methoden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implementiert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Die </a:t>
            </a:r>
            <a:r>
              <a:rPr lang="en-US" err="1">
                <a:latin typeface="PT Sans"/>
              </a:rPr>
              <a:t>vollständige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Implementierung</a:t>
            </a:r>
            <a:r>
              <a:rPr lang="en-US">
                <a:latin typeface="PT Sans"/>
              </a:rPr>
              <a:t> alle </a:t>
            </a:r>
            <a:r>
              <a:rPr lang="en-US" err="1">
                <a:latin typeface="PT Sans"/>
              </a:rPr>
              <a:t>Methoden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ist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ausreichend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einschätzbar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Der </a:t>
            </a:r>
            <a:r>
              <a:rPr lang="en-US" err="1">
                <a:latin typeface="PT Sans"/>
              </a:rPr>
              <a:t>Implementierungumfang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keiner</a:t>
            </a:r>
            <a:r>
              <a:rPr lang="en-US">
                <a:latin typeface="PT Sans"/>
              </a:rPr>
              <a:t> Methode </a:t>
            </a:r>
            <a:r>
              <a:rPr lang="en-US" err="1">
                <a:latin typeface="PT Sans"/>
              </a:rPr>
              <a:t>überschreitet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Projektgefährendes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Niveau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r>
              <a:rPr lang="en-US"/>
              <a:t>Fail: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Eine </a:t>
            </a:r>
            <a:r>
              <a:rPr lang="en-US" err="1">
                <a:latin typeface="PT Sans"/>
              </a:rPr>
              <a:t>Methodik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kann</a:t>
            </a:r>
            <a:r>
              <a:rPr lang="en-US">
                <a:latin typeface="PT Sans"/>
              </a:rPr>
              <a:t> nicht </a:t>
            </a:r>
            <a:r>
              <a:rPr lang="en-US" err="1">
                <a:latin typeface="PT Sans"/>
              </a:rPr>
              <a:t>implementiert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Eine </a:t>
            </a:r>
            <a:r>
              <a:rPr lang="en-US" err="1">
                <a:latin typeface="PT Sans"/>
              </a:rPr>
              <a:t>Methodik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weist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sich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als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komplex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aus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Eine </a:t>
            </a:r>
            <a:r>
              <a:rPr lang="en-US" err="1">
                <a:latin typeface="PT Sans"/>
              </a:rPr>
              <a:t>Methodik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benötigt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zu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viel</a:t>
            </a:r>
            <a:r>
              <a:rPr lang="en-US">
                <a:latin typeface="PT Sans"/>
              </a:rPr>
              <a:t> Zeit </a:t>
            </a:r>
            <a:r>
              <a:rPr lang="en-US" err="1">
                <a:latin typeface="PT Sans"/>
              </a:rPr>
              <a:t>bei</a:t>
            </a:r>
            <a:r>
              <a:rPr lang="en-US">
                <a:latin typeface="PT Sans"/>
              </a:rPr>
              <a:t> der </a:t>
            </a:r>
            <a:r>
              <a:rPr lang="en-US" err="1">
                <a:latin typeface="PT Sans"/>
              </a:rPr>
              <a:t>Umsetzung</a:t>
            </a:r>
            <a:endParaRPr lang="en-US">
              <a:latin typeface="PT Sans"/>
            </a:endParaRPr>
          </a:p>
          <a:p>
            <a:endParaRPr lang="en-US"/>
          </a:p>
          <a:p>
            <a:r>
              <a:rPr lang="en-US"/>
              <a:t>Fallbacks: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1. Es </a:t>
            </a:r>
            <a:r>
              <a:rPr lang="en-US" err="1">
                <a:latin typeface="PT Sans"/>
              </a:rPr>
              <a:t>wird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anderes</a:t>
            </a:r>
            <a:r>
              <a:rPr lang="en-US">
                <a:latin typeface="PT Sans"/>
              </a:rPr>
              <a:t> Personal für die </a:t>
            </a:r>
            <a:r>
              <a:rPr lang="en-US" err="1">
                <a:latin typeface="PT Sans"/>
              </a:rPr>
              <a:t>Aufgabenlogik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eingeteilt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2. Es </a:t>
            </a:r>
            <a:r>
              <a:rPr lang="en-US" err="1">
                <a:latin typeface="PT Sans"/>
              </a:rPr>
              <a:t>wird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mehr</a:t>
            </a:r>
            <a:r>
              <a:rPr lang="en-US">
                <a:latin typeface="PT Sans"/>
              </a:rPr>
              <a:t> Personal/Zeit für die </a:t>
            </a:r>
            <a:r>
              <a:rPr lang="en-US" err="1">
                <a:latin typeface="PT Sans"/>
              </a:rPr>
              <a:t>Aufgabenlogik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eingeteilt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3. </a:t>
            </a:r>
            <a:r>
              <a:rPr lang="en-US" err="1">
                <a:latin typeface="PT Sans"/>
              </a:rPr>
              <a:t>Statistik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Methoden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reduziert</a:t>
            </a: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endParaRPr lang="en-US"/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974EBD2F-7785-0A15-59D4-084B2CA6FFF9}"/>
              </a:ext>
            </a:extLst>
          </p:cNvPr>
          <p:cNvSpPr txBox="1"/>
          <p:nvPr/>
        </p:nvSpPr>
        <p:spPr>
          <a:xfrm>
            <a:off x="768350" y="1196090"/>
            <a:ext cx="11478332" cy="747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endParaRPr lang="en-US"/>
          </a:p>
          <a:p>
            <a:r>
              <a:rPr lang="en-US"/>
              <a:t>PoC 102: </a:t>
            </a:r>
            <a:r>
              <a:rPr lang="en-US" err="1"/>
              <a:t>Prüfung</a:t>
            </a:r>
            <a:r>
              <a:rPr lang="en-US"/>
              <a:t> der </a:t>
            </a:r>
            <a:r>
              <a:rPr lang="en-US" err="1"/>
              <a:t>Aufgabenlogik</a:t>
            </a: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E480F433-25D9-2A06-3EE7-42E9D1D0530F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D39075-F371-B404-A06B-60B01218EA6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3191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BCBB-66B1-8467-CF68-FDC66A41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07B8CA08-D77C-778E-F906-B40A1AB81EDD}"/>
              </a:ext>
            </a:extLst>
          </p:cNvPr>
          <p:cNvSpPr txBox="1"/>
          <p:nvPr/>
        </p:nvSpPr>
        <p:spPr>
          <a:xfrm>
            <a:off x="766967" y="778217"/>
            <a:ext cx="256801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Wichtigste</a:t>
            </a:r>
            <a:r>
              <a:rPr lang="en-US"/>
              <a:t> </a:t>
            </a:r>
            <a:r>
              <a:rPr lang="en-US" err="1"/>
              <a:t>PoCs</a:t>
            </a:r>
            <a:r>
              <a:rPr lang="en-US"/>
              <a:t> 3/3</a:t>
            </a:r>
            <a:endParaRPr lang="de-DE" err="1"/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51818F2A-5FEC-3185-9DCE-51BD9BF9E5E4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0768EFFD-5096-DB95-1DD5-434F6BFB1FE7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C13A7C1D-C405-A419-F2C4-B026AC750351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EBB6750D-5B0F-3840-1257-97509A710D3A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81B243EB-D5D6-FEFE-8A0A-3E06F116C275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753E80D1-0ABC-B9D6-D37D-94DEF5F5EF8E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A685F1D5-90EC-2578-5DEC-9EF742D271C6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B19C9772-6F01-89ED-A5B2-EA703811F4B1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196997DC-85E7-6C5D-4871-9BB97A0C0DC4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5527BED1-1B03-BB66-FB16-18C585033B11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256FC1E4-9981-A665-2558-B25EFD3B2686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159DEAF8-06CE-430C-A6AA-F1337AC3B8D9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D61188F2-4597-0D42-27BD-09D3855F78D8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7F417DCF-14D4-F955-F6A2-8789BCAF5473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53E31199-5F29-07EB-A0A4-B890D0518EA1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A4FF5EFC-1D2A-EAFC-0635-DADDCF0417A2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27E51D30-3C64-8FC2-7D39-60AAFFB53FCF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DD477454-B25D-5364-F3F2-A48BD7267D01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F0E0476C-0F3B-ECC9-4045-D95E41799D34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EB61E992-11D1-3919-4D27-824F50EE7D54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36619F53-FBCF-5930-7C8F-1C7895E5AC7D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9EE681F9-5B26-AE6C-3142-F105F0E59625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DFEDD4E5-1F7F-B4D4-AEED-D25DCABE7D29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1A93B1D5-9844-6EEC-B480-A6DF3053A404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88AFD89A-53EC-B290-5F70-1EB25051D791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C33B0A9C-F435-72B5-4078-4F1A9F777DC4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B7C1B87A-9A0F-2120-8A39-0CA7E186EE12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CAAA2054-9E70-A37A-A868-0E680CDBFD8B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CEF1044D-95E8-2CFE-D02A-FE64D054D1EA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ADE47EAE-082D-B26A-72AD-21BE35EE2B46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C5D451B2-2AE7-483B-7C6F-868D878EB823}"/>
              </a:ext>
            </a:extLst>
          </p:cNvPr>
          <p:cNvSpPr txBox="1"/>
          <p:nvPr/>
        </p:nvSpPr>
        <p:spPr>
          <a:xfrm>
            <a:off x="768350" y="2162409"/>
            <a:ext cx="11478332" cy="636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err="1"/>
              <a:t>Beschreibung</a:t>
            </a:r>
            <a:r>
              <a:rPr lang="en-US"/>
              <a:t>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Es </a:t>
            </a:r>
            <a:r>
              <a:rPr lang="en-US" err="1">
                <a:latin typeface="PT Sans"/>
              </a:rPr>
              <a:t>soll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geprüft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werden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ob</a:t>
            </a:r>
            <a:r>
              <a:rPr lang="en-US">
                <a:latin typeface="PT Sans"/>
              </a:rPr>
              <a:t> die App </a:t>
            </a:r>
            <a:r>
              <a:rPr lang="en-US" err="1">
                <a:latin typeface="PT Sans"/>
              </a:rPr>
              <a:t>genügend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Spielspaß</a:t>
            </a:r>
            <a:r>
              <a:rPr lang="en-US">
                <a:latin typeface="PT Sans"/>
              </a:rPr>
              <a:t> und </a:t>
            </a:r>
            <a:r>
              <a:rPr lang="en-US" err="1">
                <a:latin typeface="PT Sans"/>
              </a:rPr>
              <a:t>Erfolgserlebnisse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liefert</a:t>
            </a:r>
            <a:r>
              <a:rPr lang="en-US">
                <a:latin typeface="PT Sans"/>
              </a:rPr>
              <a:t>, </a:t>
            </a:r>
            <a:r>
              <a:rPr lang="en-US" err="1">
                <a:latin typeface="PT Sans"/>
              </a:rPr>
              <a:t>zur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 err="1">
                <a:latin typeface="PT Sans"/>
              </a:rPr>
              <a:t>Gewährleistung</a:t>
            </a:r>
            <a:r>
              <a:rPr lang="en-US">
                <a:latin typeface="PT Sans"/>
              </a:rPr>
              <a:t> der </a:t>
            </a:r>
            <a:r>
              <a:rPr lang="en-US" err="1">
                <a:latin typeface="PT Sans"/>
              </a:rPr>
              <a:t>Nutzermotivation</a:t>
            </a:r>
            <a:r>
              <a:rPr lang="en-US">
                <a:latin typeface="PT Sans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Gamification </a:t>
            </a:r>
            <a:r>
              <a:rPr lang="en-US" err="1">
                <a:latin typeface="PT Sans"/>
              </a:rPr>
              <a:t>Elemente</a:t>
            </a:r>
            <a:r>
              <a:rPr lang="en-US">
                <a:latin typeface="PT Sans"/>
              </a:rPr>
              <a:t>: Experience System, XP Rewards (Titel, Customization), Achievements, Daily Challenges/Streaks, User </a:t>
            </a:r>
            <a:r>
              <a:rPr lang="en-US" err="1">
                <a:latin typeface="PT Sans"/>
              </a:rPr>
              <a:t>Statistik</a:t>
            </a:r>
            <a:r>
              <a:rPr lang="en-US">
                <a:latin typeface="PT Sans"/>
              </a:rPr>
              <a:t>, </a:t>
            </a:r>
            <a:r>
              <a:rPr lang="en-US" err="1">
                <a:latin typeface="PT Sans"/>
              </a:rPr>
              <a:t>Schwierigkeitsgrade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r>
              <a:rPr lang="en-US"/>
              <a:t>Exit: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Mindestens</a:t>
            </a:r>
            <a:r>
              <a:rPr lang="en-US">
                <a:latin typeface="PT Sans"/>
              </a:rPr>
              <a:t> 4/6 der Gamification </a:t>
            </a:r>
            <a:r>
              <a:rPr lang="en-US" err="1">
                <a:latin typeface="PT Sans"/>
              </a:rPr>
              <a:t>Methoden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wurden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implementiert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Nutzer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zeigen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wiederholte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Sitzungen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Nutzer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bewerten</a:t>
            </a:r>
            <a:r>
              <a:rPr lang="en-US">
                <a:latin typeface="PT Sans"/>
              </a:rPr>
              <a:t> die App </a:t>
            </a:r>
            <a:r>
              <a:rPr lang="en-US" err="1">
                <a:latin typeface="PT Sans"/>
              </a:rPr>
              <a:t>als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spaßig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Nutzer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berichten</a:t>
            </a:r>
            <a:r>
              <a:rPr lang="en-US">
                <a:latin typeface="PT Sans"/>
              </a:rPr>
              <a:t> von </a:t>
            </a:r>
            <a:r>
              <a:rPr lang="en-US" err="1">
                <a:latin typeface="PT Sans"/>
              </a:rPr>
              <a:t>positiven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Erfolgserlebnissen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r>
              <a:rPr lang="en-US"/>
              <a:t>Fail: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Ungenügender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Einsatz</a:t>
            </a:r>
            <a:r>
              <a:rPr lang="en-US">
                <a:latin typeface="PT Sans"/>
              </a:rPr>
              <a:t> von Gamification </a:t>
            </a:r>
            <a:r>
              <a:rPr lang="en-US" err="1">
                <a:latin typeface="PT Sans"/>
              </a:rPr>
              <a:t>methoden</a:t>
            </a:r>
            <a:r>
              <a:rPr lang="en-US">
                <a:latin typeface="PT Sans"/>
              </a:rPr>
              <a:t> (&lt;4/6)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Nutzer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brechen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Aufgaben</a:t>
            </a:r>
            <a:r>
              <a:rPr lang="en-US">
                <a:latin typeface="PT Sans"/>
              </a:rPr>
              <a:t> ab </a:t>
            </a:r>
            <a:r>
              <a:rPr lang="en-US" err="1">
                <a:latin typeface="PT Sans"/>
              </a:rPr>
              <a:t>oder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kehren</a:t>
            </a:r>
            <a:r>
              <a:rPr lang="en-US">
                <a:latin typeface="PT Sans"/>
              </a:rPr>
              <a:t> nicht </a:t>
            </a:r>
            <a:r>
              <a:rPr lang="en-US" err="1">
                <a:latin typeface="PT Sans"/>
              </a:rPr>
              <a:t>wieder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- </a:t>
            </a:r>
            <a:r>
              <a:rPr lang="en-US" err="1">
                <a:latin typeface="PT Sans"/>
              </a:rPr>
              <a:t>Belohnungssystem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wird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als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langweilig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oder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unverständlich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erlebt</a:t>
            </a:r>
            <a:endParaRPr lang="en-US">
              <a:latin typeface="PT Sans"/>
            </a:endParaRP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r>
              <a:rPr lang="en-US"/>
              <a:t>Fallbacks: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1. </a:t>
            </a:r>
            <a:r>
              <a:rPr lang="en-US" err="1">
                <a:latin typeface="PT Sans"/>
              </a:rPr>
              <a:t>Anpassung</a:t>
            </a:r>
            <a:r>
              <a:rPr lang="en-US">
                <a:latin typeface="PT Sans"/>
              </a:rPr>
              <a:t> der </a:t>
            </a:r>
            <a:r>
              <a:rPr lang="en-US" err="1">
                <a:latin typeface="PT Sans"/>
              </a:rPr>
              <a:t>Belohnungsfrequenz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2. </a:t>
            </a:r>
            <a:r>
              <a:rPr lang="en-US" err="1">
                <a:latin typeface="PT Sans"/>
              </a:rPr>
              <a:t>leichter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erreichbare</a:t>
            </a:r>
            <a:r>
              <a:rPr lang="en-US">
                <a:latin typeface="PT Sans"/>
              </a:rPr>
              <a:t> Badges </a:t>
            </a:r>
            <a:r>
              <a:rPr lang="en-US" err="1">
                <a:latin typeface="PT Sans"/>
              </a:rPr>
              <a:t>statt</a:t>
            </a:r>
            <a:r>
              <a:rPr lang="en-US">
                <a:latin typeface="PT Sans"/>
              </a:rPr>
              <a:t> Achievements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3. </a:t>
            </a:r>
            <a:r>
              <a:rPr lang="en-US" err="1">
                <a:latin typeface="PT Sans"/>
              </a:rPr>
              <a:t>Erweiterung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mit</a:t>
            </a:r>
            <a:r>
              <a:rPr lang="en-US">
                <a:latin typeface="PT Sans"/>
              </a:rPr>
              <a:t> </a:t>
            </a:r>
            <a:r>
              <a:rPr lang="en-US" err="1">
                <a:latin typeface="PT Sans"/>
              </a:rPr>
              <a:t>weiteren</a:t>
            </a:r>
            <a:r>
              <a:rPr lang="en-US">
                <a:latin typeface="PT Sans"/>
              </a:rPr>
              <a:t> Gamification </a:t>
            </a:r>
            <a:r>
              <a:rPr lang="en-US" err="1">
                <a:latin typeface="PT Sans"/>
              </a:rPr>
              <a:t>Methoden</a:t>
            </a:r>
          </a:p>
          <a:p>
            <a:pPr>
              <a:lnSpc>
                <a:spcPct val="100000"/>
              </a:lnSpc>
            </a:pPr>
            <a:r>
              <a:rPr lang="en-US">
                <a:latin typeface="PT Sans"/>
              </a:rPr>
              <a:t>4. </a:t>
            </a:r>
            <a:r>
              <a:rPr lang="en-US" err="1">
                <a:latin typeface="PT Sans"/>
              </a:rPr>
              <a:t>Anpassung</a:t>
            </a:r>
            <a:r>
              <a:rPr lang="en-US">
                <a:latin typeface="PT Sans"/>
              </a:rPr>
              <a:t> der </a:t>
            </a:r>
            <a:r>
              <a:rPr lang="en-US" err="1">
                <a:latin typeface="PT Sans"/>
              </a:rPr>
              <a:t>Schwierigkeitsgrade</a:t>
            </a:r>
          </a:p>
          <a:p>
            <a:pPr>
              <a:lnSpc>
                <a:spcPct val="100000"/>
              </a:lnSpc>
            </a:pPr>
            <a:endParaRPr lang="en-US">
              <a:latin typeface="PT Sans"/>
            </a:endParaRPr>
          </a:p>
          <a:p>
            <a:endParaRPr lang="en-US"/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AB9ED3F8-7254-9E9A-556D-D684B4454322}"/>
              </a:ext>
            </a:extLst>
          </p:cNvPr>
          <p:cNvSpPr txBox="1"/>
          <p:nvPr/>
        </p:nvSpPr>
        <p:spPr>
          <a:xfrm>
            <a:off x="768350" y="1196090"/>
            <a:ext cx="11478332" cy="747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endParaRPr lang="en-US"/>
          </a:p>
          <a:p>
            <a:r>
              <a:rPr lang="en-US" dirty="0"/>
              <a:t>PoC 106: </a:t>
            </a:r>
            <a:r>
              <a:rPr lang="en-US" dirty="0" err="1"/>
              <a:t>Prüfung</a:t>
            </a:r>
            <a:r>
              <a:rPr lang="en-US" dirty="0"/>
              <a:t> der Gamification</a:t>
            </a: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1A7B4B91-D322-E901-5B35-E14CAD1F0E86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3351B-E4C5-BE25-12AD-7D9EF5D1664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403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4264B-C808-E11E-6731-C898D2B5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A74DBC75-784B-8AB5-8BB8-7FDDDA327B8D}"/>
              </a:ext>
            </a:extLst>
          </p:cNvPr>
          <p:cNvSpPr txBox="1"/>
          <p:nvPr/>
        </p:nvSpPr>
        <p:spPr>
          <a:xfrm>
            <a:off x="766967" y="778217"/>
            <a:ext cx="3124253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/>
              <a:t>Bonus: Figma-Mockups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22DEF8D3-A00E-2714-3F41-CD3779A9FBE4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33394674-60B3-8127-313D-35A171C91692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81560C7B-245D-4996-6F0F-C09E12C098F8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16A95E7C-DCEC-3970-9342-7672861D3087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41C7F166-F082-9CD2-8350-87D1AE050523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A4E124B8-480B-20BF-6ECA-1CEEE86DE764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FB6CF8B1-A51E-1B7D-8D2B-21197E9B748B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08ED7D55-05A0-B90C-6114-0045B62723CF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1FC6A31F-659E-3895-1B30-4A38AFD2CF01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8E9B9E92-15E7-B7D6-8CCD-6AA0893DEEDB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5D5031E6-AB06-B22E-5D0C-A01B7B4A319C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842F5D71-2A8C-3452-86AE-815D1CB7AB04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5C4B4BEF-E1FD-7018-545B-43EAE6D47491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62DE375A-602B-E7F7-4BA5-110DED7F138B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0EBCCFA0-421E-0BD0-461B-DD502C8B318A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44F8BC6B-E25C-F5E4-3807-413CF62528C8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F1E38206-8172-530C-2D66-9C16B6EBEE24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4F564F4E-5BC1-4646-6657-5CAACB0C309F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4A7DF20E-D03A-D0D6-4E26-30874E0738E4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09B5BEDC-50BA-C689-CDE6-EC77CF78D79C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14D450A8-C7AF-57B9-B05E-5EDFF37BE835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DB9AA227-5115-BF77-BA38-2FD16FA66088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65CA9722-7DB9-88F3-D136-89B2A0AFD137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51FCEF1D-DA9E-2AC5-43A5-D6A8E1207845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36320687-4B56-D247-0976-5978816A6888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A91884B7-3772-666C-D043-1F578EACDE74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B93CFE70-A414-1BFB-E7DF-B1885713CF2A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692AB929-F5C1-9C63-160C-80FECFA589FE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C7AF9241-7619-7048-A9F3-24D7936E534C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59ADAB4D-62C7-2253-83E7-21F9CDAB8CC5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7F940CB8-35BC-78D6-8964-17302669F986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pic>
        <p:nvPicPr>
          <p:cNvPr id="4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5F40DC6-9F03-ACC3-7E07-CB73C8C79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67" y="2873666"/>
            <a:ext cx="3594100" cy="4127500"/>
          </a:xfrm>
          <a:prstGeom prst="rect">
            <a:avLst/>
          </a:prstGeom>
        </p:spPr>
      </p:pic>
      <p:pic>
        <p:nvPicPr>
          <p:cNvPr id="6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360B25F-6454-FFFC-865E-B8FEAC7B04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079" y="3147927"/>
            <a:ext cx="3098800" cy="3568700"/>
          </a:xfrm>
          <a:prstGeom prst="rect">
            <a:avLst/>
          </a:prstGeom>
        </p:spPr>
      </p:pic>
      <p:pic>
        <p:nvPicPr>
          <p:cNvPr id="8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EABCEE4-E0B5-9C45-7BCC-664DBC2D1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47" y="3150703"/>
            <a:ext cx="3098800" cy="35687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8F45B0-F69F-9984-62AD-D41EDCB4827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693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C29D-8F3A-9F32-D5B2-19B2C1E6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3A44F9AB-8D85-DDAA-103E-33B82F014584}"/>
              </a:ext>
            </a:extLst>
          </p:cNvPr>
          <p:cNvSpPr txBox="1"/>
          <p:nvPr/>
        </p:nvSpPr>
        <p:spPr>
          <a:xfrm>
            <a:off x="793497" y="778217"/>
            <a:ext cx="3941785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dirty="0" err="1"/>
              <a:t>Quellen</a:t>
            </a:r>
            <a:r>
              <a:rPr lang="en-US" dirty="0"/>
              <a:t>: </a:t>
            </a:r>
            <a:r>
              <a:rPr lang="en-US" dirty="0" err="1"/>
              <a:t>Artefakte</a:t>
            </a:r>
            <a:r>
              <a:rPr lang="en-US" dirty="0"/>
              <a:t> Audit 2 (1/3)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66CD746A-3C9E-961A-A1A9-9A04FB98CFA1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46799419-8236-40CF-35E9-879B1E6A842E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649BE897-5B2C-11A9-2440-851B81498BA6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330D1E3C-42DB-3F93-129E-E9337ACB46FD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1D20569B-FD3F-A1CD-EF3B-FC68CBA718FF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2BAADB94-0C69-E619-62B1-FAFEC9EA53FF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ACB59142-BBD9-AA01-E281-516CE57ECC90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B1949E6B-BB2E-AC83-A329-EA8C7D7957CA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490A547E-FDBE-484A-DDCC-55457D00BF02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AC0E6551-B188-1596-72CF-92458536885F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8C04A8EF-92BE-D300-4A84-481B158DFB05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81E11EB6-7913-3EBD-E658-50E66DCEE1DA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853FF0F5-DDDD-DAED-D7FC-9A68CD19F81E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F16550AC-0E13-EB50-C66A-3A0222A28F4A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E6665B90-E09F-F42B-7FC2-9AA6289E1737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431DDEE6-1378-8A8D-F3F5-9FAF88F879B0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E5A11969-2E33-2146-22A2-B932C44E91A3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46AF7CC8-5306-B1BB-D04B-15AAB78C2299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C09C4BE9-6C92-48DC-7E82-D67BB316C1E2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DCD014DC-83D7-4F90-DAD9-F585D12EB348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113A7907-8DB9-9123-D2CB-6D6B234BC51C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D8522C3F-5412-1C94-8D90-7DB51303FAF9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59C40508-8257-34BF-8B9E-AFC7EDE0D442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42469B35-171B-FB70-75F6-5AAE15F28647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075B990A-3261-102F-6D3A-C7BC553DD39D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84C1CF64-46E5-2B19-EAA5-D5F1AB4F0FE8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FE6DCA16-59DA-F869-BE41-97CBF010582A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D46E663B-A25C-EB70-03FF-2D8B243407C6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6C66E331-C5F4-3BF1-D3D1-9EA55FFA8C71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78E6E1FC-DE4C-7602-9455-B5AF34F1B4EB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42614F01-7FDC-9F56-5C49-699B6E3E46AF}"/>
              </a:ext>
            </a:extLst>
          </p:cNvPr>
          <p:cNvSpPr txBox="1"/>
          <p:nvPr/>
        </p:nvSpPr>
        <p:spPr>
          <a:xfrm>
            <a:off x="781674" y="1512315"/>
            <a:ext cx="11465008" cy="590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sz="1600" dirty="0">
                <a:hlinkClick r:id="rId3"/>
              </a:rPr>
              <a:t>https://smart.dhgate.com/small-sample-size-why-its-bad-for-research-outcomes/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https://designbuddy.substack.com/p/intent-frame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https://pmc.ncbi.nlm.nih.gov/articles/PMC9645302/</a:t>
            </a:r>
            <a:endParaRPr lang="en-US" sz="1600" dirty="0"/>
          </a:p>
          <a:p>
            <a:endParaRPr lang="en-US" sz="1400" dirty="0"/>
          </a:p>
          <a:p>
            <a:r>
              <a:rPr lang="en-US" sz="1600" dirty="0">
                <a:hlinkClick r:id="rId6"/>
              </a:rPr>
              <a:t>https://www.clearerthinking.org/post/are-you-being-misled-by-statistics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7"/>
              </a:rPr>
              <a:t>https://pmc.ncbi.nlm.nih.gov/articles/PMC7419489/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8"/>
              </a:rPr>
              <a:t>https://journals.sagepub.com/doi/full/10.1177/2515245917745629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9"/>
              </a:rPr>
              <a:t>https://www.clearinghouse.edu.tum.de/spielbasiertes-lernen/spielbasiertes-lernen-und-motivation/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10"/>
              </a:rPr>
              <a:t>https://experientiallearninginstitute.org/what-is-experiential-learning/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11"/>
              </a:rPr>
              <a:t>https://uwaterloo.ca/centre-for-teaching-excellence/catalogs/tip-sheets/gamification-and-game-based-learning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12"/>
              </a:rPr>
              <a:t>https://www.sciencedirect.com/science/chapter/bookseries/abs/pii/B9780123876911000028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75149A1B-2A57-0DF8-C994-F54F068B4ED7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9AC3D1-6E77-53B7-7F27-89F4B923992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6278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0B9B8-97C6-9FC2-0818-57600972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CB199FFB-D5B1-0FE1-4C60-A026FE33D191}"/>
              </a:ext>
            </a:extLst>
          </p:cNvPr>
          <p:cNvSpPr txBox="1"/>
          <p:nvPr/>
        </p:nvSpPr>
        <p:spPr>
          <a:xfrm>
            <a:off x="793497" y="778217"/>
            <a:ext cx="397224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dirty="0" err="1"/>
              <a:t>Quellen</a:t>
            </a:r>
            <a:r>
              <a:rPr lang="en-US" dirty="0"/>
              <a:t>: </a:t>
            </a:r>
            <a:r>
              <a:rPr lang="en-US" dirty="0" err="1"/>
              <a:t>Artefakte</a:t>
            </a:r>
            <a:r>
              <a:rPr lang="en-US" dirty="0"/>
              <a:t> Audit 2 (2/3)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4861ABE4-EF86-927C-6DF8-8E9DA9B286CA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827A8221-DF20-A803-E5B1-A7843EEBAD83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008123BA-9863-D18D-13B9-0242E67E48E6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08FEC9FC-2950-9753-F893-A3FB8F732BFF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FB4202C4-A799-A423-8D9A-AFBC0BE76A7B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BA0F050C-BDF4-BD25-076E-C55CAA71F34F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8DFB0D86-DA56-985B-8B22-7D31115F829D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F0D18BA7-AB57-302A-0D9B-58DD3E089104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61B688F3-890F-A012-6DC5-D8E913D67007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B5B64705-5FDC-1E63-B1B8-96AAEAA07F0D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D4F02CA2-0C31-A82C-2EC9-FC3495CAFFC2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F4F88FD0-2005-8DB4-413E-BFAF1D08A875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1D510E77-BFEC-0C32-D239-B85782D7480F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0078D200-76A1-8AE1-9EDE-0BC55F3EAE92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6846981B-F6D3-1DAD-4AB6-824BFF4A9E08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C86C0766-439F-0F0B-DCC8-207D6EE952C3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36A332E5-D41E-FAC8-12AD-679093BABB33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CDFDA62B-09B5-D2DF-0EBA-081EE22DCCBB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C599465D-DAA1-72AE-81C4-E6C891DE8EC1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E0BDFAC3-FDCB-B6E5-80EE-B435C36CA333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3AE8B494-6A3C-ECBE-7731-8777B8CDB8D1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B40033F7-675E-263C-5E32-A5142FAC724E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8B2A55FC-0046-0F09-C109-B261CECAA0BF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FFD97B85-8A44-1BD9-F54B-947A922714A5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F1239C2E-D7A2-9DEC-096B-A54FC1557235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5086691C-5EAB-C0F9-7813-0B7AC7263FD5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0464E008-66B7-A2A2-4539-4DC0F40C6E39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D71DDE04-040B-9A57-817F-3CA80B4BA718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2A45C69F-3E85-2292-FBBA-9522AB91D401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8342AB06-DA29-D471-8010-2E1BC48FB506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1E5C5777-408C-D15C-0594-F6230A089AA4}"/>
              </a:ext>
            </a:extLst>
          </p:cNvPr>
          <p:cNvSpPr txBox="1"/>
          <p:nvPr/>
        </p:nvSpPr>
        <p:spPr>
          <a:xfrm>
            <a:off x="768350" y="1512315"/>
            <a:ext cx="10932024" cy="6751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sz="1600" dirty="0">
                <a:hlinkClick r:id="rId3"/>
              </a:rPr>
              <a:t>https://de.duolingo.com/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https://kahoot.it/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https://www.brainscape.com/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6"/>
              </a:rPr>
              <a:t>https://www.research.autodesk.com/publications/supercharging-trial-and-error-for-learning-complex-software-applications/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7"/>
              </a:rPr>
              <a:t>https://link.springer.com/article/10.1007/s10648-025-10071-x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8"/>
              </a:rPr>
              <a:t>https://journals.oslomet.no/index.php/techneA/article/view/4391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9"/>
              </a:rPr>
              <a:t>https://link.springer.com/article/10.1007/s11423-022-10104-0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10"/>
              </a:rPr>
              <a:t>https://pubmed.ncbi.nlm.nih.gov/32565668/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11"/>
              </a:rPr>
              <a:t>https://www.mdpi.com/2227-7102/14/4/367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12"/>
              </a:rPr>
              <a:t>https://www.frontiersin.org/journals/psychology/articles/10.3389/fpsyg.2022.1073985/full</a:t>
            </a:r>
            <a:endParaRPr lang="en-US" sz="1600"/>
          </a:p>
          <a:p>
            <a:endParaRPr lang="en-US" sz="1600" dirty="0"/>
          </a:p>
          <a:p>
            <a:r>
              <a:rPr lang="en-US" sz="1600" dirty="0">
                <a:hlinkClick r:id="rId13"/>
              </a:rPr>
              <a:t>https://www.sciencedirect.com/science/article/pii/S074756321630855X</a:t>
            </a:r>
            <a:endParaRPr lang="en-US" sz="160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BC6A96EF-95D1-E3B5-EA8F-7D1884F8F855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B7151C-C8E1-58F2-BDC7-301EB8D329C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3132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B8C3-D184-AB2A-A06C-640FF4C28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B7534E62-CFAA-BCFA-27CF-F0F447F376BA}"/>
              </a:ext>
            </a:extLst>
          </p:cNvPr>
          <p:cNvSpPr txBox="1"/>
          <p:nvPr/>
        </p:nvSpPr>
        <p:spPr>
          <a:xfrm>
            <a:off x="793497" y="778217"/>
            <a:ext cx="397224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dirty="0" err="1"/>
              <a:t>Quellen</a:t>
            </a:r>
            <a:r>
              <a:rPr lang="en-US" dirty="0"/>
              <a:t>: </a:t>
            </a:r>
            <a:r>
              <a:rPr lang="en-US" dirty="0" err="1"/>
              <a:t>Artefakte</a:t>
            </a:r>
            <a:r>
              <a:rPr lang="en-US" dirty="0"/>
              <a:t> Audit 2 (3/3)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BB34760A-0318-09F0-4FF0-4F41CD7449E9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73A06CF5-AA8C-0C45-9CE8-E43B1CD77965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AEEB5279-DB23-9224-BF6E-61DF4B80272A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D0E234EA-8AF2-44E7-75F4-A8A3152743B9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9B35B933-814C-F92D-EA70-35ED486A1803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C1E5927C-C1DB-32E7-AAD0-74CE69BD3CAC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D577355E-FC99-9D4F-B0D8-B9005E762765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A197C50B-8599-379E-A04F-108F21020CE8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D739C7B9-F186-08C9-3148-5D3930F74BD3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C525BA25-F694-BF66-13AD-012CF54D89E7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0ECD17FF-4E00-AAC0-2B08-30A9BEB02054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785A726A-6D82-19A2-96D1-196E06E3273B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D51A79E6-850C-99C9-BE83-5834201C6EF6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1C7D1A4F-9C76-95D7-97ED-AFF746745A45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C8DF6E71-010A-CF98-DCC3-D4C00733A978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F3F1442A-BC7E-6F97-C8AE-152ED17C8764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9FBDE75C-2BE2-CB10-2CFF-692D0AEC8593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622BBB1A-B185-C504-003B-A35CE7581D2D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54FA4992-DCE8-1D2F-2B83-CF2EA26B5919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C77691D6-2D3B-30B1-32FD-83CFD55DE71F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A843D3BA-68B5-DEF1-CDFD-E91028795D8F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5A31E23D-1F22-ABFA-1635-6BF302025E48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CD4C0F8D-1A89-DB15-CDEE-F5A8826FC574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F0BAE364-8A64-619B-4327-E671D4008C9C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949204C3-9DED-0EC7-35D1-69736DA995E4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69E92305-15BA-28EF-309A-0CC45B9B5CBD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CB39EAB8-6981-A53E-A786-B9BCB4D5F5F6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3457833D-7D3F-5105-FF5F-86003C92DFC6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42A2A366-B8E6-4AF2-EEFF-2CC862583B8B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4ECF303F-F189-3387-5E04-495F3F47B70A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9FEA78DC-3430-F0DC-31AE-540C0A2F3D6F}"/>
              </a:ext>
            </a:extLst>
          </p:cNvPr>
          <p:cNvSpPr txBox="1"/>
          <p:nvPr/>
        </p:nvSpPr>
        <p:spPr>
          <a:xfrm>
            <a:off x="768350" y="1512315"/>
            <a:ext cx="10932024" cy="5622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en-US" sz="1600" dirty="0">
                <a:hlinkClick r:id="rId3"/>
              </a:rPr>
              <a:t>https://www.researchgate.net/publication/362443721_GAMIFICATION_ELEMENTS_AND_ITS_IMPACT_ON_STUDENTS</a:t>
            </a:r>
            <a:endParaRPr lang="en-US"/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https://www.frontiersin.org/journals/psychology/articles/10.3389/fpsyg.2022.1073985/full</a:t>
            </a:r>
            <a:endParaRPr lang="en-US"/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https://www.tandfonline.com/doi/full/10.1080/10447318.2022.2041909#d1e1103</a:t>
            </a:r>
            <a:endParaRPr lang="en-US"/>
          </a:p>
          <a:p>
            <a:endParaRPr lang="en-US" sz="1600" dirty="0"/>
          </a:p>
          <a:p>
            <a:r>
              <a:rPr lang="en-US" sz="1600" dirty="0">
                <a:hlinkClick r:id="rId6"/>
              </a:rPr>
              <a:t>https://visualitics.it/gamification-data-visualization/?lang=en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7"/>
              </a:rPr>
              <a:t>https://link.springer.com/article/10.1007/s40429-024-00595-7</a:t>
            </a:r>
          </a:p>
          <a:p>
            <a:endParaRPr lang="en-US" sz="1600" dirty="0"/>
          </a:p>
          <a:p>
            <a:r>
              <a:rPr lang="en-US" sz="1600" dirty="0">
                <a:hlinkClick r:id="rId8"/>
              </a:rPr>
              <a:t>https://pmc.ncbi.nlm.nih.gov/articles/PMC8023157/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9"/>
              </a:rPr>
              <a:t>https://www.sciencedirect.com/science/article/abs/pii/S1567422324000140</a:t>
            </a:r>
            <a:endParaRPr lang="en-US"/>
          </a:p>
          <a:p>
            <a:endParaRPr lang="en-US" sz="1600" dirty="0"/>
          </a:p>
          <a:p>
            <a:r>
              <a:rPr lang="en-US" sz="1600" dirty="0">
                <a:hlinkClick r:id="rId10"/>
              </a:rPr>
              <a:t>https://www.sciencedirect.com/science/article/pii/S0747563221002867#bib3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11"/>
              </a:rPr>
              <a:t>https://www.gamified.uk/2014/07/08/flow-gamification-misunderstanding/</a:t>
            </a:r>
            <a:endParaRPr lang="en-US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7526B6DD-C9A2-77F3-D9BE-37F491268A48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40445-F0FA-A287-FC8D-5F8CE486C69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963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89ED59-0160-E333-3C18-2E63EF9F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403DB15C-E6C1-F3A9-F1ED-D28D391EF910}"/>
              </a:ext>
            </a:extLst>
          </p:cNvPr>
          <p:cNvSpPr txBox="1"/>
          <p:nvPr/>
        </p:nvSpPr>
        <p:spPr>
          <a:xfrm>
            <a:off x="766967" y="761999"/>
            <a:ext cx="1615115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err="1"/>
              <a:t>Typographie</a:t>
            </a:r>
            <a:endParaRPr/>
          </a:p>
        </p:txBody>
      </p:sp>
      <p:sp>
        <p:nvSpPr>
          <p:cNvPr id="301" name="Folientitel oder Titel von Zwischenfolien: Roboto Slab, Fett, 21pt, dunkelgrau, Zeilenabstand 0.9 oder 90%. Falls eine Ergänzung nötig ist: regular, mittelgrau">
            <a:extLst>
              <a:ext uri="{FF2B5EF4-FFF2-40B4-BE49-F238E27FC236}">
                <a16:creationId xmlns:a16="http://schemas.microsoft.com/office/drawing/2014/main" id="{61E01392-CDA8-9989-158C-560B5BAEA033}"/>
              </a:ext>
            </a:extLst>
          </p:cNvPr>
          <p:cNvSpPr txBox="1"/>
          <p:nvPr/>
        </p:nvSpPr>
        <p:spPr>
          <a:xfrm>
            <a:off x="768350" y="3663950"/>
            <a:ext cx="5735434" cy="163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90000"/>
              </a:lnSpc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pPr>
            <a:r>
              <a:t>Folientitel oder Titel von Zwischenfolien: Roboto Slab, Fett, 21pt, dunkelgrau, Zeilenabstand 0.9 oder 90%. Falls eine Ergänzung nötig ist: </a:t>
            </a:r>
            <a:r>
              <a:rPr>
                <a:solidFill>
                  <a:srgbClr val="767574"/>
                </a:solidFill>
                <a:latin typeface="Roboto Slab Regular"/>
                <a:ea typeface="Roboto Slab Regular"/>
                <a:cs typeface="Roboto Slab Regular"/>
                <a:sym typeface="Roboto Slab Regular"/>
              </a:rPr>
              <a:t>regular, mittelgrau</a:t>
            </a: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3949772E-A188-E214-2243-3C2D7E2A4E61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ED3813A4-EEAF-3F4B-FD0F-77E2BE42EE10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9C41123E-35D5-8240-FEC2-37D67E504379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DE4F21DE-1A20-D6F0-0A1A-9DEDCA28FB71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E12A5643-D44C-E13E-FE9A-01CC15D3AA09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B72A7B52-9F63-1F56-1B62-27BD505EEE85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F83D4410-E2AB-8951-E7FC-2C8132CAC416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A4070ED6-6B3F-6AEB-5C46-B26160A68B32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43BB3C05-D277-6565-7FD9-C2FBFADFB943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48261D7E-4A24-3ABF-6F0A-5F3C911EE818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85C2D1C2-BBB0-BA79-B5F7-9AA31A5B0567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A4C28B20-FDA9-6B6F-F679-22F35E6D2F49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BCE4035C-859D-7F34-8227-7C7E4315577A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55E7C819-5537-3FB8-6A62-E5BEAEEE7CDD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2DB14DEB-5032-E708-4D2A-4BB381D18FC3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CAA0DA6B-A79E-C2B5-2833-BE0C4793DF43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9F28D7DA-BFB0-DC57-DB6D-847558B8A4CB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ABB6E23F-E37B-B7D9-C2F8-83F9627DE5DC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7719B2C1-1ACA-09F0-D620-94F7016716DB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6F83583B-E11E-9221-0B92-4647FA6462DF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591E66E8-885D-4B63-0849-2360E95FA339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A68CF6C0-E961-35DF-CFA0-A7541E44CFD4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53F6798E-CAB4-C2BA-286D-370445222879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69013D13-A694-4FE7-6FF7-A45E3CB7DF49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175429EC-A872-985B-70A7-47C4F077CABF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A49D5BF3-1E63-731E-E2E6-7D427050A65A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E016B40D-0D18-6575-914D-5F1B2230BD28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4FB4B4A9-F082-AD24-CA2F-DBD257C0490D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BADD0C62-7C19-9A6B-6870-A1C95850EF3F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38" name="Linie">
            <a:extLst>
              <a:ext uri="{FF2B5EF4-FFF2-40B4-BE49-F238E27FC236}">
                <a16:creationId xmlns:a16="http://schemas.microsoft.com/office/drawing/2014/main" id="{22F7F420-D1D0-1611-EF42-645F3041FCBE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F49E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Headlines im Folienbody: Roboto Slab, Fett, 17pt, dunkelgrau, Zeilenabstand 0.9 oder 90%">
            <a:extLst>
              <a:ext uri="{FF2B5EF4-FFF2-40B4-BE49-F238E27FC236}">
                <a16:creationId xmlns:a16="http://schemas.microsoft.com/office/drawing/2014/main" id="{04C66697-A472-80B4-03BF-BADB19114A4E}"/>
              </a:ext>
            </a:extLst>
          </p:cNvPr>
          <p:cNvSpPr txBox="1"/>
          <p:nvPr/>
        </p:nvSpPr>
        <p:spPr>
          <a:xfrm>
            <a:off x="768350" y="5543550"/>
            <a:ext cx="5735434" cy="840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t>Headlines </a:t>
            </a:r>
            <a:r>
              <a:rPr err="1"/>
              <a:t>im</a:t>
            </a:r>
            <a:r>
              <a:t> </a:t>
            </a:r>
            <a:r>
              <a:rPr err="1"/>
              <a:t>Folienbody</a:t>
            </a:r>
            <a:r>
              <a:t>: Roboto Slab, Fett, 17pt, </a:t>
            </a:r>
            <a:r>
              <a:rPr err="1"/>
              <a:t>dunkelgrau</a:t>
            </a:r>
            <a:r>
              <a:t>, </a:t>
            </a:r>
            <a:r>
              <a:rPr err="1"/>
              <a:t>Zeilenabstand</a:t>
            </a:r>
            <a:r>
              <a:t> 0.9 </a:t>
            </a:r>
            <a:r>
              <a:rPr err="1"/>
              <a:t>oder</a:t>
            </a:r>
            <a:r>
              <a:t> 90%</a:t>
            </a:r>
          </a:p>
        </p:txBody>
      </p:sp>
      <p:sp>
        <p:nvSpPr>
          <p:cNvPr id="340" name="Mengentexte nutzen die PT Sans, Regular in 17pt mit einem Zeilenabstand von 1 oder 100%. Alle Schriftfamilien stehen bei Google Fonts zum Download bereit.">
            <a:extLst>
              <a:ext uri="{FF2B5EF4-FFF2-40B4-BE49-F238E27FC236}">
                <a16:creationId xmlns:a16="http://schemas.microsoft.com/office/drawing/2014/main" id="{E92D2CD4-62F2-2F92-CEB4-DEF043EC8557}"/>
              </a:ext>
            </a:extLst>
          </p:cNvPr>
          <p:cNvSpPr txBox="1"/>
          <p:nvPr/>
        </p:nvSpPr>
        <p:spPr>
          <a:xfrm>
            <a:off x="766967" y="6483350"/>
            <a:ext cx="5735433" cy="812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700" b="0"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Mengentexte nutzen die PT Sans, Regular in 17pt mit einem Zeilenabstand von 1 oder 100%. Alle Schriftfamilien stehen bei Google Fonts zum Download bereit.</a:t>
            </a:r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FA709065-6EF9-8CA7-6CBB-9B1825AAC32F}"/>
              </a:ext>
            </a:extLst>
          </p:cNvPr>
          <p:cNvSpPr txBox="1"/>
          <p:nvPr/>
        </p:nvSpPr>
        <p:spPr>
          <a:xfrm>
            <a:off x="768350" y="1768475"/>
            <a:ext cx="5735434" cy="124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err="1"/>
              <a:t>Präsentationstitel</a:t>
            </a:r>
            <a:r>
              <a:t>: Roboto Slab, Fett, 27pt, </a:t>
            </a:r>
            <a:r>
              <a:rPr err="1"/>
              <a:t>dunkelgrau</a:t>
            </a:r>
            <a:r>
              <a:t> </a:t>
            </a:r>
            <a:r>
              <a:rPr err="1"/>
              <a:t>oder</a:t>
            </a:r>
            <a:r>
              <a:t> </a:t>
            </a:r>
            <a:r>
              <a:rPr err="1"/>
              <a:t>weiß</a:t>
            </a:r>
            <a:r>
              <a:t>, </a:t>
            </a:r>
            <a:r>
              <a:rPr err="1"/>
              <a:t>Zeilenabstand</a:t>
            </a:r>
            <a:r>
              <a:t> 0.9 </a:t>
            </a:r>
            <a:r>
              <a:rPr err="1"/>
              <a:t>oder</a:t>
            </a:r>
            <a:r>
              <a:t> 90%</a:t>
            </a:r>
          </a:p>
        </p:txBody>
      </p:sp>
      <p:sp>
        <p:nvSpPr>
          <p:cNvPr id="342" name="Bildunterschriften nutzen die PT Sans, Regular in 14pt mit einem Zeilenabstand von 1 oder 100%, werden auf 60% Transparenz reduziert.">
            <a:extLst>
              <a:ext uri="{FF2B5EF4-FFF2-40B4-BE49-F238E27FC236}">
                <a16:creationId xmlns:a16="http://schemas.microsoft.com/office/drawing/2014/main" id="{DE3856C7-AC4F-EF09-785A-9F9147F97925}"/>
              </a:ext>
            </a:extLst>
          </p:cNvPr>
          <p:cNvSpPr txBox="1"/>
          <p:nvPr/>
        </p:nvSpPr>
        <p:spPr>
          <a:xfrm>
            <a:off x="768350" y="7423150"/>
            <a:ext cx="5735434" cy="461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400" b="0"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Bildunterschriften nutzen die PT Sans, Regular in 14pt mit einem Zeilenabstand von 1 oder 100%, werden auf 60% Transparenz reduziert.</a:t>
            </a:r>
          </a:p>
        </p:txBody>
      </p:sp>
      <p:sp>
        <p:nvSpPr>
          <p:cNvPr id="2" name="Rechteck">
            <a:extLst>
              <a:ext uri="{FF2B5EF4-FFF2-40B4-BE49-F238E27FC236}">
                <a16:creationId xmlns:a16="http://schemas.microsoft.com/office/drawing/2014/main" id="{6B794B2E-7131-4EDF-627E-9A3E303509AD}"/>
              </a:ext>
            </a:extLst>
          </p:cNvPr>
          <p:cNvSpPr/>
          <p:nvPr/>
        </p:nvSpPr>
        <p:spPr>
          <a:xfrm>
            <a:off x="0" y="9627374"/>
            <a:ext cx="13004800" cy="266701"/>
          </a:xfrm>
          <a:prstGeom prst="rect">
            <a:avLst/>
          </a:prstGeom>
          <a:solidFill>
            <a:srgbClr val="4953E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4200" b="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F1885A-D7BD-9418-7E03-F2501359285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953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14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265</cp:revision>
  <dcterms:modified xsi:type="dcterms:W3CDTF">2025-12-04T21:56:33Z</dcterms:modified>
</cp:coreProperties>
</file>